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8" d="100"/>
          <a:sy n="128" d="100"/>
        </p:scale>
        <p:origin x="90"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5751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0EEA3-952E-798F-8FDD-820B914CE4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7124E3-965E-FFB3-4287-08AE53A7EC0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E8A0985-768F-DC12-3D60-A9AE8D6BE3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292D77-0B25-719A-1F3B-8B9236BE8FE5}"/>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368178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335"/>
        </a:solidFill>
        <a:effectLst/>
      </p:bgPr>
    </p:bg>
    <p:spTree>
      <p:nvGrpSpPr>
        <p:cNvPr id="1" name=""/>
        <p:cNvGrpSpPr/>
        <p:nvPr/>
      </p:nvGrpSpPr>
      <p:grpSpPr>
        <a:xfrm>
          <a:off x="0" y="0"/>
          <a:ext cx="0" cy="0"/>
          <a:chOff x="0" y="0"/>
          <a:chExt cx="0" cy="0"/>
        </a:xfrm>
      </p:grpSpPr>
      <p:sp>
        <p:nvSpPr>
          <p:cNvPr id="2" name="Shape 0"/>
          <p:cNvSpPr/>
          <p:nvPr/>
        </p:nvSpPr>
        <p:spPr>
          <a:xfrm>
            <a:off x="6858000" y="-1371600"/>
            <a:ext cx="4572000" cy="4572000"/>
          </a:xfrm>
          <a:prstGeom prst="ellipse">
            <a:avLst/>
          </a:prstGeom>
          <a:solidFill>
            <a:srgbClr val="2D3A5C">
              <a:alpha val="70000"/>
            </a:srgbClr>
          </a:solidFill>
          <a:ln/>
        </p:spPr>
        <p:txBody>
          <a:bodyPr/>
          <a:lstStyle/>
          <a:p>
            <a:endParaRPr lang="pt-PT" noProof="0" dirty="0"/>
          </a:p>
        </p:txBody>
      </p:sp>
      <p:sp>
        <p:nvSpPr>
          <p:cNvPr id="3" name="Shape 1"/>
          <p:cNvSpPr/>
          <p:nvPr/>
        </p:nvSpPr>
        <p:spPr>
          <a:xfrm>
            <a:off x="7772400" y="-274320"/>
            <a:ext cx="3200400" cy="3200400"/>
          </a:xfrm>
          <a:prstGeom prst="ellipse">
            <a:avLst/>
          </a:prstGeom>
          <a:solidFill>
            <a:srgbClr val="4B62A0">
              <a:alpha val="50000"/>
            </a:srgbClr>
          </a:solidFill>
          <a:ln/>
        </p:spPr>
        <p:txBody>
          <a:bodyPr/>
          <a:lstStyle/>
          <a:p>
            <a:endParaRPr lang="pt-PT" noProof="0" dirty="0"/>
          </a:p>
        </p:txBody>
      </p:sp>
      <p:sp>
        <p:nvSpPr>
          <p:cNvPr id="4" name="Text 2"/>
          <p:cNvSpPr/>
          <p:nvPr/>
        </p:nvSpPr>
        <p:spPr>
          <a:xfrm>
            <a:off x="731520" y="731520"/>
            <a:ext cx="4781384" cy="2194560"/>
          </a:xfrm>
          <a:prstGeom prst="rect">
            <a:avLst/>
          </a:prstGeom>
          <a:noFill/>
          <a:ln/>
        </p:spPr>
        <p:txBody>
          <a:bodyPr wrap="square" lIns="0" tIns="0" rIns="0" bIns="0" rtlCol="0" anchor="ctr"/>
          <a:lstStyle/>
          <a:p>
            <a:pPr marL="0" indent="0">
              <a:lnSpc>
                <a:spcPct val="105000"/>
              </a:lnSpc>
              <a:buNone/>
            </a:pPr>
            <a:r>
              <a:rPr lang="pt-PT" sz="4800" b="1" noProof="0" dirty="0">
                <a:solidFill>
                  <a:srgbClr val="FFFFFF"/>
                </a:solidFill>
                <a:latin typeface="Georgia" pitchFamily="34" charset="0"/>
                <a:ea typeface="Georgia" pitchFamily="34" charset="-122"/>
                <a:cs typeface="Georgia" pitchFamily="34" charset="-120"/>
              </a:rPr>
              <a:t>Métricas e</a:t>
            </a:r>
            <a:endParaRPr lang="pt-PT" sz="4800" noProof="0" dirty="0"/>
          </a:p>
          <a:p>
            <a:pPr marL="0" indent="0">
              <a:lnSpc>
                <a:spcPct val="105000"/>
              </a:lnSpc>
              <a:buNone/>
            </a:pPr>
            <a:r>
              <a:rPr lang="pt-PT" sz="4800" b="1" noProof="0" dirty="0">
                <a:solidFill>
                  <a:srgbClr val="FFFFFF"/>
                </a:solidFill>
                <a:latin typeface="Georgia" pitchFamily="34" charset="0"/>
                <a:ea typeface="Georgia" pitchFamily="34" charset="-122"/>
                <a:cs typeface="Georgia" pitchFamily="34" charset="-120"/>
              </a:rPr>
              <a:t>Medição de UX</a:t>
            </a:r>
            <a:endParaRPr lang="pt-PT" sz="4800" noProof="0" dirty="0"/>
          </a:p>
        </p:txBody>
      </p:sp>
      <p:sp>
        <p:nvSpPr>
          <p:cNvPr id="5" name="Text 3"/>
          <p:cNvSpPr/>
          <p:nvPr/>
        </p:nvSpPr>
        <p:spPr>
          <a:xfrm>
            <a:off x="731520" y="3108960"/>
            <a:ext cx="3840480" cy="365760"/>
          </a:xfrm>
          <a:prstGeom prst="rect">
            <a:avLst/>
          </a:prstGeom>
          <a:noFill/>
          <a:ln/>
        </p:spPr>
        <p:txBody>
          <a:bodyPr wrap="square" lIns="0" tIns="0" rIns="0" bIns="0" rtlCol="0" anchor="ctr"/>
          <a:lstStyle/>
          <a:p>
            <a:pPr marL="0" indent="0">
              <a:buNone/>
            </a:pPr>
            <a:r>
              <a:rPr lang="pt-PT" sz="1400" noProof="0" dirty="0">
                <a:solidFill>
                  <a:srgbClr val="8891A5"/>
                </a:solidFill>
                <a:latin typeface="Calibri" pitchFamily="34" charset="0"/>
                <a:ea typeface="Calibri" pitchFamily="34" charset="-122"/>
                <a:cs typeface="Calibri" pitchFamily="34" charset="-120"/>
              </a:rPr>
              <a:t>Metodologias para avaliar a experiência do utilizador</a:t>
            </a:r>
            <a:endParaRPr lang="pt-PT" sz="1400" noProof="0" dirty="0"/>
          </a:p>
        </p:txBody>
      </p:sp>
      <p:sp>
        <p:nvSpPr>
          <p:cNvPr id="6" name="Shape 4"/>
          <p:cNvSpPr/>
          <p:nvPr/>
        </p:nvSpPr>
        <p:spPr>
          <a:xfrm>
            <a:off x="731519" y="2871215"/>
            <a:ext cx="3754341" cy="45719"/>
          </a:xfrm>
          <a:prstGeom prst="rect">
            <a:avLst/>
          </a:prstGeom>
          <a:solidFill>
            <a:srgbClr val="6B82C0"/>
          </a:solidFill>
          <a:ln/>
        </p:spPr>
        <p:txBody>
          <a:bodyPr/>
          <a:lstStyle/>
          <a:p>
            <a:endParaRPr lang="pt-PT" noProof="0" dirty="0"/>
          </a:p>
        </p:txBody>
      </p:sp>
      <p:sp>
        <p:nvSpPr>
          <p:cNvPr id="7" name="Text 5"/>
          <p:cNvSpPr/>
          <p:nvPr/>
        </p:nvSpPr>
        <p:spPr>
          <a:xfrm>
            <a:off x="731520" y="3840480"/>
            <a:ext cx="1554480" cy="274320"/>
          </a:xfrm>
          <a:prstGeom prst="rect">
            <a:avLst/>
          </a:prstGeom>
          <a:noFill/>
          <a:ln/>
        </p:spPr>
        <p:txBody>
          <a:bodyPr wrap="square" lIns="0" tIns="0" rIns="0" bIns="0" rtlCol="0" anchor="ctr"/>
          <a:lstStyle/>
          <a:p>
            <a:pPr marL="0" indent="0">
              <a:buNone/>
            </a:pPr>
            <a:r>
              <a:rPr lang="pt-PT" sz="1100" noProof="0" dirty="0">
                <a:solidFill>
                  <a:srgbClr val="8891A5"/>
                </a:solidFill>
                <a:latin typeface="Calibri" pitchFamily="34" charset="0"/>
                <a:ea typeface="Calibri" pitchFamily="34" charset="-122"/>
                <a:cs typeface="Calibri" pitchFamily="34" charset="-120"/>
              </a:rPr>
              <a:t>Interfaces Pessoa-Máquina</a:t>
            </a:r>
            <a:endParaRPr lang="pt-PT" sz="1100" noProof="0" dirty="0"/>
          </a:p>
        </p:txBody>
      </p:sp>
      <p:sp>
        <p:nvSpPr>
          <p:cNvPr id="8" name="Text 5">
            <a:extLst>
              <a:ext uri="{FF2B5EF4-FFF2-40B4-BE49-F238E27FC236}">
                <a16:creationId xmlns:a16="http://schemas.microsoft.com/office/drawing/2014/main" id="{860AC0DE-867C-1644-9F52-CA4262F688BB}"/>
              </a:ext>
            </a:extLst>
          </p:cNvPr>
          <p:cNvSpPr/>
          <p:nvPr/>
        </p:nvSpPr>
        <p:spPr>
          <a:xfrm>
            <a:off x="731519" y="4052514"/>
            <a:ext cx="1832777" cy="274320"/>
          </a:xfrm>
          <a:prstGeom prst="rect">
            <a:avLst/>
          </a:prstGeom>
          <a:noFill/>
          <a:ln/>
        </p:spPr>
        <p:txBody>
          <a:bodyPr wrap="square" lIns="0" tIns="0" rIns="0" bIns="0" rtlCol="0" anchor="ctr"/>
          <a:lstStyle/>
          <a:p>
            <a:r>
              <a:rPr lang="pt-PT" sz="1100" noProof="0" dirty="0">
                <a:solidFill>
                  <a:srgbClr val="8891A5"/>
                </a:solidFill>
                <a:latin typeface="Calibri" pitchFamily="34" charset="0"/>
                <a:cs typeface="Calibri" pitchFamily="34" charset="-120"/>
              </a:rPr>
              <a:t>Guilherme Carvalho - 30010987</a:t>
            </a:r>
            <a:endParaRPr lang="pt-PT" sz="11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DCE1EA"/>
        </a:solidFill>
        <a:effectLst/>
      </p:bgPr>
    </p:bg>
    <p:spTree>
      <p:nvGrpSpPr>
        <p:cNvPr id="1" name=""/>
        <p:cNvGrpSpPr/>
        <p:nvPr/>
      </p:nvGrpSpPr>
      <p:grpSpPr>
        <a:xfrm>
          <a:off x="0" y="0"/>
          <a:ext cx="0" cy="0"/>
          <a:chOff x="0" y="0"/>
          <a:chExt cx="0" cy="0"/>
        </a:xfrm>
      </p:grpSpPr>
      <p:sp>
        <p:nvSpPr>
          <p:cNvPr id="2" name="Text 0"/>
          <p:cNvSpPr/>
          <p:nvPr/>
        </p:nvSpPr>
        <p:spPr>
          <a:xfrm>
            <a:off x="731520" y="320040"/>
            <a:ext cx="1609603" cy="731520"/>
          </a:xfrm>
          <a:prstGeom prst="rect">
            <a:avLst/>
          </a:prstGeom>
          <a:noFill/>
          <a:ln/>
        </p:spPr>
        <p:txBody>
          <a:bodyPr wrap="square" lIns="0" tIns="0" rIns="0" bIns="0" rtlCol="0" anchor="ctr"/>
          <a:lstStyle/>
          <a:p>
            <a:pPr marL="0" indent="0">
              <a:buNone/>
            </a:pPr>
            <a:r>
              <a:rPr lang="pt-PT" sz="3800" b="1" noProof="0" dirty="0">
                <a:solidFill>
                  <a:srgbClr val="1E2335"/>
                </a:solidFill>
                <a:latin typeface="Georgia" pitchFamily="34" charset="0"/>
                <a:ea typeface="Georgia" pitchFamily="34" charset="-122"/>
                <a:cs typeface="Georgia" pitchFamily="34" charset="-120"/>
              </a:rPr>
              <a:t>Índice</a:t>
            </a:r>
            <a:endParaRPr lang="pt-PT" sz="3800" noProof="0" dirty="0"/>
          </a:p>
        </p:txBody>
      </p:sp>
      <p:sp>
        <p:nvSpPr>
          <p:cNvPr id="3" name="Text 1"/>
          <p:cNvSpPr/>
          <p:nvPr/>
        </p:nvSpPr>
        <p:spPr>
          <a:xfrm>
            <a:off x="731520" y="1371600"/>
            <a:ext cx="548640" cy="502920"/>
          </a:xfrm>
          <a:prstGeom prst="rect">
            <a:avLst/>
          </a:prstGeom>
          <a:noFill/>
          <a:ln/>
        </p:spPr>
        <p:txBody>
          <a:bodyPr wrap="square" lIns="0" tIns="0" rIns="0" bIns="0" rtlCol="0" anchor="ctr"/>
          <a:lstStyle/>
          <a:p>
            <a:pPr marL="0" indent="0">
              <a:buNone/>
            </a:pPr>
            <a:r>
              <a:rPr lang="pt-PT" sz="2000" b="1" i="1" noProof="0" dirty="0">
                <a:solidFill>
                  <a:srgbClr val="4B62A0"/>
                </a:solidFill>
                <a:latin typeface="Georgia" pitchFamily="34" charset="0"/>
                <a:ea typeface="Georgia" pitchFamily="34" charset="-122"/>
                <a:cs typeface="Georgia" pitchFamily="34" charset="-120"/>
              </a:rPr>
              <a:t>01</a:t>
            </a:r>
            <a:endParaRPr lang="pt-PT" sz="2000" noProof="0" dirty="0"/>
          </a:p>
        </p:txBody>
      </p:sp>
      <p:sp>
        <p:nvSpPr>
          <p:cNvPr id="4" name="Text 2"/>
          <p:cNvSpPr/>
          <p:nvPr/>
        </p:nvSpPr>
        <p:spPr>
          <a:xfrm>
            <a:off x="1325880" y="1371600"/>
            <a:ext cx="1080094" cy="274320"/>
          </a:xfrm>
          <a:prstGeom prst="rect">
            <a:avLst/>
          </a:prstGeom>
          <a:noFill/>
          <a:ln/>
        </p:spPr>
        <p:txBody>
          <a:bodyPr wrap="square" lIns="0" tIns="0" rIns="0" bIns="0" rtlCol="0" anchor="ctr"/>
          <a:lstStyle/>
          <a:p>
            <a:pPr marL="0" indent="0">
              <a:buNone/>
            </a:pPr>
            <a:r>
              <a:rPr lang="pt-PT" sz="1400" b="1" noProof="0" dirty="0">
                <a:solidFill>
                  <a:srgbClr val="1E2335"/>
                </a:solidFill>
                <a:latin typeface="Georgia" pitchFamily="34" charset="0"/>
                <a:ea typeface="Georgia" pitchFamily="34" charset="-122"/>
                <a:cs typeface="Georgia" pitchFamily="34" charset="-120"/>
              </a:rPr>
              <a:t>Introdução</a:t>
            </a:r>
            <a:endParaRPr lang="pt-PT" sz="1400" noProof="0" dirty="0"/>
          </a:p>
        </p:txBody>
      </p:sp>
      <p:sp>
        <p:nvSpPr>
          <p:cNvPr id="5" name="Text 3"/>
          <p:cNvSpPr/>
          <p:nvPr/>
        </p:nvSpPr>
        <p:spPr>
          <a:xfrm>
            <a:off x="1325880" y="1645920"/>
            <a:ext cx="1754546" cy="228600"/>
          </a:xfrm>
          <a:prstGeom prst="rect">
            <a:avLst/>
          </a:prstGeom>
          <a:noFill/>
          <a:ln/>
        </p:spPr>
        <p:txBody>
          <a:bodyPr wrap="square" lIns="0" tIns="0" rIns="0" bIns="0" rtlCol="0" anchor="ctr"/>
          <a:lstStyle/>
          <a:p>
            <a:pPr marL="0" indent="0">
              <a:buNone/>
            </a:pPr>
            <a:r>
              <a:rPr lang="pt-PT" sz="1000" noProof="0" dirty="0">
                <a:solidFill>
                  <a:srgbClr val="5A6378"/>
                </a:solidFill>
                <a:latin typeface="Calibri" pitchFamily="34" charset="0"/>
                <a:ea typeface="Calibri" pitchFamily="34" charset="-122"/>
                <a:cs typeface="Calibri" pitchFamily="34" charset="-120"/>
              </a:rPr>
              <a:t>Contexto e relevância da medição</a:t>
            </a:r>
            <a:endParaRPr lang="pt-PT" sz="1000" noProof="0" dirty="0"/>
          </a:p>
        </p:txBody>
      </p:sp>
      <p:sp>
        <p:nvSpPr>
          <p:cNvPr id="6" name="Text 4"/>
          <p:cNvSpPr/>
          <p:nvPr/>
        </p:nvSpPr>
        <p:spPr>
          <a:xfrm>
            <a:off x="4937760" y="1371600"/>
            <a:ext cx="548640" cy="502920"/>
          </a:xfrm>
          <a:prstGeom prst="rect">
            <a:avLst/>
          </a:prstGeom>
          <a:noFill/>
          <a:ln/>
        </p:spPr>
        <p:txBody>
          <a:bodyPr wrap="square" lIns="0" tIns="0" rIns="0" bIns="0" rtlCol="0" anchor="ctr"/>
          <a:lstStyle/>
          <a:p>
            <a:pPr marL="0" indent="0">
              <a:buNone/>
            </a:pPr>
            <a:r>
              <a:rPr lang="pt-PT" sz="2000" b="1" i="1" noProof="0" dirty="0">
                <a:solidFill>
                  <a:srgbClr val="4B62A0"/>
                </a:solidFill>
                <a:latin typeface="Georgia" pitchFamily="34" charset="0"/>
                <a:ea typeface="Georgia" pitchFamily="34" charset="-122"/>
                <a:cs typeface="Georgia" pitchFamily="34" charset="-120"/>
              </a:rPr>
              <a:t>02</a:t>
            </a:r>
            <a:endParaRPr lang="pt-PT" sz="2000" noProof="0" dirty="0"/>
          </a:p>
        </p:txBody>
      </p:sp>
      <p:sp>
        <p:nvSpPr>
          <p:cNvPr id="7" name="Text 5"/>
          <p:cNvSpPr/>
          <p:nvPr/>
        </p:nvSpPr>
        <p:spPr>
          <a:xfrm>
            <a:off x="5532120" y="1371600"/>
            <a:ext cx="2593718" cy="274320"/>
          </a:xfrm>
          <a:prstGeom prst="rect">
            <a:avLst/>
          </a:prstGeom>
          <a:noFill/>
          <a:ln/>
        </p:spPr>
        <p:txBody>
          <a:bodyPr wrap="square" lIns="0" tIns="0" rIns="0" bIns="0" rtlCol="0" anchor="ctr"/>
          <a:lstStyle/>
          <a:p>
            <a:pPr marL="0" indent="0">
              <a:buNone/>
            </a:pPr>
            <a:r>
              <a:rPr lang="pt-PT" sz="1400" b="1" noProof="0" dirty="0">
                <a:solidFill>
                  <a:srgbClr val="1E2335"/>
                </a:solidFill>
                <a:latin typeface="Georgia" pitchFamily="34" charset="0"/>
                <a:ea typeface="Georgia" pitchFamily="34" charset="-122"/>
                <a:cs typeface="Georgia" pitchFamily="34" charset="-120"/>
              </a:rPr>
              <a:t>Enquadramento Conceptual</a:t>
            </a:r>
            <a:endParaRPr lang="pt-PT" sz="1400" noProof="0" dirty="0"/>
          </a:p>
        </p:txBody>
      </p:sp>
      <p:sp>
        <p:nvSpPr>
          <p:cNvPr id="8" name="Text 6"/>
          <p:cNvSpPr/>
          <p:nvPr/>
        </p:nvSpPr>
        <p:spPr>
          <a:xfrm>
            <a:off x="5532120" y="1645920"/>
            <a:ext cx="1614467" cy="228600"/>
          </a:xfrm>
          <a:prstGeom prst="rect">
            <a:avLst/>
          </a:prstGeom>
          <a:noFill/>
          <a:ln/>
        </p:spPr>
        <p:txBody>
          <a:bodyPr wrap="square" lIns="0" tIns="0" rIns="0" bIns="0" rtlCol="0" anchor="ctr"/>
          <a:lstStyle/>
          <a:p>
            <a:pPr marL="0" indent="0">
              <a:buNone/>
            </a:pPr>
            <a:r>
              <a:rPr lang="pt-PT" sz="1000" noProof="0" dirty="0">
                <a:solidFill>
                  <a:srgbClr val="5A6378"/>
                </a:solidFill>
                <a:latin typeface="Calibri" pitchFamily="34" charset="0"/>
                <a:ea typeface="Calibri" pitchFamily="34" charset="-122"/>
                <a:cs typeface="Calibri" pitchFamily="34" charset="-120"/>
              </a:rPr>
              <a:t>Definições de usabilidade e UX</a:t>
            </a:r>
            <a:endParaRPr lang="pt-PT" sz="1000" noProof="0" dirty="0"/>
          </a:p>
        </p:txBody>
      </p:sp>
      <p:sp>
        <p:nvSpPr>
          <p:cNvPr id="9" name="Text 7"/>
          <p:cNvSpPr/>
          <p:nvPr/>
        </p:nvSpPr>
        <p:spPr>
          <a:xfrm>
            <a:off x="731520" y="2240280"/>
            <a:ext cx="548640" cy="502920"/>
          </a:xfrm>
          <a:prstGeom prst="rect">
            <a:avLst/>
          </a:prstGeom>
          <a:noFill/>
          <a:ln/>
        </p:spPr>
        <p:txBody>
          <a:bodyPr wrap="square" lIns="0" tIns="0" rIns="0" bIns="0" rtlCol="0" anchor="ctr"/>
          <a:lstStyle/>
          <a:p>
            <a:pPr marL="0" indent="0">
              <a:buNone/>
            </a:pPr>
            <a:r>
              <a:rPr lang="pt-PT" sz="2000" b="1" i="1" noProof="0" dirty="0">
                <a:solidFill>
                  <a:srgbClr val="4B62A0"/>
                </a:solidFill>
                <a:latin typeface="Georgia" pitchFamily="34" charset="0"/>
                <a:ea typeface="Georgia" pitchFamily="34" charset="-122"/>
                <a:cs typeface="Georgia" pitchFamily="34" charset="-120"/>
              </a:rPr>
              <a:t>03</a:t>
            </a:r>
            <a:endParaRPr lang="pt-PT" sz="2000" noProof="0" dirty="0"/>
          </a:p>
        </p:txBody>
      </p:sp>
      <p:sp>
        <p:nvSpPr>
          <p:cNvPr id="10" name="Text 8"/>
          <p:cNvSpPr/>
          <p:nvPr/>
        </p:nvSpPr>
        <p:spPr>
          <a:xfrm>
            <a:off x="1325880" y="2240280"/>
            <a:ext cx="2331720" cy="274320"/>
          </a:xfrm>
          <a:prstGeom prst="rect">
            <a:avLst/>
          </a:prstGeom>
          <a:noFill/>
          <a:ln/>
        </p:spPr>
        <p:txBody>
          <a:bodyPr wrap="square" lIns="0" tIns="0" rIns="0" bIns="0" rtlCol="0" anchor="ctr"/>
          <a:lstStyle/>
          <a:p>
            <a:pPr marL="0" indent="0">
              <a:buNone/>
            </a:pPr>
            <a:r>
              <a:rPr lang="pt-PT" sz="1400" b="1" noProof="0" dirty="0">
                <a:solidFill>
                  <a:srgbClr val="1E2335"/>
                </a:solidFill>
                <a:latin typeface="Georgia" pitchFamily="34" charset="0"/>
                <a:ea typeface="Georgia" pitchFamily="34" charset="-122"/>
                <a:cs typeface="Georgia" pitchFamily="34" charset="-120"/>
              </a:rPr>
              <a:t>Métricas de Desempenho</a:t>
            </a:r>
            <a:endParaRPr lang="pt-PT" sz="1400" noProof="0" dirty="0"/>
          </a:p>
        </p:txBody>
      </p:sp>
      <p:sp>
        <p:nvSpPr>
          <p:cNvPr id="11" name="Text 9"/>
          <p:cNvSpPr/>
          <p:nvPr/>
        </p:nvSpPr>
        <p:spPr>
          <a:xfrm>
            <a:off x="1325880" y="2514600"/>
            <a:ext cx="1624843" cy="228600"/>
          </a:xfrm>
          <a:prstGeom prst="rect">
            <a:avLst/>
          </a:prstGeom>
          <a:noFill/>
          <a:ln/>
        </p:spPr>
        <p:txBody>
          <a:bodyPr wrap="square" lIns="0" tIns="0" rIns="0" bIns="0" rtlCol="0" anchor="ctr"/>
          <a:lstStyle/>
          <a:p>
            <a:pPr marL="0" indent="0">
              <a:buNone/>
            </a:pPr>
            <a:r>
              <a:rPr lang="pt-PT" sz="1000" noProof="0" dirty="0">
                <a:solidFill>
                  <a:srgbClr val="5A6378"/>
                </a:solidFill>
                <a:latin typeface="Calibri" pitchFamily="34" charset="0"/>
                <a:ea typeface="Calibri" pitchFamily="34" charset="-122"/>
                <a:cs typeface="Calibri" pitchFamily="34" charset="-120"/>
              </a:rPr>
              <a:t>Taxa de sucesso, tempo e erros</a:t>
            </a:r>
            <a:endParaRPr lang="pt-PT" sz="1000" noProof="0" dirty="0"/>
          </a:p>
        </p:txBody>
      </p:sp>
      <p:sp>
        <p:nvSpPr>
          <p:cNvPr id="12" name="Text 10"/>
          <p:cNvSpPr/>
          <p:nvPr/>
        </p:nvSpPr>
        <p:spPr>
          <a:xfrm>
            <a:off x="4937760" y="2240280"/>
            <a:ext cx="548640" cy="502920"/>
          </a:xfrm>
          <a:prstGeom prst="rect">
            <a:avLst/>
          </a:prstGeom>
          <a:noFill/>
          <a:ln/>
        </p:spPr>
        <p:txBody>
          <a:bodyPr wrap="square" lIns="0" tIns="0" rIns="0" bIns="0" rtlCol="0" anchor="ctr"/>
          <a:lstStyle/>
          <a:p>
            <a:pPr marL="0" indent="0">
              <a:buNone/>
            </a:pPr>
            <a:r>
              <a:rPr lang="pt-PT" sz="2000" b="1" i="1" noProof="0" dirty="0">
                <a:solidFill>
                  <a:srgbClr val="4B62A0"/>
                </a:solidFill>
                <a:latin typeface="Georgia" pitchFamily="34" charset="0"/>
                <a:ea typeface="Georgia" pitchFamily="34" charset="-122"/>
                <a:cs typeface="Georgia" pitchFamily="34" charset="-120"/>
              </a:rPr>
              <a:t>04</a:t>
            </a:r>
            <a:endParaRPr lang="pt-PT" sz="2000" noProof="0" dirty="0"/>
          </a:p>
        </p:txBody>
      </p:sp>
      <p:sp>
        <p:nvSpPr>
          <p:cNvPr id="13" name="Text 11"/>
          <p:cNvSpPr/>
          <p:nvPr/>
        </p:nvSpPr>
        <p:spPr>
          <a:xfrm>
            <a:off x="5532120" y="2240280"/>
            <a:ext cx="2003574" cy="274320"/>
          </a:xfrm>
          <a:prstGeom prst="rect">
            <a:avLst/>
          </a:prstGeom>
          <a:noFill/>
          <a:ln/>
        </p:spPr>
        <p:txBody>
          <a:bodyPr wrap="square" lIns="0" tIns="0" rIns="0" bIns="0" rtlCol="0" anchor="ctr"/>
          <a:lstStyle/>
          <a:p>
            <a:pPr marL="0" indent="0">
              <a:buNone/>
            </a:pPr>
            <a:r>
              <a:rPr lang="pt-PT" sz="1400" b="1" noProof="0" dirty="0">
                <a:solidFill>
                  <a:srgbClr val="1E2335"/>
                </a:solidFill>
                <a:latin typeface="Georgia" pitchFamily="34" charset="0"/>
                <a:ea typeface="Georgia" pitchFamily="34" charset="-122"/>
                <a:cs typeface="Georgia" pitchFamily="34" charset="-120"/>
              </a:rPr>
              <a:t>Testes de Usabilidade</a:t>
            </a:r>
            <a:endParaRPr lang="pt-PT" sz="1400" noProof="0" dirty="0"/>
          </a:p>
        </p:txBody>
      </p:sp>
      <p:sp>
        <p:nvSpPr>
          <p:cNvPr id="14" name="Text 12"/>
          <p:cNvSpPr/>
          <p:nvPr/>
        </p:nvSpPr>
        <p:spPr>
          <a:xfrm>
            <a:off x="5532119" y="2514600"/>
            <a:ext cx="1834962" cy="228600"/>
          </a:xfrm>
          <a:prstGeom prst="rect">
            <a:avLst/>
          </a:prstGeom>
          <a:noFill/>
          <a:ln/>
        </p:spPr>
        <p:txBody>
          <a:bodyPr wrap="square" lIns="0" tIns="0" rIns="0" bIns="0" rtlCol="0" anchor="ctr"/>
          <a:lstStyle/>
          <a:p>
            <a:pPr marL="0" indent="0">
              <a:buNone/>
            </a:pPr>
            <a:r>
              <a:rPr lang="pt-PT" sz="1000" noProof="0" dirty="0">
                <a:solidFill>
                  <a:srgbClr val="5A6378"/>
                </a:solidFill>
                <a:latin typeface="Calibri" pitchFamily="34" charset="0"/>
                <a:ea typeface="Calibri" pitchFamily="34" charset="-122"/>
                <a:cs typeface="Calibri" pitchFamily="34" charset="-120"/>
              </a:rPr>
              <a:t>Métodos e boas práticas escolhidas</a:t>
            </a:r>
            <a:endParaRPr lang="pt-PT" sz="1000" noProof="0" dirty="0"/>
          </a:p>
        </p:txBody>
      </p:sp>
      <p:sp>
        <p:nvSpPr>
          <p:cNvPr id="15" name="Text 13"/>
          <p:cNvSpPr/>
          <p:nvPr/>
        </p:nvSpPr>
        <p:spPr>
          <a:xfrm>
            <a:off x="731520" y="3108960"/>
            <a:ext cx="548640" cy="502920"/>
          </a:xfrm>
          <a:prstGeom prst="rect">
            <a:avLst/>
          </a:prstGeom>
          <a:noFill/>
          <a:ln/>
        </p:spPr>
        <p:txBody>
          <a:bodyPr wrap="square" lIns="0" tIns="0" rIns="0" bIns="0" rtlCol="0" anchor="ctr"/>
          <a:lstStyle/>
          <a:p>
            <a:pPr marL="0" indent="0">
              <a:buNone/>
            </a:pPr>
            <a:r>
              <a:rPr lang="pt-PT" sz="2000" b="1" i="1" noProof="0" dirty="0">
                <a:solidFill>
                  <a:srgbClr val="4B62A0"/>
                </a:solidFill>
                <a:latin typeface="Georgia" pitchFamily="34" charset="0"/>
                <a:ea typeface="Georgia" pitchFamily="34" charset="-122"/>
                <a:cs typeface="Georgia" pitchFamily="34" charset="-120"/>
              </a:rPr>
              <a:t>05</a:t>
            </a:r>
            <a:endParaRPr lang="pt-PT" sz="2000" noProof="0" dirty="0"/>
          </a:p>
        </p:txBody>
      </p:sp>
      <p:sp>
        <p:nvSpPr>
          <p:cNvPr id="16" name="Text 14"/>
          <p:cNvSpPr/>
          <p:nvPr/>
        </p:nvSpPr>
        <p:spPr>
          <a:xfrm>
            <a:off x="1325880" y="3108960"/>
            <a:ext cx="2630035" cy="274320"/>
          </a:xfrm>
          <a:prstGeom prst="rect">
            <a:avLst/>
          </a:prstGeom>
          <a:noFill/>
          <a:ln/>
        </p:spPr>
        <p:txBody>
          <a:bodyPr wrap="square" lIns="0" tIns="0" rIns="0" bIns="0" rtlCol="0" anchor="ctr"/>
          <a:lstStyle/>
          <a:p>
            <a:pPr marL="0" indent="0">
              <a:buNone/>
            </a:pPr>
            <a:r>
              <a:rPr lang="pt-PT" sz="1400" b="1" noProof="0" dirty="0">
                <a:solidFill>
                  <a:srgbClr val="1E2335"/>
                </a:solidFill>
                <a:latin typeface="Georgia" pitchFamily="34" charset="0"/>
                <a:ea typeface="Georgia" pitchFamily="34" charset="-122"/>
                <a:cs typeface="Georgia" pitchFamily="34" charset="-120"/>
              </a:rPr>
              <a:t>Questionários Padronizados</a:t>
            </a:r>
            <a:endParaRPr lang="pt-PT" sz="1400" noProof="0" dirty="0"/>
          </a:p>
        </p:txBody>
      </p:sp>
      <p:sp>
        <p:nvSpPr>
          <p:cNvPr id="17" name="Text 15"/>
          <p:cNvSpPr/>
          <p:nvPr/>
        </p:nvSpPr>
        <p:spPr>
          <a:xfrm>
            <a:off x="1325880" y="3383280"/>
            <a:ext cx="1501626" cy="228600"/>
          </a:xfrm>
          <a:prstGeom prst="rect">
            <a:avLst/>
          </a:prstGeom>
          <a:noFill/>
          <a:ln/>
        </p:spPr>
        <p:txBody>
          <a:bodyPr wrap="square" lIns="0" tIns="0" rIns="0" bIns="0" rtlCol="0" anchor="ctr"/>
          <a:lstStyle/>
          <a:p>
            <a:pPr marL="0" indent="0">
              <a:buNone/>
            </a:pPr>
            <a:r>
              <a:rPr lang="pt-PT" sz="1000" noProof="0" dirty="0">
                <a:solidFill>
                  <a:srgbClr val="5A6378"/>
                </a:solidFill>
                <a:latin typeface="Calibri" pitchFamily="34" charset="0"/>
                <a:ea typeface="Calibri" pitchFamily="34" charset="-122"/>
                <a:cs typeface="Calibri" pitchFamily="34" charset="-120"/>
              </a:rPr>
              <a:t>SUS, CSUQ, UEQ e </a:t>
            </a:r>
            <a:r>
              <a:rPr lang="pt-PT" sz="1000" noProof="0" dirty="0" err="1">
                <a:solidFill>
                  <a:srgbClr val="5A6378"/>
                </a:solidFill>
                <a:latin typeface="Calibri" pitchFamily="34" charset="0"/>
                <a:ea typeface="Calibri" pitchFamily="34" charset="-122"/>
                <a:cs typeface="Calibri" pitchFamily="34" charset="-120"/>
              </a:rPr>
              <a:t>AttrakDiff</a:t>
            </a:r>
            <a:endParaRPr lang="pt-PT" sz="1000" noProof="0" dirty="0"/>
          </a:p>
        </p:txBody>
      </p:sp>
      <p:sp>
        <p:nvSpPr>
          <p:cNvPr id="18" name="Text 16"/>
          <p:cNvSpPr/>
          <p:nvPr/>
        </p:nvSpPr>
        <p:spPr>
          <a:xfrm>
            <a:off x="4937760" y="3108960"/>
            <a:ext cx="548640" cy="502920"/>
          </a:xfrm>
          <a:prstGeom prst="rect">
            <a:avLst/>
          </a:prstGeom>
          <a:noFill/>
          <a:ln/>
        </p:spPr>
        <p:txBody>
          <a:bodyPr wrap="square" lIns="0" tIns="0" rIns="0" bIns="0" rtlCol="0" anchor="ctr"/>
          <a:lstStyle/>
          <a:p>
            <a:pPr marL="0" indent="0">
              <a:buNone/>
            </a:pPr>
            <a:r>
              <a:rPr lang="pt-PT" sz="2000" b="1" i="1" noProof="0" dirty="0">
                <a:solidFill>
                  <a:srgbClr val="4B62A0"/>
                </a:solidFill>
                <a:latin typeface="Georgia" pitchFamily="34" charset="0"/>
                <a:ea typeface="Georgia" pitchFamily="34" charset="-122"/>
                <a:cs typeface="Georgia" pitchFamily="34" charset="-120"/>
              </a:rPr>
              <a:t>06</a:t>
            </a:r>
            <a:endParaRPr lang="pt-PT" sz="2000" noProof="0" dirty="0"/>
          </a:p>
        </p:txBody>
      </p:sp>
      <p:sp>
        <p:nvSpPr>
          <p:cNvPr id="19" name="Text 17"/>
          <p:cNvSpPr/>
          <p:nvPr/>
        </p:nvSpPr>
        <p:spPr>
          <a:xfrm>
            <a:off x="5532120" y="3108960"/>
            <a:ext cx="2483471" cy="274320"/>
          </a:xfrm>
          <a:prstGeom prst="rect">
            <a:avLst/>
          </a:prstGeom>
          <a:noFill/>
          <a:ln/>
        </p:spPr>
        <p:txBody>
          <a:bodyPr wrap="square" lIns="0" tIns="0" rIns="0" bIns="0" rtlCol="0" anchor="ctr"/>
          <a:lstStyle/>
          <a:p>
            <a:pPr marL="0" indent="0">
              <a:buNone/>
            </a:pPr>
            <a:r>
              <a:rPr lang="pt-PT" sz="1400" b="1" noProof="0" dirty="0">
                <a:solidFill>
                  <a:srgbClr val="1E2335"/>
                </a:solidFill>
                <a:latin typeface="Georgia" pitchFamily="34" charset="0"/>
                <a:ea typeface="Georgia" pitchFamily="34" charset="-122"/>
                <a:cs typeface="Georgia" pitchFamily="34" charset="-120"/>
              </a:rPr>
              <a:t>Análises Comportamentais</a:t>
            </a:r>
            <a:endParaRPr lang="pt-PT" sz="1400" noProof="0" dirty="0"/>
          </a:p>
        </p:txBody>
      </p:sp>
      <p:sp>
        <p:nvSpPr>
          <p:cNvPr id="20" name="Text 18"/>
          <p:cNvSpPr/>
          <p:nvPr/>
        </p:nvSpPr>
        <p:spPr>
          <a:xfrm>
            <a:off x="5532120" y="3383280"/>
            <a:ext cx="2286000" cy="228600"/>
          </a:xfrm>
          <a:prstGeom prst="rect">
            <a:avLst/>
          </a:prstGeom>
          <a:noFill/>
          <a:ln/>
        </p:spPr>
        <p:txBody>
          <a:bodyPr wrap="square" lIns="0" tIns="0" rIns="0" bIns="0" rtlCol="0" anchor="ctr"/>
          <a:lstStyle/>
          <a:p>
            <a:pPr marL="0" indent="0">
              <a:buNone/>
            </a:pPr>
            <a:r>
              <a:rPr lang="pt-PT" sz="1000" noProof="0" dirty="0" err="1">
                <a:solidFill>
                  <a:srgbClr val="5A6378"/>
                </a:solidFill>
                <a:latin typeface="Calibri" pitchFamily="34" charset="0"/>
                <a:ea typeface="Calibri" pitchFamily="34" charset="-122"/>
                <a:cs typeface="Calibri" pitchFamily="34" charset="-120"/>
              </a:rPr>
              <a:t>Heatmaps</a:t>
            </a:r>
            <a:r>
              <a:rPr lang="pt-PT" sz="1000" noProof="0" dirty="0">
                <a:solidFill>
                  <a:srgbClr val="5A6378"/>
                </a:solidFill>
                <a:latin typeface="Calibri" pitchFamily="34" charset="0"/>
                <a:ea typeface="Calibri" pitchFamily="34" charset="-122"/>
                <a:cs typeface="Calibri" pitchFamily="34" charset="-120"/>
              </a:rPr>
              <a:t>, </a:t>
            </a:r>
            <a:r>
              <a:rPr lang="pt-PT" sz="1000" noProof="0" dirty="0" err="1">
                <a:solidFill>
                  <a:srgbClr val="5A6378"/>
                </a:solidFill>
                <a:latin typeface="Calibri" pitchFamily="34" charset="0"/>
                <a:ea typeface="Calibri" pitchFamily="34" charset="-122"/>
                <a:cs typeface="Calibri" pitchFamily="34" charset="-120"/>
              </a:rPr>
              <a:t>Eye</a:t>
            </a:r>
            <a:r>
              <a:rPr lang="pt-PT" sz="1000" noProof="0" dirty="0">
                <a:solidFill>
                  <a:srgbClr val="5A6378"/>
                </a:solidFill>
                <a:latin typeface="Calibri" pitchFamily="34" charset="0"/>
                <a:ea typeface="Calibri" pitchFamily="34" charset="-122"/>
                <a:cs typeface="Calibri" pitchFamily="34" charset="-120"/>
              </a:rPr>
              <a:t> </a:t>
            </a:r>
            <a:r>
              <a:rPr lang="pt-PT" sz="1000" noProof="0" dirty="0" err="1">
                <a:solidFill>
                  <a:srgbClr val="5A6378"/>
                </a:solidFill>
                <a:latin typeface="Calibri" pitchFamily="34" charset="0"/>
                <a:ea typeface="Calibri" pitchFamily="34" charset="-122"/>
                <a:cs typeface="Calibri" pitchFamily="34" charset="-120"/>
              </a:rPr>
              <a:t>tracking</a:t>
            </a:r>
            <a:r>
              <a:rPr lang="pt-PT" sz="1000" dirty="0">
                <a:solidFill>
                  <a:srgbClr val="5A6378"/>
                </a:solidFill>
                <a:latin typeface="Calibri" pitchFamily="34" charset="0"/>
                <a:ea typeface="Calibri" pitchFamily="34" charset="-122"/>
                <a:cs typeface="Calibri" pitchFamily="34" charset="-120"/>
              </a:rPr>
              <a:t>,</a:t>
            </a:r>
            <a:r>
              <a:rPr lang="pt-PT" sz="1000" noProof="0" dirty="0">
                <a:solidFill>
                  <a:srgbClr val="5A6378"/>
                </a:solidFill>
                <a:latin typeface="Calibri" pitchFamily="34" charset="0"/>
                <a:ea typeface="Calibri" pitchFamily="34" charset="-122"/>
                <a:cs typeface="Calibri" pitchFamily="34" charset="-120"/>
              </a:rPr>
              <a:t> A/B </a:t>
            </a:r>
            <a:r>
              <a:rPr lang="pt-PT" sz="1000" noProof="0" dirty="0" err="1">
                <a:solidFill>
                  <a:srgbClr val="5A6378"/>
                </a:solidFill>
                <a:latin typeface="Calibri" pitchFamily="34" charset="0"/>
                <a:ea typeface="Calibri" pitchFamily="34" charset="-122"/>
                <a:cs typeface="Calibri" pitchFamily="34" charset="-120"/>
              </a:rPr>
              <a:t>testing</a:t>
            </a:r>
            <a:r>
              <a:rPr lang="pt-PT" sz="1000" noProof="0" dirty="0">
                <a:solidFill>
                  <a:srgbClr val="5A6378"/>
                </a:solidFill>
                <a:latin typeface="Calibri" pitchFamily="34" charset="0"/>
                <a:ea typeface="Calibri" pitchFamily="34" charset="-122"/>
                <a:cs typeface="Calibri" pitchFamily="34" charset="-120"/>
              </a:rPr>
              <a:t> e NPS</a:t>
            </a:r>
            <a:endParaRPr lang="pt-PT" sz="1000" noProof="0" dirty="0"/>
          </a:p>
        </p:txBody>
      </p:sp>
      <p:sp>
        <p:nvSpPr>
          <p:cNvPr id="21" name="Text 19"/>
          <p:cNvSpPr/>
          <p:nvPr/>
        </p:nvSpPr>
        <p:spPr>
          <a:xfrm>
            <a:off x="731520" y="3977640"/>
            <a:ext cx="548640" cy="502920"/>
          </a:xfrm>
          <a:prstGeom prst="rect">
            <a:avLst/>
          </a:prstGeom>
          <a:noFill/>
          <a:ln/>
        </p:spPr>
        <p:txBody>
          <a:bodyPr wrap="square" lIns="0" tIns="0" rIns="0" bIns="0" rtlCol="0" anchor="ctr"/>
          <a:lstStyle/>
          <a:p>
            <a:pPr marL="0" indent="0">
              <a:buNone/>
            </a:pPr>
            <a:r>
              <a:rPr lang="pt-PT" sz="2000" b="1" i="1" noProof="0" dirty="0">
                <a:solidFill>
                  <a:srgbClr val="4B62A0"/>
                </a:solidFill>
                <a:latin typeface="Georgia" pitchFamily="34" charset="0"/>
                <a:ea typeface="Georgia" pitchFamily="34" charset="-122"/>
                <a:cs typeface="Georgia" pitchFamily="34" charset="-120"/>
              </a:rPr>
              <a:t>07</a:t>
            </a:r>
            <a:endParaRPr lang="pt-PT" sz="2000" noProof="0" dirty="0"/>
          </a:p>
        </p:txBody>
      </p:sp>
      <p:sp>
        <p:nvSpPr>
          <p:cNvPr id="22" name="Text 20"/>
          <p:cNvSpPr/>
          <p:nvPr/>
        </p:nvSpPr>
        <p:spPr>
          <a:xfrm>
            <a:off x="1325880" y="3977640"/>
            <a:ext cx="1080094" cy="274320"/>
          </a:xfrm>
          <a:prstGeom prst="rect">
            <a:avLst/>
          </a:prstGeom>
          <a:noFill/>
          <a:ln/>
        </p:spPr>
        <p:txBody>
          <a:bodyPr wrap="square" lIns="0" tIns="0" rIns="0" bIns="0" rtlCol="0" anchor="ctr"/>
          <a:lstStyle/>
          <a:p>
            <a:pPr marL="0" indent="0">
              <a:buNone/>
            </a:pPr>
            <a:r>
              <a:rPr lang="pt-PT" sz="1400" b="1" noProof="0" dirty="0">
                <a:solidFill>
                  <a:srgbClr val="1E2335"/>
                </a:solidFill>
                <a:latin typeface="Georgia" pitchFamily="34" charset="0"/>
                <a:ea typeface="Georgia" pitchFamily="34" charset="-122"/>
                <a:cs typeface="Georgia" pitchFamily="34" charset="-120"/>
              </a:rPr>
              <a:t>Conclusões</a:t>
            </a:r>
            <a:endParaRPr lang="pt-PT" sz="1400" noProof="0" dirty="0"/>
          </a:p>
        </p:txBody>
      </p:sp>
      <p:sp>
        <p:nvSpPr>
          <p:cNvPr id="23" name="Text 21"/>
          <p:cNvSpPr/>
          <p:nvPr/>
        </p:nvSpPr>
        <p:spPr>
          <a:xfrm>
            <a:off x="1325879" y="4251960"/>
            <a:ext cx="1929643" cy="228600"/>
          </a:xfrm>
          <a:prstGeom prst="rect">
            <a:avLst/>
          </a:prstGeom>
          <a:noFill/>
          <a:ln/>
        </p:spPr>
        <p:txBody>
          <a:bodyPr wrap="square" lIns="0" tIns="0" rIns="0" bIns="0" rtlCol="0" anchor="ctr"/>
          <a:lstStyle/>
          <a:p>
            <a:pPr marL="0" indent="0">
              <a:buNone/>
            </a:pPr>
            <a:r>
              <a:rPr lang="pt-PT" sz="1000" noProof="0" dirty="0">
                <a:solidFill>
                  <a:srgbClr val="5A6378"/>
                </a:solidFill>
                <a:latin typeface="Calibri" pitchFamily="34" charset="0"/>
                <a:ea typeface="Calibri" pitchFamily="34" charset="-122"/>
                <a:cs typeface="Calibri" pitchFamily="34" charset="-120"/>
              </a:rPr>
              <a:t>Implicações práticas destes métodos</a:t>
            </a:r>
            <a:endParaRPr lang="pt-PT" sz="1000" noProof="0" dirty="0"/>
          </a:p>
        </p:txBody>
      </p:sp>
      <p:sp>
        <p:nvSpPr>
          <p:cNvPr id="24" name="Text 22"/>
          <p:cNvSpPr/>
          <p:nvPr/>
        </p:nvSpPr>
        <p:spPr>
          <a:xfrm>
            <a:off x="4937760" y="3977640"/>
            <a:ext cx="548640" cy="502920"/>
          </a:xfrm>
          <a:prstGeom prst="rect">
            <a:avLst/>
          </a:prstGeom>
          <a:noFill/>
          <a:ln/>
        </p:spPr>
        <p:txBody>
          <a:bodyPr wrap="square" lIns="0" tIns="0" rIns="0" bIns="0" rtlCol="0" anchor="ctr"/>
          <a:lstStyle/>
          <a:p>
            <a:pPr marL="0" indent="0">
              <a:buNone/>
            </a:pPr>
            <a:r>
              <a:rPr lang="pt-PT" sz="2000" b="1" i="1" noProof="0" dirty="0">
                <a:solidFill>
                  <a:srgbClr val="4B62A0"/>
                </a:solidFill>
                <a:latin typeface="Georgia" pitchFamily="34" charset="0"/>
                <a:ea typeface="Georgia" pitchFamily="34" charset="-122"/>
                <a:cs typeface="Georgia" pitchFamily="34" charset="-120"/>
              </a:rPr>
              <a:t>08</a:t>
            </a:r>
            <a:endParaRPr lang="pt-PT" sz="2000" noProof="0" dirty="0"/>
          </a:p>
        </p:txBody>
      </p:sp>
      <p:sp>
        <p:nvSpPr>
          <p:cNvPr id="25" name="Text 23"/>
          <p:cNvSpPr/>
          <p:nvPr/>
        </p:nvSpPr>
        <p:spPr>
          <a:xfrm>
            <a:off x="5532120" y="3977640"/>
            <a:ext cx="1089174" cy="274320"/>
          </a:xfrm>
          <a:prstGeom prst="rect">
            <a:avLst/>
          </a:prstGeom>
          <a:noFill/>
          <a:ln/>
        </p:spPr>
        <p:txBody>
          <a:bodyPr wrap="square" lIns="0" tIns="0" rIns="0" bIns="0" rtlCol="0" anchor="ctr"/>
          <a:lstStyle/>
          <a:p>
            <a:pPr marL="0" indent="0">
              <a:buNone/>
            </a:pPr>
            <a:r>
              <a:rPr lang="pt-PT" sz="1400" b="1" noProof="0" dirty="0">
                <a:solidFill>
                  <a:srgbClr val="1E2335"/>
                </a:solidFill>
                <a:latin typeface="Georgia" pitchFamily="34" charset="0"/>
                <a:ea typeface="Georgia" pitchFamily="34" charset="-122"/>
                <a:cs typeface="Georgia" pitchFamily="34" charset="-120"/>
              </a:rPr>
              <a:t>Referências</a:t>
            </a:r>
            <a:endParaRPr lang="pt-PT" sz="1400" noProof="0" dirty="0"/>
          </a:p>
        </p:txBody>
      </p:sp>
      <p:sp>
        <p:nvSpPr>
          <p:cNvPr id="26" name="Text 24"/>
          <p:cNvSpPr/>
          <p:nvPr/>
        </p:nvSpPr>
        <p:spPr>
          <a:xfrm>
            <a:off x="5532120" y="4251960"/>
            <a:ext cx="1504220" cy="228600"/>
          </a:xfrm>
          <a:prstGeom prst="rect">
            <a:avLst/>
          </a:prstGeom>
          <a:noFill/>
          <a:ln/>
        </p:spPr>
        <p:txBody>
          <a:bodyPr wrap="square" lIns="0" tIns="0" rIns="0" bIns="0" rtlCol="0" anchor="ctr"/>
          <a:lstStyle/>
          <a:p>
            <a:pPr marL="0" indent="0">
              <a:buNone/>
            </a:pPr>
            <a:r>
              <a:rPr lang="pt-PT" sz="1000" noProof="0" dirty="0">
                <a:solidFill>
                  <a:srgbClr val="5A6378"/>
                </a:solidFill>
                <a:latin typeface="Calibri" pitchFamily="34" charset="0"/>
                <a:ea typeface="Calibri" pitchFamily="34" charset="-122"/>
                <a:cs typeface="Calibri" pitchFamily="34" charset="-120"/>
              </a:rPr>
              <a:t>Fontes utilizadas no projeto</a:t>
            </a:r>
            <a:endParaRPr lang="pt-PT" sz="10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DCE1EA"/>
        </a:solidFill>
        <a:effectLst/>
      </p:bgPr>
    </p:bg>
    <p:spTree>
      <p:nvGrpSpPr>
        <p:cNvPr id="1" name=""/>
        <p:cNvGrpSpPr/>
        <p:nvPr/>
      </p:nvGrpSpPr>
      <p:grpSpPr>
        <a:xfrm>
          <a:off x="0" y="0"/>
          <a:ext cx="0" cy="0"/>
          <a:chOff x="0" y="0"/>
          <a:chExt cx="0" cy="0"/>
        </a:xfrm>
      </p:grpSpPr>
      <p:sp>
        <p:nvSpPr>
          <p:cNvPr id="2" name="Text 0"/>
          <p:cNvSpPr/>
          <p:nvPr/>
        </p:nvSpPr>
        <p:spPr>
          <a:xfrm>
            <a:off x="731520" y="320040"/>
            <a:ext cx="7315200" cy="640080"/>
          </a:xfrm>
          <a:prstGeom prst="rect">
            <a:avLst/>
          </a:prstGeom>
          <a:noFill/>
          <a:ln/>
        </p:spPr>
        <p:txBody>
          <a:bodyPr wrap="square" lIns="0" tIns="0" rIns="0" bIns="0" rtlCol="0" anchor="ctr"/>
          <a:lstStyle/>
          <a:p>
            <a:pPr marL="0" indent="0">
              <a:buNone/>
            </a:pPr>
            <a:r>
              <a:rPr lang="pt-PT" sz="3200" b="1" noProof="0" dirty="0">
                <a:solidFill>
                  <a:srgbClr val="1E2335"/>
                </a:solidFill>
                <a:latin typeface="Georgia" pitchFamily="34" charset="0"/>
                <a:ea typeface="Georgia" pitchFamily="34" charset="-122"/>
                <a:cs typeface="Georgia" pitchFamily="34" charset="-120"/>
              </a:rPr>
              <a:t>Introdução</a:t>
            </a:r>
            <a:endParaRPr lang="pt-PT" sz="3200" noProof="0" dirty="0"/>
          </a:p>
        </p:txBody>
      </p:sp>
      <p:sp>
        <p:nvSpPr>
          <p:cNvPr id="3" name="Text 1"/>
          <p:cNvSpPr/>
          <p:nvPr/>
        </p:nvSpPr>
        <p:spPr>
          <a:xfrm>
            <a:off x="731520" y="1097280"/>
            <a:ext cx="5029200" cy="960120"/>
          </a:xfrm>
          <a:prstGeom prst="rect">
            <a:avLst/>
          </a:prstGeom>
          <a:noFill/>
          <a:ln/>
        </p:spPr>
        <p:txBody>
          <a:bodyPr wrap="square" lIns="0" tIns="0" rIns="0" bIns="0" rtlCol="0" anchor="ctr"/>
          <a:lstStyle/>
          <a:p>
            <a:pPr marL="0" indent="0">
              <a:lnSpc>
                <a:spcPct val="135000"/>
              </a:lnSpc>
              <a:buNone/>
            </a:pPr>
            <a:r>
              <a:rPr lang="pt-PT" sz="1150" noProof="0" dirty="0">
                <a:solidFill>
                  <a:srgbClr val="3B4252"/>
                </a:solidFill>
                <a:latin typeface="Calibri" pitchFamily="34" charset="0"/>
                <a:ea typeface="Calibri" pitchFamily="34" charset="-122"/>
                <a:cs typeface="Calibri" pitchFamily="34" charset="-120"/>
              </a:rPr>
              <a:t>No desenvolvimento de produtos digitais, tomar decisões com base em dados concretos é o que distingue um processo de design eficaz de um baseado em suposições. As métricas de UX permitem observar, quantificar e otimizar a forma como as pessoas interagem com uma interface de um sistema.</a:t>
            </a:r>
            <a:endParaRPr lang="pt-PT" sz="1150" noProof="0" dirty="0"/>
          </a:p>
        </p:txBody>
      </p:sp>
      <p:sp>
        <p:nvSpPr>
          <p:cNvPr id="4" name="Text 2"/>
          <p:cNvSpPr/>
          <p:nvPr/>
        </p:nvSpPr>
        <p:spPr>
          <a:xfrm>
            <a:off x="731520" y="2260060"/>
            <a:ext cx="5029200" cy="914400"/>
          </a:xfrm>
          <a:prstGeom prst="rect">
            <a:avLst/>
          </a:prstGeom>
          <a:noFill/>
          <a:ln/>
        </p:spPr>
        <p:txBody>
          <a:bodyPr wrap="square" lIns="0" tIns="0" rIns="0" bIns="0" rtlCol="0" anchor="ctr"/>
          <a:lstStyle/>
          <a:p>
            <a:pPr marL="0" indent="0">
              <a:lnSpc>
                <a:spcPct val="135000"/>
              </a:lnSpc>
              <a:buNone/>
            </a:pPr>
            <a:r>
              <a:rPr lang="pt-PT" sz="1150" noProof="0" dirty="0">
                <a:solidFill>
                  <a:srgbClr val="3B4252"/>
                </a:solidFill>
                <a:latin typeface="Calibri" pitchFamily="34" charset="0"/>
                <a:ea typeface="Calibri" pitchFamily="34" charset="-122"/>
                <a:cs typeface="Calibri" pitchFamily="34" charset="-120"/>
              </a:rPr>
              <a:t>A usabilidade, definida pela norma ISO 9241-11 como a combinação de eficácia, eficiência e satisfação, constitui a base desta analise. No entanto, a experiência do utilizador vai mais longe, inclui aspetos emocionais, estéticos e experienciais que influenciam diretamente a perceção global de um produto</a:t>
            </a:r>
            <a:endParaRPr lang="pt-PT" sz="1150" noProof="0" dirty="0"/>
          </a:p>
        </p:txBody>
      </p:sp>
      <p:sp>
        <p:nvSpPr>
          <p:cNvPr id="5" name="Text 3"/>
          <p:cNvSpPr/>
          <p:nvPr/>
        </p:nvSpPr>
        <p:spPr>
          <a:xfrm>
            <a:off x="731520" y="3429000"/>
            <a:ext cx="5029200" cy="502920"/>
          </a:xfrm>
          <a:prstGeom prst="rect">
            <a:avLst/>
          </a:prstGeom>
          <a:noFill/>
          <a:ln/>
        </p:spPr>
        <p:txBody>
          <a:bodyPr wrap="square" lIns="0" tIns="0" rIns="0" bIns="0" rtlCol="0" anchor="ctr"/>
          <a:lstStyle/>
          <a:p>
            <a:pPr marL="0" indent="0">
              <a:lnSpc>
                <a:spcPct val="135000"/>
              </a:lnSpc>
              <a:buNone/>
            </a:pPr>
            <a:r>
              <a:rPr lang="pt-PT" sz="1150" noProof="0" dirty="0">
                <a:solidFill>
                  <a:srgbClr val="3B4252"/>
                </a:solidFill>
                <a:latin typeface="Calibri" pitchFamily="34" charset="0"/>
                <a:ea typeface="Calibri" pitchFamily="34" charset="-122"/>
                <a:cs typeface="Calibri" pitchFamily="34" charset="-120"/>
              </a:rPr>
              <a:t>Neste trabalho apresentaremos as principais metodologias e instrumentos validados para medir a UX, desde questionários padronizados até técnicas de análise comportamental.</a:t>
            </a:r>
            <a:endParaRPr lang="pt-PT" sz="1150" noProof="0" dirty="0"/>
          </a:p>
        </p:txBody>
      </p:sp>
      <p:sp>
        <p:nvSpPr>
          <p:cNvPr id="6" name="Shape 4"/>
          <p:cNvSpPr/>
          <p:nvPr/>
        </p:nvSpPr>
        <p:spPr>
          <a:xfrm>
            <a:off x="6126480" y="1097280"/>
            <a:ext cx="2560320" cy="82296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7" name="Shape 5"/>
          <p:cNvSpPr/>
          <p:nvPr/>
        </p:nvSpPr>
        <p:spPr>
          <a:xfrm>
            <a:off x="6126480" y="1097280"/>
            <a:ext cx="54864" cy="822960"/>
          </a:xfrm>
          <a:prstGeom prst="rect">
            <a:avLst/>
          </a:prstGeom>
          <a:solidFill>
            <a:srgbClr val="4B62A0"/>
          </a:solidFill>
          <a:ln/>
        </p:spPr>
        <p:txBody>
          <a:bodyPr/>
          <a:lstStyle/>
          <a:p>
            <a:endParaRPr lang="pt-PT" noProof="0" dirty="0"/>
          </a:p>
        </p:txBody>
      </p:sp>
      <p:sp>
        <p:nvSpPr>
          <p:cNvPr id="8" name="Text 6"/>
          <p:cNvSpPr/>
          <p:nvPr/>
        </p:nvSpPr>
        <p:spPr>
          <a:xfrm>
            <a:off x="6355080" y="1143000"/>
            <a:ext cx="739626" cy="365760"/>
          </a:xfrm>
          <a:prstGeom prst="rect">
            <a:avLst/>
          </a:prstGeom>
          <a:noFill/>
          <a:ln/>
        </p:spPr>
        <p:txBody>
          <a:bodyPr wrap="square" lIns="0" tIns="0" rIns="0" bIns="0" rtlCol="0" anchor="ctr"/>
          <a:lstStyle/>
          <a:p>
            <a:pPr marL="0" indent="0">
              <a:buNone/>
            </a:pPr>
            <a:r>
              <a:rPr lang="pt-PT" sz="2400" b="1" noProof="0" dirty="0">
                <a:solidFill>
                  <a:srgbClr val="4B62A0"/>
                </a:solidFill>
                <a:latin typeface="Georgia" pitchFamily="34" charset="0"/>
                <a:ea typeface="Georgia" pitchFamily="34" charset="-122"/>
                <a:cs typeface="Georgia" pitchFamily="34" charset="-120"/>
              </a:rPr>
              <a:t>94%</a:t>
            </a:r>
            <a:endParaRPr lang="pt-PT" sz="2400" noProof="0" dirty="0"/>
          </a:p>
        </p:txBody>
      </p:sp>
      <p:sp>
        <p:nvSpPr>
          <p:cNvPr id="9" name="Text 7"/>
          <p:cNvSpPr/>
          <p:nvPr/>
        </p:nvSpPr>
        <p:spPr>
          <a:xfrm>
            <a:off x="6355080" y="1508760"/>
            <a:ext cx="1171145" cy="347472"/>
          </a:xfrm>
          <a:prstGeom prst="rect">
            <a:avLst/>
          </a:prstGeom>
          <a:noFill/>
          <a:ln/>
        </p:spPr>
        <p:txBody>
          <a:bodyPr wrap="square" lIns="0" tIns="0" rIns="0" bIns="0" rtlCol="0" anchor="ctr"/>
          <a:lstStyle/>
          <a:p>
            <a:pPr marL="0" indent="0">
              <a:buNone/>
            </a:pPr>
            <a:r>
              <a:rPr lang="pt-PT" sz="850" noProof="0" dirty="0">
                <a:solidFill>
                  <a:srgbClr val="5A6378"/>
                </a:solidFill>
                <a:latin typeface="Calibri" pitchFamily="34" charset="0"/>
                <a:ea typeface="Calibri" pitchFamily="34" charset="-122"/>
                <a:cs typeface="Calibri" pitchFamily="34" charset="-120"/>
              </a:rPr>
              <a:t>das primeiras impressões</a:t>
            </a:r>
            <a:endParaRPr lang="pt-PT" sz="850" noProof="0" dirty="0"/>
          </a:p>
          <a:p>
            <a:pPr marL="0" indent="0">
              <a:buNone/>
            </a:pPr>
            <a:r>
              <a:rPr lang="pt-PT" sz="850" noProof="0" dirty="0">
                <a:solidFill>
                  <a:srgbClr val="5A6378"/>
                </a:solidFill>
                <a:latin typeface="Calibri" pitchFamily="34" charset="0"/>
                <a:ea typeface="Calibri" pitchFamily="34" charset="-122"/>
                <a:cs typeface="Calibri" pitchFamily="34" charset="-120"/>
              </a:rPr>
              <a:t>relacionadas com o design</a:t>
            </a:r>
            <a:endParaRPr lang="pt-PT" sz="850" noProof="0" dirty="0"/>
          </a:p>
        </p:txBody>
      </p:sp>
      <p:sp>
        <p:nvSpPr>
          <p:cNvPr id="10" name="Shape 8"/>
          <p:cNvSpPr/>
          <p:nvPr/>
        </p:nvSpPr>
        <p:spPr>
          <a:xfrm>
            <a:off x="6126480" y="2103120"/>
            <a:ext cx="2560320" cy="82296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11" name="Shape 9"/>
          <p:cNvSpPr/>
          <p:nvPr/>
        </p:nvSpPr>
        <p:spPr>
          <a:xfrm>
            <a:off x="6126480" y="2103120"/>
            <a:ext cx="54864" cy="822960"/>
          </a:xfrm>
          <a:prstGeom prst="rect">
            <a:avLst/>
          </a:prstGeom>
          <a:solidFill>
            <a:srgbClr val="4B62A0"/>
          </a:solidFill>
          <a:ln/>
        </p:spPr>
        <p:txBody>
          <a:bodyPr/>
          <a:lstStyle/>
          <a:p>
            <a:endParaRPr lang="pt-PT" noProof="0" dirty="0"/>
          </a:p>
        </p:txBody>
      </p:sp>
      <p:sp>
        <p:nvSpPr>
          <p:cNvPr id="12" name="Text 10"/>
          <p:cNvSpPr/>
          <p:nvPr/>
        </p:nvSpPr>
        <p:spPr>
          <a:xfrm>
            <a:off x="6355080" y="2148840"/>
            <a:ext cx="681260" cy="365760"/>
          </a:xfrm>
          <a:prstGeom prst="rect">
            <a:avLst/>
          </a:prstGeom>
          <a:noFill/>
          <a:ln/>
        </p:spPr>
        <p:txBody>
          <a:bodyPr wrap="square" lIns="0" tIns="0" rIns="0" bIns="0" rtlCol="0" anchor="ctr"/>
          <a:lstStyle/>
          <a:p>
            <a:pPr marL="0" indent="0">
              <a:buNone/>
            </a:pPr>
            <a:r>
              <a:rPr lang="pt-PT" sz="2400" b="1" noProof="0" dirty="0">
                <a:solidFill>
                  <a:srgbClr val="4B62A0"/>
                </a:solidFill>
                <a:latin typeface="Georgia" pitchFamily="34" charset="0"/>
                <a:ea typeface="Georgia" pitchFamily="34" charset="-122"/>
                <a:cs typeface="Georgia" pitchFamily="34" charset="-120"/>
              </a:rPr>
              <a:t>88%</a:t>
            </a:r>
            <a:endParaRPr lang="pt-PT" sz="2400" noProof="0" dirty="0"/>
          </a:p>
        </p:txBody>
      </p:sp>
      <p:sp>
        <p:nvSpPr>
          <p:cNvPr id="13" name="Text 11"/>
          <p:cNvSpPr/>
          <p:nvPr/>
        </p:nvSpPr>
        <p:spPr>
          <a:xfrm>
            <a:off x="6355080" y="2514600"/>
            <a:ext cx="1394622" cy="347472"/>
          </a:xfrm>
          <a:prstGeom prst="rect">
            <a:avLst/>
          </a:prstGeom>
          <a:noFill/>
          <a:ln/>
        </p:spPr>
        <p:txBody>
          <a:bodyPr wrap="square" lIns="0" tIns="0" rIns="0" bIns="0" rtlCol="0" anchor="ctr"/>
          <a:lstStyle/>
          <a:p>
            <a:pPr marL="0" indent="0">
              <a:buNone/>
            </a:pPr>
            <a:r>
              <a:rPr lang="pt-PT" sz="850" noProof="0" dirty="0">
                <a:solidFill>
                  <a:srgbClr val="5A6378"/>
                </a:solidFill>
                <a:latin typeface="Calibri" pitchFamily="34" charset="0"/>
                <a:ea typeface="Calibri" pitchFamily="34" charset="-122"/>
                <a:cs typeface="Calibri" pitchFamily="34" charset="-120"/>
              </a:rPr>
              <a:t>dos utilizadores não regressam</a:t>
            </a:r>
            <a:endParaRPr lang="pt-PT" sz="850" noProof="0" dirty="0"/>
          </a:p>
          <a:p>
            <a:pPr marL="0" indent="0">
              <a:buNone/>
            </a:pPr>
            <a:r>
              <a:rPr lang="pt-PT" sz="850" noProof="0" dirty="0">
                <a:solidFill>
                  <a:srgbClr val="5A6378"/>
                </a:solidFill>
                <a:latin typeface="Calibri" pitchFamily="34" charset="0"/>
                <a:ea typeface="Calibri" pitchFamily="34" charset="-122"/>
                <a:cs typeface="Calibri" pitchFamily="34" charset="-120"/>
              </a:rPr>
              <a:t>a sites pouco usáveis</a:t>
            </a:r>
            <a:endParaRPr lang="pt-PT" sz="850" noProof="0" dirty="0"/>
          </a:p>
        </p:txBody>
      </p:sp>
      <p:sp>
        <p:nvSpPr>
          <p:cNvPr id="14" name="Shape 12"/>
          <p:cNvSpPr/>
          <p:nvPr/>
        </p:nvSpPr>
        <p:spPr>
          <a:xfrm>
            <a:off x="6126480" y="3108960"/>
            <a:ext cx="2560320" cy="82296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15" name="Shape 13"/>
          <p:cNvSpPr/>
          <p:nvPr/>
        </p:nvSpPr>
        <p:spPr>
          <a:xfrm>
            <a:off x="6126480" y="3108960"/>
            <a:ext cx="54864" cy="822960"/>
          </a:xfrm>
          <a:prstGeom prst="rect">
            <a:avLst/>
          </a:prstGeom>
          <a:solidFill>
            <a:srgbClr val="4B62A0"/>
          </a:solidFill>
          <a:ln/>
        </p:spPr>
        <p:txBody>
          <a:bodyPr/>
          <a:lstStyle/>
          <a:p>
            <a:endParaRPr lang="pt-PT" noProof="0" dirty="0"/>
          </a:p>
        </p:txBody>
      </p:sp>
      <p:sp>
        <p:nvSpPr>
          <p:cNvPr id="16" name="Text 14"/>
          <p:cNvSpPr/>
          <p:nvPr/>
        </p:nvSpPr>
        <p:spPr>
          <a:xfrm>
            <a:off x="6355080" y="3154680"/>
            <a:ext cx="739626" cy="365760"/>
          </a:xfrm>
          <a:prstGeom prst="rect">
            <a:avLst/>
          </a:prstGeom>
          <a:noFill/>
          <a:ln/>
        </p:spPr>
        <p:txBody>
          <a:bodyPr wrap="square" lIns="0" tIns="0" rIns="0" bIns="0" rtlCol="0" anchor="ctr"/>
          <a:lstStyle/>
          <a:p>
            <a:pPr marL="0" indent="0">
              <a:buNone/>
            </a:pPr>
            <a:r>
              <a:rPr lang="pt-PT" sz="2400" b="1" noProof="0" dirty="0">
                <a:solidFill>
                  <a:srgbClr val="4B62A0"/>
                </a:solidFill>
                <a:latin typeface="Georgia" pitchFamily="34" charset="0"/>
                <a:ea typeface="Georgia" pitchFamily="34" charset="-122"/>
                <a:cs typeface="Georgia" pitchFamily="34" charset="-120"/>
              </a:rPr>
              <a:t>60%</a:t>
            </a:r>
            <a:endParaRPr lang="pt-PT" sz="2400" noProof="0" dirty="0"/>
          </a:p>
        </p:txBody>
      </p:sp>
      <p:sp>
        <p:nvSpPr>
          <p:cNvPr id="17" name="Text 15"/>
          <p:cNvSpPr/>
          <p:nvPr/>
        </p:nvSpPr>
        <p:spPr>
          <a:xfrm>
            <a:off x="6355080" y="3520440"/>
            <a:ext cx="1394622" cy="347472"/>
          </a:xfrm>
          <a:prstGeom prst="rect">
            <a:avLst/>
          </a:prstGeom>
          <a:noFill/>
          <a:ln/>
        </p:spPr>
        <p:txBody>
          <a:bodyPr wrap="square" lIns="0" tIns="0" rIns="0" bIns="0" rtlCol="0" anchor="ctr"/>
          <a:lstStyle/>
          <a:p>
            <a:pPr marL="0" indent="0">
              <a:buNone/>
            </a:pPr>
            <a:r>
              <a:rPr lang="pt-PT" sz="850" noProof="0" dirty="0">
                <a:solidFill>
                  <a:srgbClr val="5A6378"/>
                </a:solidFill>
                <a:latin typeface="Calibri" pitchFamily="34" charset="0"/>
                <a:ea typeface="Calibri" pitchFamily="34" charset="-122"/>
                <a:cs typeface="Calibri" pitchFamily="34" charset="-120"/>
              </a:rPr>
              <a:t>dos utilizadores não encontram</a:t>
            </a:r>
            <a:endParaRPr lang="pt-PT" sz="850" noProof="0" dirty="0"/>
          </a:p>
          <a:p>
            <a:pPr marL="0" indent="0">
              <a:buNone/>
            </a:pPr>
            <a:r>
              <a:rPr lang="pt-PT" sz="850" noProof="0" dirty="0">
                <a:solidFill>
                  <a:srgbClr val="5A6378"/>
                </a:solidFill>
                <a:latin typeface="Calibri" pitchFamily="34" charset="0"/>
                <a:ea typeface="Calibri" pitchFamily="34" charset="-122"/>
                <a:cs typeface="Calibri" pitchFamily="34" charset="-120"/>
              </a:rPr>
              <a:t>o que procuram</a:t>
            </a:r>
            <a:endParaRPr lang="pt-PT" sz="85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DCE1EA"/>
        </a:solidFill>
        <a:effectLst/>
      </p:bgPr>
    </p:bg>
    <p:spTree>
      <p:nvGrpSpPr>
        <p:cNvPr id="1" name=""/>
        <p:cNvGrpSpPr/>
        <p:nvPr/>
      </p:nvGrpSpPr>
      <p:grpSpPr>
        <a:xfrm>
          <a:off x="0" y="0"/>
          <a:ext cx="0" cy="0"/>
          <a:chOff x="0" y="0"/>
          <a:chExt cx="0" cy="0"/>
        </a:xfrm>
      </p:grpSpPr>
      <p:sp>
        <p:nvSpPr>
          <p:cNvPr id="2" name="Text 0"/>
          <p:cNvSpPr/>
          <p:nvPr/>
        </p:nvSpPr>
        <p:spPr>
          <a:xfrm>
            <a:off x="731520" y="320040"/>
            <a:ext cx="5338540" cy="640080"/>
          </a:xfrm>
          <a:prstGeom prst="rect">
            <a:avLst/>
          </a:prstGeom>
          <a:noFill/>
          <a:ln/>
        </p:spPr>
        <p:txBody>
          <a:bodyPr wrap="square" lIns="0" tIns="0" rIns="0" bIns="0" rtlCol="0" anchor="ctr"/>
          <a:lstStyle/>
          <a:p>
            <a:pPr marL="0" indent="0">
              <a:buNone/>
            </a:pPr>
            <a:r>
              <a:rPr lang="pt-PT" sz="3200" b="1" noProof="0" dirty="0">
                <a:solidFill>
                  <a:srgbClr val="1E2335"/>
                </a:solidFill>
                <a:latin typeface="Georgia" pitchFamily="34" charset="0"/>
                <a:ea typeface="Georgia" pitchFamily="34" charset="-122"/>
                <a:cs typeface="Georgia" pitchFamily="34" charset="-120"/>
              </a:rPr>
              <a:t>Definição de Usabilidade</a:t>
            </a:r>
            <a:endParaRPr lang="pt-PT" sz="3200" noProof="0" dirty="0"/>
          </a:p>
        </p:txBody>
      </p:sp>
      <p:sp>
        <p:nvSpPr>
          <p:cNvPr id="3" name="Shape 1"/>
          <p:cNvSpPr/>
          <p:nvPr/>
        </p:nvSpPr>
        <p:spPr>
          <a:xfrm>
            <a:off x="731520" y="1143000"/>
            <a:ext cx="7680960" cy="118872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4" name="Shape 2"/>
          <p:cNvSpPr/>
          <p:nvPr/>
        </p:nvSpPr>
        <p:spPr>
          <a:xfrm>
            <a:off x="731520" y="1143000"/>
            <a:ext cx="54864" cy="1188720"/>
          </a:xfrm>
          <a:prstGeom prst="rect">
            <a:avLst/>
          </a:prstGeom>
          <a:solidFill>
            <a:srgbClr val="4B62A0"/>
          </a:solidFill>
          <a:ln/>
        </p:spPr>
        <p:txBody>
          <a:bodyPr/>
          <a:lstStyle/>
          <a:p>
            <a:endParaRPr lang="pt-PT" noProof="0" dirty="0"/>
          </a:p>
        </p:txBody>
      </p:sp>
      <p:sp>
        <p:nvSpPr>
          <p:cNvPr id="5" name="Text 3"/>
          <p:cNvSpPr/>
          <p:nvPr/>
        </p:nvSpPr>
        <p:spPr>
          <a:xfrm>
            <a:off x="1005840" y="1260055"/>
            <a:ext cx="1121275" cy="228600"/>
          </a:xfrm>
          <a:prstGeom prst="rect">
            <a:avLst/>
          </a:prstGeom>
          <a:noFill/>
          <a:ln/>
        </p:spPr>
        <p:txBody>
          <a:bodyPr wrap="square" lIns="0" tIns="0" rIns="0" bIns="0" rtlCol="0" anchor="ctr"/>
          <a:lstStyle/>
          <a:p>
            <a:pPr marL="0" indent="0">
              <a:buNone/>
            </a:pPr>
            <a:r>
              <a:rPr lang="pt-PT" sz="1000" b="1" noProof="0" dirty="0">
                <a:solidFill>
                  <a:srgbClr val="4B62A0"/>
                </a:solidFill>
                <a:latin typeface="Georgia" pitchFamily="34" charset="0"/>
                <a:ea typeface="Georgia" pitchFamily="34" charset="-122"/>
                <a:cs typeface="Georgia" pitchFamily="34" charset="-120"/>
              </a:rPr>
              <a:t>ISO 9241-11:2018</a:t>
            </a:r>
            <a:endParaRPr lang="pt-PT" sz="1000" noProof="0" dirty="0"/>
          </a:p>
        </p:txBody>
      </p:sp>
      <p:sp>
        <p:nvSpPr>
          <p:cNvPr id="6" name="Text 4"/>
          <p:cNvSpPr/>
          <p:nvPr/>
        </p:nvSpPr>
        <p:spPr>
          <a:xfrm>
            <a:off x="1005840" y="1463040"/>
            <a:ext cx="6886534" cy="685800"/>
          </a:xfrm>
          <a:prstGeom prst="rect">
            <a:avLst/>
          </a:prstGeom>
          <a:noFill/>
          <a:ln/>
        </p:spPr>
        <p:txBody>
          <a:bodyPr wrap="square" lIns="0" tIns="0" rIns="0" bIns="0" rtlCol="0" anchor="ctr"/>
          <a:lstStyle/>
          <a:p>
            <a:pPr marL="0" indent="0">
              <a:lnSpc>
                <a:spcPct val="130000"/>
              </a:lnSpc>
              <a:buNone/>
            </a:pPr>
            <a:r>
              <a:rPr lang="pt-PT" sz="1100" i="1" noProof="0" dirty="0">
                <a:solidFill>
                  <a:srgbClr val="3B4252"/>
                </a:solidFill>
                <a:latin typeface="Calibri" pitchFamily="34" charset="0"/>
                <a:ea typeface="Calibri" pitchFamily="34" charset="-122"/>
                <a:cs typeface="Calibri" pitchFamily="34" charset="-120"/>
              </a:rPr>
              <a:t>Usabilidade é a medida em que um sistema, produto ou serviço pode ser utilizado por utilizadores específicos para atingir objetivos definidos com eficácia, eficiência e satisfação, num contexto de uso determinado.</a:t>
            </a:r>
            <a:endParaRPr lang="pt-PT" sz="1100" noProof="0" dirty="0"/>
          </a:p>
        </p:txBody>
      </p:sp>
      <p:sp>
        <p:nvSpPr>
          <p:cNvPr id="7" name="Shape 5"/>
          <p:cNvSpPr/>
          <p:nvPr/>
        </p:nvSpPr>
        <p:spPr>
          <a:xfrm>
            <a:off x="491572" y="2606040"/>
            <a:ext cx="2560320" cy="196596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8" name="Shape 6"/>
          <p:cNvSpPr/>
          <p:nvPr/>
        </p:nvSpPr>
        <p:spPr>
          <a:xfrm>
            <a:off x="491572" y="2606040"/>
            <a:ext cx="2560320" cy="54864"/>
          </a:xfrm>
          <a:prstGeom prst="rect">
            <a:avLst/>
          </a:prstGeom>
          <a:solidFill>
            <a:srgbClr val="4B62A0"/>
          </a:solidFill>
          <a:ln/>
        </p:spPr>
        <p:txBody>
          <a:bodyPr/>
          <a:lstStyle/>
          <a:p>
            <a:endParaRPr lang="pt-PT" noProof="0" dirty="0"/>
          </a:p>
        </p:txBody>
      </p:sp>
      <p:sp>
        <p:nvSpPr>
          <p:cNvPr id="9" name="Text 7"/>
          <p:cNvSpPr/>
          <p:nvPr/>
        </p:nvSpPr>
        <p:spPr>
          <a:xfrm>
            <a:off x="1290537" y="2788920"/>
            <a:ext cx="853440" cy="320040"/>
          </a:xfrm>
          <a:prstGeom prst="rect">
            <a:avLst/>
          </a:prstGeom>
          <a:noFill/>
          <a:ln/>
        </p:spPr>
        <p:txBody>
          <a:bodyPr wrap="square" lIns="0" tIns="0" rIns="0" bIns="0" rtlCol="0" anchor="ctr"/>
          <a:lstStyle/>
          <a:p>
            <a:pPr marL="0" indent="0" algn="ctr">
              <a:buNone/>
            </a:pPr>
            <a:r>
              <a:rPr lang="pt-PT" sz="1600" b="1" noProof="0" dirty="0">
                <a:solidFill>
                  <a:srgbClr val="1E2335"/>
                </a:solidFill>
                <a:latin typeface="Georgia" pitchFamily="34" charset="0"/>
                <a:ea typeface="Georgia" pitchFamily="34" charset="-122"/>
                <a:cs typeface="Georgia" pitchFamily="34" charset="-120"/>
              </a:rPr>
              <a:t>Eficácia</a:t>
            </a:r>
            <a:endParaRPr lang="pt-PT" sz="1600" noProof="0" dirty="0"/>
          </a:p>
        </p:txBody>
      </p:sp>
      <p:sp>
        <p:nvSpPr>
          <p:cNvPr id="10" name="Text 8"/>
          <p:cNvSpPr/>
          <p:nvPr/>
        </p:nvSpPr>
        <p:spPr>
          <a:xfrm>
            <a:off x="674452" y="3200400"/>
            <a:ext cx="2194560" cy="914400"/>
          </a:xfrm>
          <a:prstGeom prst="rect">
            <a:avLst/>
          </a:prstGeom>
          <a:noFill/>
          <a:ln/>
        </p:spPr>
        <p:txBody>
          <a:bodyPr wrap="square" lIns="0" tIns="0" rIns="0" bIns="0" rtlCol="0" anchor="ctr"/>
          <a:lstStyle/>
          <a:p>
            <a:pPr marL="0" indent="0" algn="ctr">
              <a:lnSpc>
                <a:spcPct val="130000"/>
              </a:lnSpc>
              <a:buNone/>
            </a:pPr>
            <a:r>
              <a:rPr lang="pt-PT" sz="1050" noProof="0" dirty="0">
                <a:solidFill>
                  <a:srgbClr val="5A6378"/>
                </a:solidFill>
                <a:latin typeface="Calibri" pitchFamily="34" charset="0"/>
                <a:ea typeface="Calibri" pitchFamily="34" charset="-122"/>
                <a:cs typeface="Calibri" pitchFamily="34" charset="-120"/>
              </a:rPr>
              <a:t>Exatidão e precisão com</a:t>
            </a:r>
            <a:endParaRPr lang="pt-PT" sz="1050" noProof="0" dirty="0"/>
          </a:p>
          <a:p>
            <a:pPr marL="0" indent="0" algn="ctr">
              <a:lnSpc>
                <a:spcPct val="130000"/>
              </a:lnSpc>
              <a:buNone/>
            </a:pPr>
            <a:r>
              <a:rPr lang="pt-PT" sz="1050" noProof="0" dirty="0">
                <a:solidFill>
                  <a:srgbClr val="5A6378"/>
                </a:solidFill>
                <a:latin typeface="Calibri" pitchFamily="34" charset="0"/>
                <a:ea typeface="Calibri" pitchFamily="34" charset="-122"/>
                <a:cs typeface="Calibri" pitchFamily="34" charset="-120"/>
              </a:rPr>
              <a:t>que os utilizadores atingem</a:t>
            </a:r>
            <a:endParaRPr lang="pt-PT" sz="1050" noProof="0" dirty="0"/>
          </a:p>
          <a:p>
            <a:pPr marL="0" indent="0" algn="ctr">
              <a:lnSpc>
                <a:spcPct val="130000"/>
              </a:lnSpc>
              <a:buNone/>
            </a:pPr>
            <a:r>
              <a:rPr lang="pt-PT" sz="1050" noProof="0" dirty="0">
                <a:solidFill>
                  <a:srgbClr val="5A6378"/>
                </a:solidFill>
                <a:latin typeface="Calibri" pitchFamily="34" charset="0"/>
                <a:ea typeface="Calibri" pitchFamily="34" charset="-122"/>
                <a:cs typeface="Calibri" pitchFamily="34" charset="-120"/>
              </a:rPr>
              <a:t>os objetivos definidos.</a:t>
            </a:r>
            <a:endParaRPr lang="pt-PT" sz="1050" noProof="0" dirty="0"/>
          </a:p>
        </p:txBody>
      </p:sp>
      <p:sp>
        <p:nvSpPr>
          <p:cNvPr id="11" name="Shape 9"/>
          <p:cNvSpPr/>
          <p:nvPr/>
        </p:nvSpPr>
        <p:spPr>
          <a:xfrm>
            <a:off x="3326212" y="2606040"/>
            <a:ext cx="2560320" cy="196596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12" name="Shape 10"/>
          <p:cNvSpPr/>
          <p:nvPr/>
        </p:nvSpPr>
        <p:spPr>
          <a:xfrm>
            <a:off x="3326212" y="2606040"/>
            <a:ext cx="2560320" cy="54864"/>
          </a:xfrm>
          <a:prstGeom prst="rect">
            <a:avLst/>
          </a:prstGeom>
          <a:solidFill>
            <a:srgbClr val="5B8C7B"/>
          </a:solidFill>
          <a:ln/>
        </p:spPr>
        <p:txBody>
          <a:bodyPr/>
          <a:lstStyle/>
          <a:p>
            <a:endParaRPr lang="pt-PT" noProof="0" dirty="0"/>
          </a:p>
        </p:txBody>
      </p:sp>
      <p:sp>
        <p:nvSpPr>
          <p:cNvPr id="13" name="Text 11"/>
          <p:cNvSpPr/>
          <p:nvPr/>
        </p:nvSpPr>
        <p:spPr>
          <a:xfrm>
            <a:off x="4000662" y="2788920"/>
            <a:ext cx="1090146" cy="320040"/>
          </a:xfrm>
          <a:prstGeom prst="rect">
            <a:avLst/>
          </a:prstGeom>
          <a:noFill/>
          <a:ln/>
        </p:spPr>
        <p:txBody>
          <a:bodyPr wrap="square" lIns="0" tIns="0" rIns="0" bIns="0" rtlCol="0" anchor="ctr"/>
          <a:lstStyle/>
          <a:p>
            <a:pPr marL="0" indent="0" algn="ctr">
              <a:buNone/>
            </a:pPr>
            <a:r>
              <a:rPr lang="pt-PT" sz="1600" b="1" noProof="0" dirty="0">
                <a:solidFill>
                  <a:srgbClr val="1E2335"/>
                </a:solidFill>
                <a:latin typeface="Georgia" pitchFamily="34" charset="0"/>
                <a:ea typeface="Georgia" pitchFamily="34" charset="-122"/>
                <a:cs typeface="Georgia" pitchFamily="34" charset="-120"/>
              </a:rPr>
              <a:t>Eficiência</a:t>
            </a:r>
            <a:endParaRPr lang="pt-PT" sz="1600" noProof="0" dirty="0"/>
          </a:p>
        </p:txBody>
      </p:sp>
      <p:sp>
        <p:nvSpPr>
          <p:cNvPr id="14" name="Text 12"/>
          <p:cNvSpPr/>
          <p:nvPr/>
        </p:nvSpPr>
        <p:spPr>
          <a:xfrm>
            <a:off x="3509092" y="3200400"/>
            <a:ext cx="2194560" cy="914400"/>
          </a:xfrm>
          <a:prstGeom prst="rect">
            <a:avLst/>
          </a:prstGeom>
          <a:noFill/>
          <a:ln/>
        </p:spPr>
        <p:txBody>
          <a:bodyPr wrap="square" lIns="0" tIns="0" rIns="0" bIns="0" rtlCol="0" anchor="ctr"/>
          <a:lstStyle/>
          <a:p>
            <a:pPr marL="0" indent="0" algn="ctr">
              <a:lnSpc>
                <a:spcPct val="130000"/>
              </a:lnSpc>
              <a:buNone/>
            </a:pPr>
            <a:r>
              <a:rPr lang="pt-PT" sz="1050" noProof="0" dirty="0">
                <a:solidFill>
                  <a:srgbClr val="5A6378"/>
                </a:solidFill>
                <a:latin typeface="Calibri" pitchFamily="34" charset="0"/>
                <a:ea typeface="Calibri" pitchFamily="34" charset="-122"/>
                <a:cs typeface="Calibri" pitchFamily="34" charset="-120"/>
              </a:rPr>
              <a:t>Recursos utilizados em</a:t>
            </a:r>
            <a:endParaRPr lang="pt-PT" sz="1050" noProof="0" dirty="0"/>
          </a:p>
          <a:p>
            <a:pPr marL="0" indent="0" algn="ctr">
              <a:lnSpc>
                <a:spcPct val="130000"/>
              </a:lnSpc>
              <a:buNone/>
            </a:pPr>
            <a:r>
              <a:rPr lang="pt-PT" sz="1050" noProof="0" dirty="0">
                <a:solidFill>
                  <a:srgbClr val="5A6378"/>
                </a:solidFill>
                <a:latin typeface="Calibri" pitchFamily="34" charset="0"/>
                <a:ea typeface="Calibri" pitchFamily="34" charset="-122"/>
                <a:cs typeface="Calibri" pitchFamily="34" charset="-120"/>
              </a:rPr>
              <a:t>relação à exatidão e</a:t>
            </a:r>
            <a:endParaRPr lang="pt-PT" sz="1050" noProof="0" dirty="0"/>
          </a:p>
          <a:p>
            <a:pPr marL="0" indent="0" algn="ctr">
              <a:lnSpc>
                <a:spcPct val="130000"/>
              </a:lnSpc>
              <a:buNone/>
            </a:pPr>
            <a:r>
              <a:rPr lang="pt-PT" sz="1050" noProof="0" dirty="0">
                <a:solidFill>
                  <a:srgbClr val="5A6378"/>
                </a:solidFill>
                <a:latin typeface="Calibri" pitchFamily="34" charset="0"/>
                <a:ea typeface="Calibri" pitchFamily="34" charset="-122"/>
                <a:cs typeface="Calibri" pitchFamily="34" charset="-120"/>
              </a:rPr>
              <a:t>integralidade alcançadas.</a:t>
            </a:r>
            <a:endParaRPr lang="pt-PT" sz="1050" noProof="0" dirty="0"/>
          </a:p>
        </p:txBody>
      </p:sp>
      <p:sp>
        <p:nvSpPr>
          <p:cNvPr id="15" name="Shape 13"/>
          <p:cNvSpPr/>
          <p:nvPr/>
        </p:nvSpPr>
        <p:spPr>
          <a:xfrm>
            <a:off x="6160852" y="2606040"/>
            <a:ext cx="2560320" cy="196596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16" name="Shape 14"/>
          <p:cNvSpPr/>
          <p:nvPr/>
        </p:nvSpPr>
        <p:spPr>
          <a:xfrm>
            <a:off x="6160852" y="2606040"/>
            <a:ext cx="2560320" cy="54864"/>
          </a:xfrm>
          <a:prstGeom prst="rect">
            <a:avLst/>
          </a:prstGeom>
          <a:solidFill>
            <a:srgbClr val="B8863B"/>
          </a:solidFill>
          <a:ln/>
        </p:spPr>
        <p:txBody>
          <a:bodyPr/>
          <a:lstStyle/>
          <a:p>
            <a:endParaRPr lang="pt-PT" noProof="0" dirty="0"/>
          </a:p>
        </p:txBody>
      </p:sp>
      <p:sp>
        <p:nvSpPr>
          <p:cNvPr id="17" name="Text 15"/>
          <p:cNvSpPr/>
          <p:nvPr/>
        </p:nvSpPr>
        <p:spPr>
          <a:xfrm>
            <a:off x="6900153" y="2788920"/>
            <a:ext cx="1068746" cy="320040"/>
          </a:xfrm>
          <a:prstGeom prst="rect">
            <a:avLst/>
          </a:prstGeom>
          <a:noFill/>
          <a:ln/>
        </p:spPr>
        <p:txBody>
          <a:bodyPr wrap="square" lIns="0" tIns="0" rIns="0" bIns="0" rtlCol="0" anchor="ctr"/>
          <a:lstStyle/>
          <a:p>
            <a:pPr marL="0" indent="0" algn="ctr">
              <a:buNone/>
            </a:pPr>
            <a:r>
              <a:rPr lang="pt-PT" sz="1600" b="1" noProof="0" dirty="0">
                <a:solidFill>
                  <a:srgbClr val="1E2335"/>
                </a:solidFill>
                <a:latin typeface="Georgia" pitchFamily="34" charset="0"/>
                <a:ea typeface="Georgia" pitchFamily="34" charset="-122"/>
                <a:cs typeface="Georgia" pitchFamily="34" charset="-120"/>
              </a:rPr>
              <a:t>Satisfação</a:t>
            </a:r>
            <a:endParaRPr lang="pt-PT" sz="1600" noProof="0" dirty="0"/>
          </a:p>
        </p:txBody>
      </p:sp>
      <p:sp>
        <p:nvSpPr>
          <p:cNvPr id="18" name="Text 16"/>
          <p:cNvSpPr/>
          <p:nvPr/>
        </p:nvSpPr>
        <p:spPr>
          <a:xfrm>
            <a:off x="6343732" y="3200400"/>
            <a:ext cx="2194560" cy="914400"/>
          </a:xfrm>
          <a:prstGeom prst="rect">
            <a:avLst/>
          </a:prstGeom>
          <a:noFill/>
          <a:ln/>
        </p:spPr>
        <p:txBody>
          <a:bodyPr wrap="square" lIns="0" tIns="0" rIns="0" bIns="0" rtlCol="0" anchor="ctr"/>
          <a:lstStyle/>
          <a:p>
            <a:pPr marL="0" indent="0" algn="ctr">
              <a:lnSpc>
                <a:spcPct val="130000"/>
              </a:lnSpc>
              <a:buNone/>
            </a:pPr>
            <a:r>
              <a:rPr lang="pt-PT" sz="1050" noProof="0" dirty="0">
                <a:solidFill>
                  <a:srgbClr val="5A6378"/>
                </a:solidFill>
                <a:latin typeface="Calibri" pitchFamily="34" charset="0"/>
                <a:ea typeface="Calibri" pitchFamily="34" charset="-122"/>
                <a:cs typeface="Calibri" pitchFamily="34" charset="-120"/>
              </a:rPr>
              <a:t>Grau em que as respostas</a:t>
            </a:r>
            <a:endParaRPr lang="pt-PT" sz="1050" noProof="0" dirty="0"/>
          </a:p>
          <a:p>
            <a:pPr marL="0" indent="0" algn="ctr">
              <a:lnSpc>
                <a:spcPct val="130000"/>
              </a:lnSpc>
              <a:buNone/>
            </a:pPr>
            <a:r>
              <a:rPr lang="pt-PT" sz="1050" noProof="0" dirty="0">
                <a:solidFill>
                  <a:srgbClr val="5A6378"/>
                </a:solidFill>
                <a:latin typeface="Calibri" pitchFamily="34" charset="0"/>
                <a:ea typeface="Calibri" pitchFamily="34" charset="-122"/>
                <a:cs typeface="Calibri" pitchFamily="34" charset="-120"/>
              </a:rPr>
              <a:t>físicas, cognitivas e</a:t>
            </a:r>
            <a:endParaRPr lang="pt-PT" sz="1050" noProof="0" dirty="0"/>
          </a:p>
          <a:p>
            <a:pPr marL="0" indent="0" algn="ctr">
              <a:lnSpc>
                <a:spcPct val="130000"/>
              </a:lnSpc>
              <a:buNone/>
            </a:pPr>
            <a:r>
              <a:rPr lang="pt-PT" sz="1050" noProof="0" dirty="0">
                <a:solidFill>
                  <a:srgbClr val="5A6378"/>
                </a:solidFill>
                <a:latin typeface="Calibri" pitchFamily="34" charset="0"/>
                <a:ea typeface="Calibri" pitchFamily="34" charset="-122"/>
                <a:cs typeface="Calibri" pitchFamily="34" charset="-120"/>
              </a:rPr>
              <a:t>emocionais são positivas.</a:t>
            </a:r>
            <a:endParaRPr lang="pt-PT" sz="105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DCE1EA"/>
        </a:solidFill>
        <a:effectLst/>
      </p:bgPr>
    </p:bg>
    <p:spTree>
      <p:nvGrpSpPr>
        <p:cNvPr id="1" name=""/>
        <p:cNvGrpSpPr/>
        <p:nvPr/>
      </p:nvGrpSpPr>
      <p:grpSpPr>
        <a:xfrm>
          <a:off x="0" y="0"/>
          <a:ext cx="0" cy="0"/>
          <a:chOff x="0" y="0"/>
          <a:chExt cx="0" cy="0"/>
        </a:xfrm>
      </p:grpSpPr>
      <p:sp>
        <p:nvSpPr>
          <p:cNvPr id="2" name="Text 0"/>
          <p:cNvSpPr/>
          <p:nvPr/>
        </p:nvSpPr>
        <p:spPr>
          <a:xfrm>
            <a:off x="731520" y="320040"/>
            <a:ext cx="7562931" cy="640080"/>
          </a:xfrm>
          <a:prstGeom prst="rect">
            <a:avLst/>
          </a:prstGeom>
          <a:noFill/>
          <a:ln/>
        </p:spPr>
        <p:txBody>
          <a:bodyPr wrap="square" lIns="0" tIns="0" rIns="0" bIns="0" rtlCol="0" anchor="ctr"/>
          <a:lstStyle/>
          <a:p>
            <a:pPr marL="0" indent="0">
              <a:buNone/>
            </a:pPr>
            <a:r>
              <a:rPr lang="pt-PT" sz="2800" b="1" noProof="0" dirty="0">
                <a:solidFill>
                  <a:srgbClr val="1E2335"/>
                </a:solidFill>
                <a:latin typeface="Georgia" pitchFamily="34" charset="0"/>
                <a:ea typeface="Georgia" pitchFamily="34" charset="-122"/>
                <a:cs typeface="Georgia" pitchFamily="34" charset="-120"/>
              </a:rPr>
              <a:t>Usabilidade vs. Experiência do Utilizador</a:t>
            </a:r>
            <a:endParaRPr lang="pt-PT" sz="2800" noProof="0" dirty="0"/>
          </a:p>
        </p:txBody>
      </p:sp>
      <p:sp>
        <p:nvSpPr>
          <p:cNvPr id="3" name="Text 1"/>
          <p:cNvSpPr/>
          <p:nvPr/>
        </p:nvSpPr>
        <p:spPr>
          <a:xfrm>
            <a:off x="731520" y="1051560"/>
            <a:ext cx="7680960" cy="777240"/>
          </a:xfrm>
          <a:prstGeom prst="rect">
            <a:avLst/>
          </a:prstGeom>
          <a:noFill/>
          <a:ln/>
        </p:spPr>
        <p:txBody>
          <a:bodyPr wrap="square" lIns="0" tIns="0" rIns="0" bIns="0" rtlCol="0" anchor="ctr"/>
          <a:lstStyle/>
          <a:p>
            <a:pPr>
              <a:lnSpc>
                <a:spcPct val="135000"/>
              </a:lnSpc>
            </a:pPr>
            <a:r>
              <a:rPr lang="pt-PT" sz="1200" noProof="0" dirty="0">
                <a:solidFill>
                  <a:srgbClr val="3B4252"/>
                </a:solidFill>
                <a:latin typeface="Calibri" pitchFamily="34" charset="0"/>
                <a:ea typeface="Calibri" pitchFamily="34" charset="-122"/>
                <a:cs typeface="Calibri" pitchFamily="34" charset="-120"/>
              </a:rPr>
              <a:t>A experiência do utilizador é um conceito mais amplo do que a usabilidade clássica. Para além da capacidade funcional de completar tarefas, a UX inclui a forma como as pessoas se sente ao usar um produto - se este é visualmente atrativo, se transmite confiança e se proporciona uma interação agradável que motiva o utilizador a regressar.</a:t>
            </a:r>
            <a:endParaRPr lang="pt-PT" sz="1200" noProof="0" dirty="0"/>
          </a:p>
        </p:txBody>
      </p:sp>
      <p:sp>
        <p:nvSpPr>
          <p:cNvPr id="4" name="Shape 2"/>
          <p:cNvSpPr/>
          <p:nvPr/>
        </p:nvSpPr>
        <p:spPr>
          <a:xfrm>
            <a:off x="731520" y="2057400"/>
            <a:ext cx="3657600" cy="260604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5" name="Shape 3"/>
          <p:cNvSpPr/>
          <p:nvPr/>
        </p:nvSpPr>
        <p:spPr>
          <a:xfrm>
            <a:off x="731520" y="2057400"/>
            <a:ext cx="3657600" cy="411480"/>
          </a:xfrm>
          <a:prstGeom prst="rect">
            <a:avLst/>
          </a:prstGeom>
          <a:solidFill>
            <a:srgbClr val="4B62A0"/>
          </a:solidFill>
          <a:ln/>
        </p:spPr>
        <p:txBody>
          <a:bodyPr/>
          <a:lstStyle/>
          <a:p>
            <a:endParaRPr lang="pt-PT" noProof="0" dirty="0"/>
          </a:p>
        </p:txBody>
      </p:sp>
      <p:sp>
        <p:nvSpPr>
          <p:cNvPr id="6" name="Text 4"/>
          <p:cNvSpPr/>
          <p:nvPr/>
        </p:nvSpPr>
        <p:spPr>
          <a:xfrm>
            <a:off x="731520" y="2057400"/>
            <a:ext cx="3657600" cy="411480"/>
          </a:xfrm>
          <a:prstGeom prst="rect">
            <a:avLst/>
          </a:prstGeom>
          <a:noFill/>
          <a:ln/>
        </p:spPr>
        <p:txBody>
          <a:bodyPr wrap="square" lIns="0" tIns="0" rIns="0" bIns="0" rtlCol="0" anchor="ctr"/>
          <a:lstStyle/>
          <a:p>
            <a:pPr marL="0" indent="0" algn="ctr">
              <a:buNone/>
            </a:pPr>
            <a:r>
              <a:rPr lang="pt-PT" sz="1300" b="1" noProof="0" dirty="0">
                <a:solidFill>
                  <a:srgbClr val="FFFFFF"/>
                </a:solidFill>
                <a:latin typeface="Georgia" pitchFamily="34" charset="0"/>
                <a:ea typeface="Georgia" pitchFamily="34" charset="-122"/>
                <a:cs typeface="Georgia" pitchFamily="34" charset="-120"/>
              </a:rPr>
              <a:t>Qualidade Pragmática</a:t>
            </a:r>
            <a:endParaRPr lang="pt-PT" sz="1300" noProof="0" dirty="0"/>
          </a:p>
        </p:txBody>
      </p:sp>
      <p:sp>
        <p:nvSpPr>
          <p:cNvPr id="7" name="Text 5"/>
          <p:cNvSpPr/>
          <p:nvPr/>
        </p:nvSpPr>
        <p:spPr>
          <a:xfrm>
            <a:off x="1005840" y="2606040"/>
            <a:ext cx="3108960" cy="1828800"/>
          </a:xfrm>
          <a:prstGeom prst="rect">
            <a:avLst/>
          </a:prstGeom>
          <a:noFill/>
          <a:ln/>
        </p:spPr>
        <p:txBody>
          <a:bodyPr wrap="square" lIns="0" tIns="0" rIns="0" bIns="0" rtlCol="0" anchor="ctr"/>
          <a:lstStyle/>
          <a:p>
            <a:pPr marL="342900" indent="-342900">
              <a:spcAft>
                <a:spcPts val="500"/>
              </a:spcAft>
              <a:buSzPct val="100000"/>
              <a:buChar char="•"/>
            </a:pPr>
            <a:r>
              <a:rPr lang="pt-PT" sz="1100" noProof="0" dirty="0">
                <a:solidFill>
                  <a:srgbClr val="3B4252"/>
                </a:solidFill>
                <a:latin typeface="Calibri" pitchFamily="34" charset="0"/>
                <a:ea typeface="Calibri" pitchFamily="34" charset="-122"/>
                <a:cs typeface="Calibri" pitchFamily="34" charset="-120"/>
              </a:rPr>
              <a:t>Eficácia na conclusão de tarefas</a:t>
            </a:r>
            <a:endParaRPr lang="pt-PT" sz="1100" noProof="0" dirty="0"/>
          </a:p>
          <a:p>
            <a:pPr marL="342900" indent="-342900">
              <a:spcAft>
                <a:spcPts val="500"/>
              </a:spcAft>
              <a:buSzPct val="100000"/>
              <a:buChar char="•"/>
            </a:pPr>
            <a:r>
              <a:rPr lang="pt-PT" sz="1100" noProof="0" dirty="0">
                <a:solidFill>
                  <a:srgbClr val="3B4252"/>
                </a:solidFill>
                <a:latin typeface="Calibri" pitchFamily="34" charset="0"/>
                <a:ea typeface="Calibri" pitchFamily="34" charset="-122"/>
                <a:cs typeface="Calibri" pitchFamily="34" charset="-120"/>
              </a:rPr>
              <a:t>Eficiência (tempo e recursos)</a:t>
            </a:r>
            <a:endParaRPr lang="pt-PT" sz="1100" noProof="0" dirty="0"/>
          </a:p>
          <a:p>
            <a:pPr marL="342900" indent="-342900">
              <a:spcAft>
                <a:spcPts val="500"/>
              </a:spcAft>
              <a:buSzPct val="100000"/>
              <a:buChar char="•"/>
            </a:pPr>
            <a:r>
              <a:rPr lang="pt-PT" sz="1100" noProof="0" dirty="0">
                <a:solidFill>
                  <a:srgbClr val="3B4252"/>
                </a:solidFill>
                <a:latin typeface="Calibri" pitchFamily="34" charset="0"/>
                <a:ea typeface="Calibri" pitchFamily="34" charset="-122"/>
                <a:cs typeface="Calibri" pitchFamily="34" charset="-120"/>
              </a:rPr>
              <a:t>Facilidade de aprendizagem</a:t>
            </a:r>
            <a:endParaRPr lang="pt-PT" sz="1100" noProof="0" dirty="0"/>
          </a:p>
          <a:p>
            <a:pPr marL="342900" indent="-342900">
              <a:spcAft>
                <a:spcPts val="500"/>
              </a:spcAft>
              <a:buSzPct val="100000"/>
              <a:buChar char="•"/>
            </a:pPr>
            <a:r>
              <a:rPr lang="pt-PT" sz="1100" noProof="0" dirty="0">
                <a:solidFill>
                  <a:srgbClr val="3B4252"/>
                </a:solidFill>
                <a:latin typeface="Calibri" pitchFamily="34" charset="0"/>
                <a:ea typeface="Calibri" pitchFamily="34" charset="-122"/>
                <a:cs typeface="Calibri" pitchFamily="34" charset="-120"/>
              </a:rPr>
              <a:t>Prevenção de erros</a:t>
            </a:r>
            <a:endParaRPr lang="pt-PT" sz="1100" noProof="0" dirty="0"/>
          </a:p>
          <a:p>
            <a:pPr marL="342900" indent="-342900">
              <a:spcAft>
                <a:spcPts val="500"/>
              </a:spcAft>
              <a:buSzPct val="100000"/>
              <a:buChar char="•"/>
            </a:pPr>
            <a:r>
              <a:rPr lang="pt-PT" sz="1100" noProof="0" dirty="0">
                <a:solidFill>
                  <a:srgbClr val="3B4252"/>
                </a:solidFill>
                <a:latin typeface="Calibri" pitchFamily="34" charset="0"/>
                <a:ea typeface="Calibri" pitchFamily="34" charset="-122"/>
                <a:cs typeface="Calibri" pitchFamily="34" charset="-120"/>
              </a:rPr>
              <a:t>Satisfação funcional</a:t>
            </a:r>
            <a:endParaRPr lang="pt-PT" sz="1100" noProof="0" dirty="0"/>
          </a:p>
        </p:txBody>
      </p:sp>
      <p:sp>
        <p:nvSpPr>
          <p:cNvPr id="8" name="Shape 6"/>
          <p:cNvSpPr/>
          <p:nvPr/>
        </p:nvSpPr>
        <p:spPr>
          <a:xfrm>
            <a:off x="4754880" y="2057400"/>
            <a:ext cx="3657600" cy="260604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9" name="Shape 7"/>
          <p:cNvSpPr/>
          <p:nvPr/>
        </p:nvSpPr>
        <p:spPr>
          <a:xfrm>
            <a:off x="4754880" y="2057400"/>
            <a:ext cx="3657600" cy="411480"/>
          </a:xfrm>
          <a:prstGeom prst="rect">
            <a:avLst/>
          </a:prstGeom>
          <a:solidFill>
            <a:srgbClr val="5B8C7B"/>
          </a:solidFill>
          <a:ln/>
        </p:spPr>
        <p:txBody>
          <a:bodyPr/>
          <a:lstStyle/>
          <a:p>
            <a:endParaRPr lang="pt-PT" noProof="0" dirty="0"/>
          </a:p>
        </p:txBody>
      </p:sp>
      <p:sp>
        <p:nvSpPr>
          <p:cNvPr id="10" name="Text 8"/>
          <p:cNvSpPr/>
          <p:nvPr/>
        </p:nvSpPr>
        <p:spPr>
          <a:xfrm>
            <a:off x="4754880" y="2057400"/>
            <a:ext cx="3657600" cy="411480"/>
          </a:xfrm>
          <a:prstGeom prst="rect">
            <a:avLst/>
          </a:prstGeom>
          <a:noFill/>
          <a:ln/>
        </p:spPr>
        <p:txBody>
          <a:bodyPr wrap="square" lIns="0" tIns="0" rIns="0" bIns="0" rtlCol="0" anchor="ctr"/>
          <a:lstStyle/>
          <a:p>
            <a:pPr marL="0" indent="0" algn="ctr">
              <a:buNone/>
            </a:pPr>
            <a:r>
              <a:rPr lang="pt-PT" sz="1300" b="1" noProof="0" dirty="0">
                <a:solidFill>
                  <a:srgbClr val="FFFFFF"/>
                </a:solidFill>
                <a:latin typeface="Georgia" pitchFamily="34" charset="0"/>
                <a:ea typeface="Georgia" pitchFamily="34" charset="-122"/>
                <a:cs typeface="Georgia" pitchFamily="34" charset="-120"/>
              </a:rPr>
              <a:t>Qualidade Experienciais</a:t>
            </a:r>
            <a:endParaRPr lang="pt-PT" sz="1300" noProof="0" dirty="0"/>
          </a:p>
        </p:txBody>
      </p:sp>
      <p:sp>
        <p:nvSpPr>
          <p:cNvPr id="11" name="Text 9"/>
          <p:cNvSpPr/>
          <p:nvPr/>
        </p:nvSpPr>
        <p:spPr>
          <a:xfrm>
            <a:off x="5029200" y="2606040"/>
            <a:ext cx="3108960" cy="1828800"/>
          </a:xfrm>
          <a:prstGeom prst="rect">
            <a:avLst/>
          </a:prstGeom>
          <a:noFill/>
          <a:ln/>
        </p:spPr>
        <p:txBody>
          <a:bodyPr wrap="square" lIns="0" tIns="0" rIns="0" bIns="0" rtlCol="0" anchor="ctr"/>
          <a:lstStyle/>
          <a:p>
            <a:pPr marL="342900" indent="-342900">
              <a:spcAft>
                <a:spcPts val="500"/>
              </a:spcAft>
              <a:buSzPct val="100000"/>
              <a:buChar char="•"/>
            </a:pPr>
            <a:r>
              <a:rPr lang="pt-PT" sz="1100" noProof="0" dirty="0">
                <a:solidFill>
                  <a:srgbClr val="3B4252"/>
                </a:solidFill>
                <a:latin typeface="Calibri" pitchFamily="34" charset="0"/>
                <a:ea typeface="Calibri" pitchFamily="34" charset="-122"/>
                <a:cs typeface="Calibri" pitchFamily="34" charset="-120"/>
              </a:rPr>
              <a:t>Estímulo e novidade</a:t>
            </a:r>
            <a:endParaRPr lang="pt-PT" sz="1100" noProof="0" dirty="0"/>
          </a:p>
          <a:p>
            <a:pPr marL="342900" indent="-342900">
              <a:spcAft>
                <a:spcPts val="500"/>
              </a:spcAft>
              <a:buSzPct val="100000"/>
              <a:buChar char="•"/>
            </a:pPr>
            <a:r>
              <a:rPr lang="pt-PT" sz="1100" noProof="0" dirty="0">
                <a:solidFill>
                  <a:srgbClr val="3B4252"/>
                </a:solidFill>
                <a:latin typeface="Calibri" pitchFamily="34" charset="0"/>
                <a:ea typeface="Calibri" pitchFamily="34" charset="-122"/>
                <a:cs typeface="Calibri" pitchFamily="34" charset="-120"/>
              </a:rPr>
              <a:t>Identidade e expressão pessoal</a:t>
            </a:r>
            <a:endParaRPr lang="pt-PT" sz="1100" noProof="0" dirty="0"/>
          </a:p>
          <a:p>
            <a:pPr marL="342900" indent="-342900">
              <a:spcAft>
                <a:spcPts val="500"/>
              </a:spcAft>
              <a:buSzPct val="100000"/>
              <a:buChar char="•"/>
            </a:pPr>
            <a:r>
              <a:rPr lang="pt-PT" sz="1100" noProof="0" dirty="0">
                <a:solidFill>
                  <a:srgbClr val="3B4252"/>
                </a:solidFill>
                <a:latin typeface="Calibri" pitchFamily="34" charset="0"/>
                <a:ea typeface="Calibri" pitchFamily="34" charset="-122"/>
                <a:cs typeface="Calibri" pitchFamily="34" charset="-120"/>
              </a:rPr>
              <a:t>Estética e atratividade</a:t>
            </a:r>
            <a:endParaRPr lang="pt-PT" sz="1100" noProof="0" dirty="0"/>
          </a:p>
          <a:p>
            <a:pPr marL="342900" indent="-342900">
              <a:spcAft>
                <a:spcPts val="500"/>
              </a:spcAft>
              <a:buSzPct val="100000"/>
              <a:buChar char="•"/>
            </a:pPr>
            <a:r>
              <a:rPr lang="pt-PT" sz="1100" noProof="0" dirty="0">
                <a:solidFill>
                  <a:srgbClr val="3B4252"/>
                </a:solidFill>
                <a:latin typeface="Calibri" pitchFamily="34" charset="0"/>
                <a:ea typeface="Calibri" pitchFamily="34" charset="-122"/>
                <a:cs typeface="Calibri" pitchFamily="34" charset="-120"/>
              </a:rPr>
              <a:t>Emoções e afeto</a:t>
            </a:r>
            <a:endParaRPr lang="pt-PT" sz="1100" noProof="0" dirty="0"/>
          </a:p>
          <a:p>
            <a:pPr marL="342900" indent="-342900">
              <a:spcAft>
                <a:spcPts val="500"/>
              </a:spcAft>
              <a:buSzPct val="100000"/>
              <a:buChar char="•"/>
            </a:pPr>
            <a:r>
              <a:rPr lang="pt-PT" sz="1100" noProof="0" dirty="0">
                <a:solidFill>
                  <a:srgbClr val="3B4252"/>
                </a:solidFill>
                <a:latin typeface="Calibri" pitchFamily="34" charset="0"/>
                <a:ea typeface="Calibri" pitchFamily="34" charset="-122"/>
                <a:cs typeface="Calibri" pitchFamily="34" charset="-120"/>
              </a:rPr>
              <a:t>Experiência global</a:t>
            </a:r>
            <a:endParaRPr lang="pt-PT" sz="1100"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DCE1EA"/>
        </a:solidFill>
        <a:effectLst/>
      </p:bgPr>
    </p:bg>
    <p:spTree>
      <p:nvGrpSpPr>
        <p:cNvPr id="1" name=""/>
        <p:cNvGrpSpPr/>
        <p:nvPr/>
      </p:nvGrpSpPr>
      <p:grpSpPr>
        <a:xfrm>
          <a:off x="0" y="0"/>
          <a:ext cx="0" cy="0"/>
          <a:chOff x="0" y="0"/>
          <a:chExt cx="0" cy="0"/>
        </a:xfrm>
      </p:grpSpPr>
      <p:sp>
        <p:nvSpPr>
          <p:cNvPr id="2" name="Text 0"/>
          <p:cNvSpPr/>
          <p:nvPr/>
        </p:nvSpPr>
        <p:spPr>
          <a:xfrm>
            <a:off x="731520" y="320040"/>
            <a:ext cx="7315200" cy="640080"/>
          </a:xfrm>
          <a:prstGeom prst="rect">
            <a:avLst/>
          </a:prstGeom>
          <a:noFill/>
          <a:ln/>
        </p:spPr>
        <p:txBody>
          <a:bodyPr wrap="square" lIns="0" tIns="0" rIns="0" bIns="0" rtlCol="0" anchor="ctr"/>
          <a:lstStyle/>
          <a:p>
            <a:pPr marL="0" indent="0">
              <a:buNone/>
            </a:pPr>
            <a:r>
              <a:rPr lang="pt-PT" sz="3200" b="1" noProof="0" dirty="0">
                <a:solidFill>
                  <a:srgbClr val="1E2335"/>
                </a:solidFill>
                <a:latin typeface="Georgia" pitchFamily="34" charset="0"/>
                <a:ea typeface="Georgia" pitchFamily="34" charset="-122"/>
                <a:cs typeface="Georgia" pitchFamily="34" charset="-120"/>
              </a:rPr>
              <a:t>Tipos de Métricas de UX</a:t>
            </a:r>
            <a:endParaRPr lang="pt-PT" sz="3200" noProof="0" dirty="0"/>
          </a:p>
        </p:txBody>
      </p:sp>
      <p:sp>
        <p:nvSpPr>
          <p:cNvPr id="3" name="Text 1"/>
          <p:cNvSpPr/>
          <p:nvPr/>
        </p:nvSpPr>
        <p:spPr>
          <a:xfrm>
            <a:off x="731520" y="1051560"/>
            <a:ext cx="7680960" cy="640080"/>
          </a:xfrm>
          <a:prstGeom prst="rect">
            <a:avLst/>
          </a:prstGeom>
          <a:noFill/>
          <a:ln/>
        </p:spPr>
        <p:txBody>
          <a:bodyPr wrap="square" lIns="0" tIns="0" rIns="0" bIns="0" rtlCol="0" anchor="ctr"/>
          <a:lstStyle/>
          <a:p>
            <a:pPr marL="0" indent="0">
              <a:lnSpc>
                <a:spcPct val="135000"/>
              </a:lnSpc>
              <a:buNone/>
            </a:pPr>
            <a:r>
              <a:rPr lang="pt-PT" sz="1200" noProof="0" dirty="0">
                <a:solidFill>
                  <a:srgbClr val="3B4252"/>
                </a:solidFill>
                <a:latin typeface="Calibri" pitchFamily="34" charset="0"/>
                <a:ea typeface="Calibri" pitchFamily="34" charset="-122"/>
                <a:cs typeface="Calibri" pitchFamily="34" charset="-120"/>
              </a:rPr>
              <a:t>Uma avaliação de UX completa combina diferentes tipos de dados, tais como métricas de desempenho que captam o que o utilizador faz, questionários que captam o que se sente e as análises comportamentais revelam padrões que nenhum das métricas anteriores mostra isoladamente.</a:t>
            </a:r>
            <a:endParaRPr lang="pt-PT" sz="1200" noProof="0" dirty="0"/>
          </a:p>
        </p:txBody>
      </p:sp>
      <p:sp>
        <p:nvSpPr>
          <p:cNvPr id="4" name="Shape 2"/>
          <p:cNvSpPr/>
          <p:nvPr/>
        </p:nvSpPr>
        <p:spPr>
          <a:xfrm>
            <a:off x="731520" y="1920240"/>
            <a:ext cx="3749040" cy="123444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5" name="Shape 3"/>
          <p:cNvSpPr/>
          <p:nvPr/>
        </p:nvSpPr>
        <p:spPr>
          <a:xfrm>
            <a:off x="731520" y="1920240"/>
            <a:ext cx="54864" cy="1234440"/>
          </a:xfrm>
          <a:prstGeom prst="rect">
            <a:avLst/>
          </a:prstGeom>
          <a:solidFill>
            <a:srgbClr val="4B62A0"/>
          </a:solidFill>
          <a:ln/>
        </p:spPr>
        <p:txBody>
          <a:bodyPr/>
          <a:lstStyle/>
          <a:p>
            <a:endParaRPr lang="pt-PT" noProof="0" dirty="0"/>
          </a:p>
        </p:txBody>
      </p:sp>
      <p:sp>
        <p:nvSpPr>
          <p:cNvPr id="6" name="Text 4"/>
          <p:cNvSpPr/>
          <p:nvPr/>
        </p:nvSpPr>
        <p:spPr>
          <a:xfrm>
            <a:off x="960120" y="2011680"/>
            <a:ext cx="1063233" cy="502920"/>
          </a:xfrm>
          <a:prstGeom prst="rect">
            <a:avLst/>
          </a:prstGeom>
          <a:noFill/>
          <a:ln/>
        </p:spPr>
        <p:txBody>
          <a:bodyPr wrap="square" lIns="0" tIns="0" rIns="0" bIns="0" rtlCol="0" anchor="ctr"/>
          <a:lstStyle/>
          <a:p>
            <a:pPr marL="0" indent="0">
              <a:buNone/>
            </a:pPr>
            <a:r>
              <a:rPr lang="pt-PT" sz="1200" b="1" noProof="0" dirty="0">
                <a:solidFill>
                  <a:srgbClr val="1E2335"/>
                </a:solidFill>
                <a:latin typeface="Georgia" pitchFamily="34" charset="0"/>
                <a:ea typeface="Georgia" pitchFamily="34" charset="-122"/>
                <a:cs typeface="Georgia" pitchFamily="34" charset="-120"/>
              </a:rPr>
              <a:t>Métricas de</a:t>
            </a:r>
            <a:endParaRPr lang="pt-PT" sz="1200" noProof="0" dirty="0"/>
          </a:p>
          <a:p>
            <a:pPr marL="0" indent="0">
              <a:buNone/>
            </a:pPr>
            <a:r>
              <a:rPr lang="pt-PT" sz="1200" b="1" noProof="0" dirty="0">
                <a:solidFill>
                  <a:srgbClr val="1E2335"/>
                </a:solidFill>
                <a:latin typeface="Georgia" pitchFamily="34" charset="0"/>
                <a:ea typeface="Georgia" pitchFamily="34" charset="-122"/>
                <a:cs typeface="Georgia" pitchFamily="34" charset="-120"/>
              </a:rPr>
              <a:t>Desempenho</a:t>
            </a:r>
            <a:endParaRPr lang="pt-PT" sz="1200" noProof="0" dirty="0"/>
          </a:p>
        </p:txBody>
      </p:sp>
      <p:sp>
        <p:nvSpPr>
          <p:cNvPr id="7" name="Text 5"/>
          <p:cNvSpPr/>
          <p:nvPr/>
        </p:nvSpPr>
        <p:spPr>
          <a:xfrm>
            <a:off x="960120" y="2514600"/>
            <a:ext cx="3291840" cy="548640"/>
          </a:xfrm>
          <a:prstGeom prst="rect">
            <a:avLst/>
          </a:prstGeom>
          <a:noFill/>
          <a:ln/>
        </p:spPr>
        <p:txBody>
          <a:bodyPr wrap="square" lIns="0" tIns="0" rIns="0" bIns="0" rtlCol="0" anchor="ctr"/>
          <a:lstStyle/>
          <a:p>
            <a:pPr marL="0" indent="0">
              <a:lnSpc>
                <a:spcPct val="120000"/>
              </a:lnSpc>
              <a:buNone/>
            </a:pPr>
            <a:r>
              <a:rPr lang="pt-PT" sz="950" noProof="0" dirty="0">
                <a:solidFill>
                  <a:srgbClr val="5A6378"/>
                </a:solidFill>
                <a:latin typeface="Calibri" pitchFamily="34" charset="0"/>
                <a:ea typeface="Calibri" pitchFamily="34" charset="-122"/>
                <a:cs typeface="Calibri" pitchFamily="34" charset="-120"/>
              </a:rPr>
              <a:t>Taxa de sucesso, tempo em tarefa</a:t>
            </a:r>
            <a:r>
              <a:rPr lang="pt-PT" sz="950" noProof="0" dirty="0"/>
              <a:t> </a:t>
            </a:r>
            <a:r>
              <a:rPr lang="pt-PT" sz="950" noProof="0" dirty="0">
                <a:solidFill>
                  <a:srgbClr val="5A6378"/>
                </a:solidFill>
                <a:latin typeface="Calibri" pitchFamily="34" charset="0"/>
                <a:ea typeface="Calibri" pitchFamily="34" charset="-122"/>
                <a:cs typeface="Calibri" pitchFamily="34" charset="-120"/>
              </a:rPr>
              <a:t>e taxa de erro e dados objetivos</a:t>
            </a:r>
            <a:endParaRPr lang="pt-PT" sz="950" noProof="0" dirty="0"/>
          </a:p>
          <a:p>
            <a:pPr marL="0" indent="0">
              <a:lnSpc>
                <a:spcPct val="120000"/>
              </a:lnSpc>
              <a:buNone/>
            </a:pPr>
            <a:r>
              <a:rPr lang="pt-PT" sz="950" noProof="0" dirty="0">
                <a:solidFill>
                  <a:srgbClr val="5A6378"/>
                </a:solidFill>
                <a:latin typeface="Calibri" pitchFamily="34" charset="0"/>
                <a:ea typeface="Calibri" pitchFamily="34" charset="-122"/>
                <a:cs typeface="Calibri" pitchFamily="34" charset="-120"/>
              </a:rPr>
              <a:t>sobre a interação.</a:t>
            </a:r>
            <a:endParaRPr lang="pt-PT" sz="950" noProof="0" dirty="0"/>
          </a:p>
        </p:txBody>
      </p:sp>
      <p:sp>
        <p:nvSpPr>
          <p:cNvPr id="8" name="Shape 6"/>
          <p:cNvSpPr/>
          <p:nvPr/>
        </p:nvSpPr>
        <p:spPr>
          <a:xfrm>
            <a:off x="4846320" y="1920240"/>
            <a:ext cx="3749040" cy="123444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9" name="Shape 7"/>
          <p:cNvSpPr/>
          <p:nvPr/>
        </p:nvSpPr>
        <p:spPr>
          <a:xfrm>
            <a:off x="4846320" y="1920240"/>
            <a:ext cx="54864" cy="1234440"/>
          </a:xfrm>
          <a:prstGeom prst="rect">
            <a:avLst/>
          </a:prstGeom>
          <a:solidFill>
            <a:srgbClr val="5B8C7B"/>
          </a:solidFill>
          <a:ln/>
        </p:spPr>
        <p:txBody>
          <a:bodyPr/>
          <a:lstStyle/>
          <a:p>
            <a:endParaRPr lang="pt-PT" noProof="0" dirty="0"/>
          </a:p>
        </p:txBody>
      </p:sp>
      <p:sp>
        <p:nvSpPr>
          <p:cNvPr id="10" name="Text 8"/>
          <p:cNvSpPr/>
          <p:nvPr/>
        </p:nvSpPr>
        <p:spPr>
          <a:xfrm>
            <a:off x="5074920" y="2011680"/>
            <a:ext cx="946761" cy="502920"/>
          </a:xfrm>
          <a:prstGeom prst="rect">
            <a:avLst/>
          </a:prstGeom>
          <a:noFill/>
          <a:ln/>
        </p:spPr>
        <p:txBody>
          <a:bodyPr wrap="square" lIns="0" tIns="0" rIns="0" bIns="0" rtlCol="0" anchor="ctr"/>
          <a:lstStyle/>
          <a:p>
            <a:pPr marL="0" indent="0">
              <a:buNone/>
            </a:pPr>
            <a:r>
              <a:rPr lang="pt-PT" sz="1200" b="1" noProof="0" dirty="0">
                <a:solidFill>
                  <a:srgbClr val="1E2335"/>
                </a:solidFill>
                <a:latin typeface="Georgia" pitchFamily="34" charset="0"/>
                <a:ea typeface="Georgia" pitchFamily="34" charset="-122"/>
                <a:cs typeface="Georgia" pitchFamily="34" charset="-120"/>
              </a:rPr>
              <a:t>Métricas de Perceção</a:t>
            </a:r>
            <a:endParaRPr lang="pt-PT" sz="1200" noProof="0" dirty="0"/>
          </a:p>
        </p:txBody>
      </p:sp>
      <p:sp>
        <p:nvSpPr>
          <p:cNvPr id="11" name="Text 9"/>
          <p:cNvSpPr/>
          <p:nvPr/>
        </p:nvSpPr>
        <p:spPr>
          <a:xfrm>
            <a:off x="5074920" y="2514600"/>
            <a:ext cx="3291840" cy="548640"/>
          </a:xfrm>
          <a:prstGeom prst="rect">
            <a:avLst/>
          </a:prstGeom>
          <a:noFill/>
          <a:ln/>
        </p:spPr>
        <p:txBody>
          <a:bodyPr wrap="square" lIns="0" tIns="0" rIns="0" bIns="0" rtlCol="0" anchor="ctr"/>
          <a:lstStyle/>
          <a:p>
            <a:pPr marL="0" indent="0">
              <a:lnSpc>
                <a:spcPct val="120000"/>
              </a:lnSpc>
              <a:buNone/>
            </a:pPr>
            <a:r>
              <a:rPr lang="pt-PT" sz="950" noProof="0" dirty="0">
                <a:solidFill>
                  <a:srgbClr val="5A6378"/>
                </a:solidFill>
                <a:latin typeface="Calibri" pitchFamily="34" charset="0"/>
                <a:ea typeface="Calibri" pitchFamily="34" charset="-122"/>
                <a:cs typeface="Calibri" pitchFamily="34" charset="-120"/>
              </a:rPr>
              <a:t>Questionários padronizados como</a:t>
            </a:r>
            <a:r>
              <a:rPr lang="pt-PT" sz="950" noProof="0" dirty="0"/>
              <a:t> </a:t>
            </a:r>
            <a:r>
              <a:rPr lang="pt-PT" sz="950" noProof="0" dirty="0">
                <a:solidFill>
                  <a:srgbClr val="5A6378"/>
                </a:solidFill>
                <a:latin typeface="Calibri" pitchFamily="34" charset="0"/>
                <a:ea typeface="Calibri" pitchFamily="34" charset="-122"/>
                <a:cs typeface="Calibri" pitchFamily="34" charset="-120"/>
              </a:rPr>
              <a:t>SUS, CSUQ, UEQ e </a:t>
            </a:r>
            <a:r>
              <a:rPr lang="pt-PT" sz="950" noProof="0" dirty="0" err="1">
                <a:solidFill>
                  <a:srgbClr val="5A6378"/>
                </a:solidFill>
                <a:latin typeface="Calibri" pitchFamily="34" charset="0"/>
                <a:ea typeface="Calibri" pitchFamily="34" charset="-122"/>
                <a:cs typeface="Calibri" pitchFamily="34" charset="-120"/>
              </a:rPr>
              <a:t>AttrakDiff</a:t>
            </a:r>
            <a:r>
              <a:rPr lang="pt-PT" sz="950" noProof="0" dirty="0">
                <a:solidFill>
                  <a:srgbClr val="5A6378"/>
                </a:solidFill>
                <a:latin typeface="Calibri" pitchFamily="34" charset="0"/>
                <a:ea typeface="Calibri" pitchFamily="34" charset="-122"/>
                <a:cs typeface="Calibri" pitchFamily="34" charset="-120"/>
              </a:rPr>
              <a:t> para</a:t>
            </a:r>
            <a:r>
              <a:rPr lang="pt-PT" sz="950" noProof="0" dirty="0"/>
              <a:t> </a:t>
            </a:r>
            <a:r>
              <a:rPr lang="pt-PT" sz="950" noProof="0" dirty="0">
                <a:solidFill>
                  <a:srgbClr val="5A6378"/>
                </a:solidFill>
                <a:latin typeface="Calibri" pitchFamily="34" charset="0"/>
                <a:ea typeface="Calibri" pitchFamily="34" charset="-122"/>
                <a:cs typeface="Calibri" pitchFamily="34" charset="-120"/>
              </a:rPr>
              <a:t>medir perceções do utilizador.</a:t>
            </a:r>
            <a:endParaRPr lang="pt-PT" sz="950" noProof="0" dirty="0"/>
          </a:p>
        </p:txBody>
      </p:sp>
      <p:sp>
        <p:nvSpPr>
          <p:cNvPr id="12" name="Shape 10"/>
          <p:cNvSpPr/>
          <p:nvPr/>
        </p:nvSpPr>
        <p:spPr>
          <a:xfrm>
            <a:off x="731520" y="3337560"/>
            <a:ext cx="3749040" cy="123444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13" name="Shape 11"/>
          <p:cNvSpPr/>
          <p:nvPr/>
        </p:nvSpPr>
        <p:spPr>
          <a:xfrm>
            <a:off x="731520" y="3337560"/>
            <a:ext cx="54864" cy="1234440"/>
          </a:xfrm>
          <a:prstGeom prst="rect">
            <a:avLst/>
          </a:prstGeom>
          <a:solidFill>
            <a:srgbClr val="B8863B"/>
          </a:solidFill>
          <a:ln/>
        </p:spPr>
        <p:txBody>
          <a:bodyPr/>
          <a:lstStyle/>
          <a:p>
            <a:endParaRPr lang="pt-PT" noProof="0" dirty="0"/>
          </a:p>
        </p:txBody>
      </p:sp>
      <p:sp>
        <p:nvSpPr>
          <p:cNvPr id="14" name="Text 12"/>
          <p:cNvSpPr/>
          <p:nvPr/>
        </p:nvSpPr>
        <p:spPr>
          <a:xfrm>
            <a:off x="960120" y="3429000"/>
            <a:ext cx="1439369" cy="502920"/>
          </a:xfrm>
          <a:prstGeom prst="rect">
            <a:avLst/>
          </a:prstGeom>
          <a:noFill/>
          <a:ln/>
        </p:spPr>
        <p:txBody>
          <a:bodyPr wrap="square" lIns="0" tIns="0" rIns="0" bIns="0" rtlCol="0" anchor="ctr"/>
          <a:lstStyle/>
          <a:p>
            <a:pPr marL="0" indent="0">
              <a:buNone/>
            </a:pPr>
            <a:r>
              <a:rPr lang="pt-PT" sz="1200" b="1" noProof="0" dirty="0">
                <a:solidFill>
                  <a:srgbClr val="1E2335"/>
                </a:solidFill>
                <a:latin typeface="Georgia" pitchFamily="34" charset="0"/>
                <a:ea typeface="Georgia" pitchFamily="34" charset="-122"/>
                <a:cs typeface="Georgia" pitchFamily="34" charset="-120"/>
              </a:rPr>
              <a:t>Métricas</a:t>
            </a:r>
            <a:endParaRPr lang="pt-PT" sz="1200" noProof="0" dirty="0"/>
          </a:p>
          <a:p>
            <a:pPr marL="0" indent="0">
              <a:buNone/>
            </a:pPr>
            <a:r>
              <a:rPr lang="pt-PT" sz="1200" b="1" noProof="0" dirty="0">
                <a:solidFill>
                  <a:srgbClr val="1E2335"/>
                </a:solidFill>
                <a:latin typeface="Georgia" pitchFamily="34" charset="0"/>
                <a:ea typeface="Georgia" pitchFamily="34" charset="-122"/>
                <a:cs typeface="Georgia" pitchFamily="34" charset="-120"/>
              </a:rPr>
              <a:t>Comportamentais</a:t>
            </a:r>
            <a:endParaRPr lang="pt-PT" sz="1200" noProof="0" dirty="0"/>
          </a:p>
        </p:txBody>
      </p:sp>
      <p:sp>
        <p:nvSpPr>
          <p:cNvPr id="15" name="Text 13"/>
          <p:cNvSpPr/>
          <p:nvPr/>
        </p:nvSpPr>
        <p:spPr>
          <a:xfrm>
            <a:off x="960120" y="3931920"/>
            <a:ext cx="3236976" cy="548640"/>
          </a:xfrm>
          <a:prstGeom prst="rect">
            <a:avLst/>
          </a:prstGeom>
          <a:noFill/>
          <a:ln/>
        </p:spPr>
        <p:txBody>
          <a:bodyPr wrap="square" lIns="0" tIns="0" rIns="0" bIns="0" rtlCol="0" anchor="ctr"/>
          <a:lstStyle/>
          <a:p>
            <a:pPr marL="0" indent="0">
              <a:lnSpc>
                <a:spcPct val="120000"/>
              </a:lnSpc>
              <a:buNone/>
            </a:pPr>
            <a:r>
              <a:rPr lang="pt-PT" sz="950" noProof="0" dirty="0" err="1">
                <a:solidFill>
                  <a:srgbClr val="5A6378"/>
                </a:solidFill>
                <a:latin typeface="Calibri" pitchFamily="34" charset="0"/>
                <a:ea typeface="Calibri" pitchFamily="34" charset="-122"/>
                <a:cs typeface="Calibri" pitchFamily="34" charset="-120"/>
              </a:rPr>
              <a:t>Heatmaps</a:t>
            </a:r>
            <a:r>
              <a:rPr lang="pt-PT" sz="950" noProof="0" dirty="0">
                <a:solidFill>
                  <a:srgbClr val="5A6378"/>
                </a:solidFill>
                <a:latin typeface="Calibri" pitchFamily="34" charset="0"/>
                <a:ea typeface="Calibri" pitchFamily="34" charset="-122"/>
                <a:cs typeface="Calibri" pitchFamily="34" charset="-120"/>
              </a:rPr>
              <a:t>, </a:t>
            </a:r>
            <a:r>
              <a:rPr lang="pt-PT" sz="950" noProof="0" dirty="0" err="1">
                <a:solidFill>
                  <a:srgbClr val="5A6378"/>
                </a:solidFill>
                <a:latin typeface="Calibri" pitchFamily="34" charset="0"/>
                <a:ea typeface="Calibri" pitchFamily="34" charset="-122"/>
                <a:cs typeface="Calibri" pitchFamily="34" charset="-120"/>
              </a:rPr>
              <a:t>Eye</a:t>
            </a:r>
            <a:r>
              <a:rPr lang="pt-PT" sz="950" noProof="0" dirty="0">
                <a:solidFill>
                  <a:srgbClr val="5A6378"/>
                </a:solidFill>
                <a:latin typeface="Calibri" pitchFamily="34" charset="0"/>
                <a:ea typeface="Calibri" pitchFamily="34" charset="-122"/>
                <a:cs typeface="Calibri" pitchFamily="34" charset="-120"/>
              </a:rPr>
              <a:t> </a:t>
            </a:r>
            <a:r>
              <a:rPr lang="pt-PT" sz="950" noProof="0" dirty="0" err="1">
                <a:solidFill>
                  <a:srgbClr val="5A6378"/>
                </a:solidFill>
                <a:latin typeface="Calibri" pitchFamily="34" charset="0"/>
                <a:ea typeface="Calibri" pitchFamily="34" charset="-122"/>
                <a:cs typeface="Calibri" pitchFamily="34" charset="-120"/>
              </a:rPr>
              <a:t>tracking</a:t>
            </a:r>
            <a:r>
              <a:rPr lang="pt-PT" sz="950" noProof="0" dirty="0">
                <a:solidFill>
                  <a:srgbClr val="5A6378"/>
                </a:solidFill>
                <a:latin typeface="Calibri" pitchFamily="34" charset="0"/>
                <a:ea typeface="Calibri" pitchFamily="34" charset="-122"/>
                <a:cs typeface="Calibri" pitchFamily="34" charset="-120"/>
              </a:rPr>
              <a:t>, A/B </a:t>
            </a:r>
            <a:r>
              <a:rPr lang="pt-PT" sz="950" noProof="0" dirty="0" err="1">
                <a:solidFill>
                  <a:srgbClr val="5A6378"/>
                </a:solidFill>
                <a:latin typeface="Calibri" pitchFamily="34" charset="0"/>
                <a:ea typeface="Calibri" pitchFamily="34" charset="-122"/>
                <a:cs typeface="Calibri" pitchFamily="34" charset="-120"/>
              </a:rPr>
              <a:t>testing</a:t>
            </a:r>
            <a:r>
              <a:rPr lang="pt-PT" sz="950" noProof="0" dirty="0"/>
              <a:t> </a:t>
            </a:r>
            <a:r>
              <a:rPr lang="pt-PT" sz="950" noProof="0" dirty="0">
                <a:solidFill>
                  <a:srgbClr val="5A6378"/>
                </a:solidFill>
                <a:latin typeface="Calibri" pitchFamily="34" charset="0"/>
                <a:ea typeface="Calibri" pitchFamily="34" charset="-122"/>
                <a:cs typeface="Calibri" pitchFamily="34" charset="-120"/>
              </a:rPr>
              <a:t>e padrões de navegação para</a:t>
            </a:r>
            <a:endParaRPr lang="pt-PT" sz="950" noProof="0" dirty="0"/>
          </a:p>
          <a:p>
            <a:pPr marL="0" indent="0">
              <a:lnSpc>
                <a:spcPct val="120000"/>
              </a:lnSpc>
              <a:buNone/>
            </a:pPr>
            <a:r>
              <a:rPr lang="pt-PT" sz="950" noProof="0" dirty="0">
                <a:solidFill>
                  <a:srgbClr val="5A6378"/>
                </a:solidFill>
                <a:latin typeface="Calibri" pitchFamily="34" charset="0"/>
                <a:ea typeface="Calibri" pitchFamily="34" charset="-122"/>
                <a:cs typeface="Calibri" pitchFamily="34" charset="-120"/>
              </a:rPr>
              <a:t>observar ações reais.</a:t>
            </a:r>
            <a:endParaRPr lang="pt-PT" sz="950" noProof="0" dirty="0"/>
          </a:p>
        </p:txBody>
      </p:sp>
      <p:sp>
        <p:nvSpPr>
          <p:cNvPr id="16" name="Shape 14"/>
          <p:cNvSpPr/>
          <p:nvPr/>
        </p:nvSpPr>
        <p:spPr>
          <a:xfrm>
            <a:off x="4846320" y="3337560"/>
            <a:ext cx="3749040" cy="123444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17" name="Shape 15"/>
          <p:cNvSpPr/>
          <p:nvPr/>
        </p:nvSpPr>
        <p:spPr>
          <a:xfrm>
            <a:off x="4846320" y="3337560"/>
            <a:ext cx="54864" cy="1234440"/>
          </a:xfrm>
          <a:prstGeom prst="rect">
            <a:avLst/>
          </a:prstGeom>
          <a:solidFill>
            <a:srgbClr val="A05555"/>
          </a:solidFill>
          <a:ln/>
        </p:spPr>
        <p:txBody>
          <a:bodyPr/>
          <a:lstStyle/>
          <a:p>
            <a:endParaRPr lang="pt-PT" noProof="0" dirty="0"/>
          </a:p>
        </p:txBody>
      </p:sp>
      <p:sp>
        <p:nvSpPr>
          <p:cNvPr id="18" name="Text 16"/>
          <p:cNvSpPr/>
          <p:nvPr/>
        </p:nvSpPr>
        <p:spPr>
          <a:xfrm>
            <a:off x="5074920" y="3429000"/>
            <a:ext cx="985671" cy="502920"/>
          </a:xfrm>
          <a:prstGeom prst="rect">
            <a:avLst/>
          </a:prstGeom>
          <a:noFill/>
          <a:ln/>
        </p:spPr>
        <p:txBody>
          <a:bodyPr wrap="square" lIns="0" tIns="0" rIns="0" bIns="0" rtlCol="0" anchor="ctr"/>
          <a:lstStyle/>
          <a:p>
            <a:pPr marL="0" indent="0">
              <a:buNone/>
            </a:pPr>
            <a:r>
              <a:rPr lang="pt-PT" sz="1200" b="1" noProof="0" dirty="0">
                <a:solidFill>
                  <a:srgbClr val="1E2335"/>
                </a:solidFill>
                <a:latin typeface="Georgia" pitchFamily="34" charset="0"/>
                <a:ea typeface="Georgia" pitchFamily="34" charset="-122"/>
                <a:cs typeface="Georgia" pitchFamily="34" charset="-120"/>
              </a:rPr>
              <a:t>Métricas</a:t>
            </a:r>
            <a:endParaRPr lang="pt-PT" sz="1200" noProof="0" dirty="0"/>
          </a:p>
          <a:p>
            <a:pPr marL="0" indent="0">
              <a:buNone/>
            </a:pPr>
            <a:r>
              <a:rPr lang="pt-PT" sz="1200" b="1" noProof="0" dirty="0">
                <a:solidFill>
                  <a:srgbClr val="1E2335"/>
                </a:solidFill>
                <a:latin typeface="Georgia" pitchFamily="34" charset="0"/>
                <a:ea typeface="Georgia" pitchFamily="34" charset="-122"/>
                <a:cs typeface="Georgia" pitchFamily="34" charset="-120"/>
              </a:rPr>
              <a:t>Combinadas</a:t>
            </a:r>
            <a:endParaRPr lang="pt-PT" sz="1200" noProof="0" dirty="0"/>
          </a:p>
        </p:txBody>
      </p:sp>
      <p:sp>
        <p:nvSpPr>
          <p:cNvPr id="19" name="Text 17"/>
          <p:cNvSpPr/>
          <p:nvPr/>
        </p:nvSpPr>
        <p:spPr>
          <a:xfrm>
            <a:off x="5074920" y="3931920"/>
            <a:ext cx="3337560" cy="548640"/>
          </a:xfrm>
          <a:prstGeom prst="rect">
            <a:avLst/>
          </a:prstGeom>
          <a:noFill/>
          <a:ln/>
        </p:spPr>
        <p:txBody>
          <a:bodyPr wrap="square" lIns="0" tIns="0" rIns="0" bIns="0" rtlCol="0" anchor="ctr"/>
          <a:lstStyle/>
          <a:p>
            <a:pPr marL="0" indent="0">
              <a:lnSpc>
                <a:spcPct val="120000"/>
              </a:lnSpc>
              <a:buNone/>
            </a:pPr>
            <a:r>
              <a:rPr lang="pt-PT" sz="950" noProof="0" dirty="0">
                <a:solidFill>
                  <a:srgbClr val="5A6378"/>
                </a:solidFill>
                <a:latin typeface="Calibri" pitchFamily="34" charset="0"/>
                <a:ea typeface="Calibri" pitchFamily="34" charset="-122"/>
                <a:cs typeface="Calibri" pitchFamily="34" charset="-120"/>
              </a:rPr>
              <a:t>Triangulação de métodos para</a:t>
            </a:r>
            <a:r>
              <a:rPr lang="pt-PT" sz="950" noProof="0" dirty="0"/>
              <a:t> </a:t>
            </a:r>
            <a:r>
              <a:rPr lang="pt-PT" sz="950" noProof="0" dirty="0">
                <a:solidFill>
                  <a:srgbClr val="5A6378"/>
                </a:solidFill>
                <a:latin typeface="Calibri" pitchFamily="34" charset="0"/>
                <a:ea typeface="Calibri" pitchFamily="34" charset="-122"/>
                <a:cs typeface="Calibri" pitchFamily="34" charset="-120"/>
              </a:rPr>
              <a:t>garantir fiabilidade e uma visão</a:t>
            </a:r>
            <a:endParaRPr lang="pt-PT" sz="950" noProof="0" dirty="0"/>
          </a:p>
          <a:p>
            <a:pPr marL="0" indent="0">
              <a:lnSpc>
                <a:spcPct val="120000"/>
              </a:lnSpc>
              <a:buNone/>
            </a:pPr>
            <a:r>
              <a:rPr lang="pt-PT" sz="950" noProof="0" dirty="0">
                <a:solidFill>
                  <a:srgbClr val="5A6378"/>
                </a:solidFill>
                <a:latin typeface="Calibri" pitchFamily="34" charset="0"/>
                <a:ea typeface="Calibri" pitchFamily="34" charset="-122"/>
                <a:cs typeface="Calibri" pitchFamily="34" charset="-120"/>
              </a:rPr>
              <a:t>completa da experiência.</a:t>
            </a:r>
            <a:endParaRPr lang="pt-PT" sz="950"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DCE1EA"/>
        </a:solidFill>
        <a:effectLst/>
      </p:bgPr>
    </p:bg>
    <p:spTree>
      <p:nvGrpSpPr>
        <p:cNvPr id="1" name=""/>
        <p:cNvGrpSpPr/>
        <p:nvPr/>
      </p:nvGrpSpPr>
      <p:grpSpPr>
        <a:xfrm>
          <a:off x="0" y="0"/>
          <a:ext cx="0" cy="0"/>
          <a:chOff x="0" y="0"/>
          <a:chExt cx="0" cy="0"/>
        </a:xfrm>
      </p:grpSpPr>
      <p:sp>
        <p:nvSpPr>
          <p:cNvPr id="2" name="Text 0"/>
          <p:cNvSpPr/>
          <p:nvPr/>
        </p:nvSpPr>
        <p:spPr>
          <a:xfrm>
            <a:off x="731520" y="320040"/>
            <a:ext cx="5304921" cy="640080"/>
          </a:xfrm>
          <a:prstGeom prst="rect">
            <a:avLst/>
          </a:prstGeom>
          <a:noFill/>
          <a:ln/>
        </p:spPr>
        <p:txBody>
          <a:bodyPr wrap="square" lIns="0" tIns="0" rIns="0" bIns="0" rtlCol="0" anchor="ctr"/>
          <a:lstStyle/>
          <a:p>
            <a:pPr marL="0" indent="0">
              <a:buNone/>
            </a:pPr>
            <a:r>
              <a:rPr lang="pt-PT" sz="3200" b="1" noProof="0" dirty="0">
                <a:solidFill>
                  <a:srgbClr val="1E2335"/>
                </a:solidFill>
                <a:latin typeface="Georgia" pitchFamily="34" charset="0"/>
                <a:ea typeface="Georgia" pitchFamily="34" charset="-122"/>
                <a:cs typeface="Georgia" pitchFamily="34" charset="-120"/>
              </a:rPr>
              <a:t>Métricas de Desempenho</a:t>
            </a:r>
            <a:endParaRPr lang="pt-PT" sz="3200" noProof="0" dirty="0"/>
          </a:p>
        </p:txBody>
      </p:sp>
      <p:sp>
        <p:nvSpPr>
          <p:cNvPr id="3" name="Text 1"/>
          <p:cNvSpPr/>
          <p:nvPr/>
        </p:nvSpPr>
        <p:spPr>
          <a:xfrm>
            <a:off x="731520" y="1051560"/>
            <a:ext cx="7680960" cy="640080"/>
          </a:xfrm>
          <a:prstGeom prst="rect">
            <a:avLst/>
          </a:prstGeom>
          <a:noFill/>
          <a:ln/>
        </p:spPr>
        <p:txBody>
          <a:bodyPr wrap="square" lIns="0" tIns="0" rIns="0" bIns="0" rtlCol="0" anchor="ctr"/>
          <a:lstStyle/>
          <a:p>
            <a:pPr marL="0" indent="0">
              <a:lnSpc>
                <a:spcPct val="135000"/>
              </a:lnSpc>
              <a:buNone/>
            </a:pPr>
            <a:r>
              <a:rPr lang="pt-PT" sz="1200" noProof="0" dirty="0">
                <a:solidFill>
                  <a:srgbClr val="3B4252"/>
                </a:solidFill>
                <a:latin typeface="Calibri" pitchFamily="34" charset="0"/>
                <a:ea typeface="Calibri" pitchFamily="34" charset="-122"/>
                <a:cs typeface="Calibri" pitchFamily="34" charset="-120"/>
              </a:rPr>
              <a:t>Estas métricas fornecem dados objetivos sobre a interação real do utilizador com o sistema. Uma analise de 73 estudos demonstrou que as três dimensões da usabilidade são fracamente correlacionadas entre si, logo demonstra que estas precisam de ser medidas separadamente.</a:t>
            </a:r>
            <a:endParaRPr lang="pt-PT" sz="1200" noProof="0" dirty="0"/>
          </a:p>
        </p:txBody>
      </p:sp>
      <p:sp>
        <p:nvSpPr>
          <p:cNvPr id="4" name="Shape 2"/>
          <p:cNvSpPr/>
          <p:nvPr/>
        </p:nvSpPr>
        <p:spPr>
          <a:xfrm>
            <a:off x="731520" y="1920240"/>
            <a:ext cx="7680960" cy="82296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5" name="Shape 3"/>
          <p:cNvSpPr/>
          <p:nvPr/>
        </p:nvSpPr>
        <p:spPr>
          <a:xfrm>
            <a:off x="731520" y="1920240"/>
            <a:ext cx="54864" cy="822960"/>
          </a:xfrm>
          <a:prstGeom prst="rect">
            <a:avLst/>
          </a:prstGeom>
          <a:solidFill>
            <a:srgbClr val="4B62A0"/>
          </a:solidFill>
          <a:ln/>
        </p:spPr>
        <p:txBody>
          <a:bodyPr/>
          <a:lstStyle/>
          <a:p>
            <a:endParaRPr lang="pt-PT" noProof="0" dirty="0"/>
          </a:p>
        </p:txBody>
      </p:sp>
      <p:sp>
        <p:nvSpPr>
          <p:cNvPr id="6" name="Text 4"/>
          <p:cNvSpPr/>
          <p:nvPr/>
        </p:nvSpPr>
        <p:spPr>
          <a:xfrm>
            <a:off x="999116" y="1999580"/>
            <a:ext cx="2875981" cy="228600"/>
          </a:xfrm>
          <a:prstGeom prst="rect">
            <a:avLst/>
          </a:prstGeom>
          <a:noFill/>
          <a:ln/>
        </p:spPr>
        <p:txBody>
          <a:bodyPr wrap="square" lIns="0" tIns="0" rIns="0" bIns="0" rtlCol="0" anchor="ctr"/>
          <a:lstStyle/>
          <a:p>
            <a:pPr marL="0" indent="0">
              <a:buNone/>
            </a:pPr>
            <a:r>
              <a:rPr lang="pt-PT" sz="1200" b="1" noProof="0" dirty="0">
                <a:solidFill>
                  <a:srgbClr val="1E2335"/>
                </a:solidFill>
                <a:latin typeface="Georgia" pitchFamily="34" charset="0"/>
                <a:ea typeface="Georgia" pitchFamily="34" charset="-122"/>
                <a:cs typeface="Georgia" pitchFamily="34" charset="-120"/>
              </a:rPr>
              <a:t>Taxa de Sucesso (</a:t>
            </a:r>
            <a:r>
              <a:rPr lang="pt-PT" sz="1200" b="1" noProof="0" dirty="0" err="1">
                <a:solidFill>
                  <a:srgbClr val="1E2335"/>
                </a:solidFill>
                <a:latin typeface="Georgia" pitchFamily="34" charset="0"/>
                <a:ea typeface="Georgia" pitchFamily="34" charset="-122"/>
                <a:cs typeface="Georgia" pitchFamily="34" charset="-120"/>
              </a:rPr>
              <a:t>Task</a:t>
            </a:r>
            <a:r>
              <a:rPr lang="pt-PT" sz="1200" b="1" noProof="0" dirty="0">
                <a:solidFill>
                  <a:srgbClr val="1E2335"/>
                </a:solidFill>
                <a:latin typeface="Georgia" pitchFamily="34" charset="0"/>
                <a:ea typeface="Georgia" pitchFamily="34" charset="-122"/>
                <a:cs typeface="Georgia" pitchFamily="34" charset="-120"/>
              </a:rPr>
              <a:t> </a:t>
            </a:r>
            <a:r>
              <a:rPr lang="pt-PT" sz="1200" b="1" noProof="0" dirty="0" err="1">
                <a:solidFill>
                  <a:srgbClr val="1E2335"/>
                </a:solidFill>
                <a:latin typeface="Georgia" pitchFamily="34" charset="0"/>
                <a:ea typeface="Georgia" pitchFamily="34" charset="-122"/>
                <a:cs typeface="Georgia" pitchFamily="34" charset="-120"/>
              </a:rPr>
              <a:t>Success</a:t>
            </a:r>
            <a:r>
              <a:rPr lang="pt-PT" sz="1200" b="1" noProof="0" dirty="0">
                <a:solidFill>
                  <a:srgbClr val="1E2335"/>
                </a:solidFill>
                <a:latin typeface="Georgia" pitchFamily="34" charset="0"/>
                <a:ea typeface="Georgia" pitchFamily="34" charset="-122"/>
                <a:cs typeface="Georgia" pitchFamily="34" charset="-120"/>
              </a:rPr>
              <a:t> Rate)</a:t>
            </a:r>
            <a:endParaRPr lang="pt-PT" sz="1200" noProof="0" dirty="0"/>
          </a:p>
        </p:txBody>
      </p:sp>
      <p:sp>
        <p:nvSpPr>
          <p:cNvPr id="7" name="Text 5"/>
          <p:cNvSpPr/>
          <p:nvPr/>
        </p:nvSpPr>
        <p:spPr>
          <a:xfrm>
            <a:off x="1005840" y="2240280"/>
            <a:ext cx="7132320" cy="457200"/>
          </a:xfrm>
          <a:prstGeom prst="rect">
            <a:avLst/>
          </a:prstGeom>
          <a:noFill/>
          <a:ln/>
        </p:spPr>
        <p:txBody>
          <a:bodyPr wrap="square" lIns="0" tIns="0" rIns="0" bIns="0" rtlCol="0" anchor="ctr"/>
          <a:lstStyle/>
          <a:p>
            <a:pPr marL="0" indent="0">
              <a:lnSpc>
                <a:spcPct val="120000"/>
              </a:lnSpc>
              <a:buNone/>
            </a:pPr>
            <a:r>
              <a:rPr lang="pt-PT" sz="1000" noProof="0" dirty="0">
                <a:solidFill>
                  <a:srgbClr val="5A6378"/>
                </a:solidFill>
                <a:latin typeface="Calibri" pitchFamily="34" charset="0"/>
                <a:ea typeface="Calibri" pitchFamily="34" charset="-122"/>
                <a:cs typeface="Calibri" pitchFamily="34" charset="-120"/>
              </a:rPr>
              <a:t>Percentagem de tarefas concluídas com êxito. Exemplo: se 8 de 10 utilizadores completam o registo, a taxa é de 80%. Atualmente esta é a métrica mais utilizada em testes de usabilidade.</a:t>
            </a:r>
            <a:endParaRPr lang="pt-PT" sz="1000" noProof="0" dirty="0"/>
          </a:p>
        </p:txBody>
      </p:sp>
      <p:sp>
        <p:nvSpPr>
          <p:cNvPr id="8" name="Shape 6"/>
          <p:cNvSpPr/>
          <p:nvPr/>
        </p:nvSpPr>
        <p:spPr>
          <a:xfrm>
            <a:off x="731520" y="2880360"/>
            <a:ext cx="7680960" cy="82296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9" name="Shape 7"/>
          <p:cNvSpPr/>
          <p:nvPr/>
        </p:nvSpPr>
        <p:spPr>
          <a:xfrm>
            <a:off x="731520" y="2880360"/>
            <a:ext cx="54864" cy="822960"/>
          </a:xfrm>
          <a:prstGeom prst="rect">
            <a:avLst/>
          </a:prstGeom>
          <a:solidFill>
            <a:srgbClr val="5B8C7B"/>
          </a:solidFill>
          <a:ln/>
        </p:spPr>
        <p:txBody>
          <a:bodyPr/>
          <a:lstStyle/>
          <a:p>
            <a:endParaRPr lang="pt-PT" noProof="0" dirty="0"/>
          </a:p>
        </p:txBody>
      </p:sp>
      <p:sp>
        <p:nvSpPr>
          <p:cNvPr id="10" name="Text 8"/>
          <p:cNvSpPr/>
          <p:nvPr/>
        </p:nvSpPr>
        <p:spPr>
          <a:xfrm>
            <a:off x="999116" y="2959700"/>
            <a:ext cx="2634243" cy="228600"/>
          </a:xfrm>
          <a:prstGeom prst="rect">
            <a:avLst/>
          </a:prstGeom>
          <a:noFill/>
          <a:ln/>
        </p:spPr>
        <p:txBody>
          <a:bodyPr wrap="square" lIns="0" tIns="0" rIns="0" bIns="0" rtlCol="0" anchor="ctr"/>
          <a:lstStyle/>
          <a:p>
            <a:pPr marL="0" indent="0">
              <a:buNone/>
            </a:pPr>
            <a:r>
              <a:rPr lang="pt-PT" sz="1200" b="1" noProof="0" dirty="0">
                <a:solidFill>
                  <a:srgbClr val="1E2335"/>
                </a:solidFill>
                <a:latin typeface="Georgia" pitchFamily="34" charset="0"/>
                <a:ea typeface="Georgia" pitchFamily="34" charset="-122"/>
                <a:cs typeface="Georgia" pitchFamily="34" charset="-120"/>
              </a:rPr>
              <a:t>Tempo em Tarefa (Time </a:t>
            </a:r>
            <a:r>
              <a:rPr lang="pt-PT" sz="1200" b="1" noProof="0" dirty="0" err="1">
                <a:solidFill>
                  <a:srgbClr val="1E2335"/>
                </a:solidFill>
                <a:latin typeface="Georgia" pitchFamily="34" charset="0"/>
                <a:ea typeface="Georgia" pitchFamily="34" charset="-122"/>
                <a:cs typeface="Georgia" pitchFamily="34" charset="-120"/>
              </a:rPr>
              <a:t>on</a:t>
            </a:r>
            <a:r>
              <a:rPr lang="pt-PT" sz="1200" b="1" noProof="0" dirty="0">
                <a:solidFill>
                  <a:srgbClr val="1E2335"/>
                </a:solidFill>
                <a:latin typeface="Georgia" pitchFamily="34" charset="0"/>
                <a:ea typeface="Georgia" pitchFamily="34" charset="-122"/>
                <a:cs typeface="Georgia" pitchFamily="34" charset="-120"/>
              </a:rPr>
              <a:t> </a:t>
            </a:r>
            <a:r>
              <a:rPr lang="pt-PT" sz="1200" b="1" noProof="0" dirty="0" err="1">
                <a:solidFill>
                  <a:srgbClr val="1E2335"/>
                </a:solidFill>
                <a:latin typeface="Georgia" pitchFamily="34" charset="0"/>
                <a:ea typeface="Georgia" pitchFamily="34" charset="-122"/>
                <a:cs typeface="Georgia" pitchFamily="34" charset="-120"/>
              </a:rPr>
              <a:t>Task</a:t>
            </a:r>
            <a:r>
              <a:rPr lang="pt-PT" sz="1200" b="1" noProof="0" dirty="0">
                <a:solidFill>
                  <a:srgbClr val="1E2335"/>
                </a:solidFill>
                <a:latin typeface="Georgia" pitchFamily="34" charset="0"/>
                <a:ea typeface="Georgia" pitchFamily="34" charset="-122"/>
                <a:cs typeface="Georgia" pitchFamily="34" charset="-120"/>
              </a:rPr>
              <a:t>)</a:t>
            </a:r>
            <a:endParaRPr lang="pt-PT" sz="1200" noProof="0" dirty="0"/>
          </a:p>
        </p:txBody>
      </p:sp>
      <p:sp>
        <p:nvSpPr>
          <p:cNvPr id="11" name="Text 9"/>
          <p:cNvSpPr/>
          <p:nvPr/>
        </p:nvSpPr>
        <p:spPr>
          <a:xfrm>
            <a:off x="1005840" y="3200400"/>
            <a:ext cx="6834877" cy="457200"/>
          </a:xfrm>
          <a:prstGeom prst="rect">
            <a:avLst/>
          </a:prstGeom>
          <a:noFill/>
          <a:ln/>
        </p:spPr>
        <p:txBody>
          <a:bodyPr wrap="square" lIns="0" tIns="0" rIns="0" bIns="0" rtlCol="0" anchor="ctr"/>
          <a:lstStyle/>
          <a:p>
            <a:pPr marL="0" indent="0">
              <a:lnSpc>
                <a:spcPct val="120000"/>
              </a:lnSpc>
              <a:buNone/>
            </a:pPr>
            <a:r>
              <a:rPr lang="pt-PT" sz="1000" noProof="0" dirty="0">
                <a:solidFill>
                  <a:srgbClr val="5A6378"/>
                </a:solidFill>
                <a:latin typeface="Calibri" pitchFamily="34" charset="0"/>
                <a:ea typeface="Calibri" pitchFamily="34" charset="-122"/>
                <a:cs typeface="Calibri" pitchFamily="34" charset="-120"/>
              </a:rPr>
              <a:t>Tempo necessário para concluir uma tarefa com sucesso. Relaciona-se com a eficiência e permite comparar versões de um produto através de testes A/B.</a:t>
            </a:r>
            <a:endParaRPr lang="pt-PT" sz="1000" noProof="0" dirty="0"/>
          </a:p>
        </p:txBody>
      </p:sp>
      <p:sp>
        <p:nvSpPr>
          <p:cNvPr id="12" name="Shape 10"/>
          <p:cNvSpPr/>
          <p:nvPr/>
        </p:nvSpPr>
        <p:spPr>
          <a:xfrm>
            <a:off x="731520" y="3840480"/>
            <a:ext cx="7680960" cy="82296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13" name="Shape 11"/>
          <p:cNvSpPr/>
          <p:nvPr/>
        </p:nvSpPr>
        <p:spPr>
          <a:xfrm>
            <a:off x="731520" y="3840480"/>
            <a:ext cx="54864" cy="822960"/>
          </a:xfrm>
          <a:prstGeom prst="rect">
            <a:avLst/>
          </a:prstGeom>
          <a:solidFill>
            <a:srgbClr val="B8863B"/>
          </a:solidFill>
          <a:ln/>
        </p:spPr>
        <p:txBody>
          <a:bodyPr/>
          <a:lstStyle/>
          <a:p>
            <a:endParaRPr lang="pt-PT" noProof="0" dirty="0"/>
          </a:p>
        </p:txBody>
      </p:sp>
      <p:sp>
        <p:nvSpPr>
          <p:cNvPr id="14" name="Text 12"/>
          <p:cNvSpPr/>
          <p:nvPr/>
        </p:nvSpPr>
        <p:spPr>
          <a:xfrm>
            <a:off x="999116" y="3913096"/>
            <a:ext cx="2052670" cy="228600"/>
          </a:xfrm>
          <a:prstGeom prst="rect">
            <a:avLst/>
          </a:prstGeom>
          <a:noFill/>
          <a:ln/>
        </p:spPr>
        <p:txBody>
          <a:bodyPr wrap="square" lIns="0" tIns="0" rIns="0" bIns="0" rtlCol="0" anchor="ctr"/>
          <a:lstStyle/>
          <a:p>
            <a:pPr marL="0" indent="0">
              <a:buNone/>
            </a:pPr>
            <a:r>
              <a:rPr lang="pt-PT" sz="1200" b="1" noProof="0" dirty="0">
                <a:solidFill>
                  <a:srgbClr val="1E2335"/>
                </a:solidFill>
                <a:latin typeface="Georgia" pitchFamily="34" charset="0"/>
                <a:ea typeface="Georgia" pitchFamily="34" charset="-122"/>
                <a:cs typeface="Georgia" pitchFamily="34" charset="-120"/>
              </a:rPr>
              <a:t>Taxa de Erro (Error Rate)</a:t>
            </a:r>
            <a:endParaRPr lang="pt-PT" sz="1200" noProof="0" dirty="0"/>
          </a:p>
        </p:txBody>
      </p:sp>
      <p:sp>
        <p:nvSpPr>
          <p:cNvPr id="15" name="Text 13"/>
          <p:cNvSpPr/>
          <p:nvPr/>
        </p:nvSpPr>
        <p:spPr>
          <a:xfrm>
            <a:off x="1005840" y="4160520"/>
            <a:ext cx="7077456" cy="457200"/>
          </a:xfrm>
          <a:prstGeom prst="rect">
            <a:avLst/>
          </a:prstGeom>
          <a:noFill/>
          <a:ln/>
        </p:spPr>
        <p:txBody>
          <a:bodyPr wrap="square" lIns="0" tIns="0" rIns="0" bIns="0" rtlCol="0" anchor="ctr"/>
          <a:lstStyle/>
          <a:p>
            <a:pPr marL="0" indent="0">
              <a:lnSpc>
                <a:spcPct val="120000"/>
              </a:lnSpc>
              <a:buNone/>
            </a:pPr>
            <a:r>
              <a:rPr lang="pt-PT" sz="1000" noProof="0" dirty="0">
                <a:solidFill>
                  <a:srgbClr val="5A6378"/>
                </a:solidFill>
                <a:latin typeface="Calibri" pitchFamily="34" charset="0"/>
                <a:ea typeface="Calibri" pitchFamily="34" charset="-122"/>
                <a:cs typeface="Calibri" pitchFamily="34" charset="-120"/>
              </a:rPr>
              <a:t>Número de erros cometidos durante a execução de uma tarefa. Distinguem-se erros críticos, os tais que impedem a conclusão da tarefa, dos que erros não críticos.</a:t>
            </a:r>
            <a:endParaRPr lang="pt-PT" sz="100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DCE1EA"/>
        </a:solidFill>
        <a:effectLst/>
      </p:bgPr>
    </p:bg>
    <p:spTree>
      <p:nvGrpSpPr>
        <p:cNvPr id="1" name=""/>
        <p:cNvGrpSpPr/>
        <p:nvPr/>
      </p:nvGrpSpPr>
      <p:grpSpPr>
        <a:xfrm>
          <a:off x="0" y="0"/>
          <a:ext cx="0" cy="0"/>
          <a:chOff x="0" y="0"/>
          <a:chExt cx="0" cy="0"/>
        </a:xfrm>
      </p:grpSpPr>
      <p:sp>
        <p:nvSpPr>
          <p:cNvPr id="2" name="Text 0"/>
          <p:cNvSpPr/>
          <p:nvPr/>
        </p:nvSpPr>
        <p:spPr>
          <a:xfrm>
            <a:off x="731520" y="320040"/>
            <a:ext cx="4572000" cy="640080"/>
          </a:xfrm>
          <a:prstGeom prst="rect">
            <a:avLst/>
          </a:prstGeom>
          <a:noFill/>
          <a:ln/>
        </p:spPr>
        <p:txBody>
          <a:bodyPr wrap="square" lIns="0" tIns="0" rIns="0" bIns="0" rtlCol="0" anchor="ctr"/>
          <a:lstStyle/>
          <a:p>
            <a:pPr marL="0" indent="0">
              <a:buNone/>
            </a:pPr>
            <a:r>
              <a:rPr lang="pt-PT" sz="3200" b="1" noProof="0" dirty="0">
                <a:solidFill>
                  <a:srgbClr val="1E2335"/>
                </a:solidFill>
                <a:latin typeface="Georgia" pitchFamily="34" charset="0"/>
                <a:ea typeface="Georgia" pitchFamily="34" charset="-122"/>
                <a:cs typeface="Georgia" pitchFamily="34" charset="-120"/>
              </a:rPr>
              <a:t>Testes de Usabilidade</a:t>
            </a:r>
            <a:endParaRPr lang="pt-PT" sz="3200" noProof="0" dirty="0"/>
          </a:p>
        </p:txBody>
      </p:sp>
      <p:sp>
        <p:nvSpPr>
          <p:cNvPr id="3" name="Text 1"/>
          <p:cNvSpPr/>
          <p:nvPr/>
        </p:nvSpPr>
        <p:spPr>
          <a:xfrm>
            <a:off x="731520" y="1051560"/>
            <a:ext cx="4846320" cy="868680"/>
          </a:xfrm>
          <a:prstGeom prst="rect">
            <a:avLst/>
          </a:prstGeom>
          <a:noFill/>
          <a:ln/>
        </p:spPr>
        <p:txBody>
          <a:bodyPr wrap="square" lIns="0" tIns="0" rIns="0" bIns="0" rtlCol="0" anchor="ctr"/>
          <a:lstStyle/>
          <a:p>
            <a:pPr marL="0" indent="0">
              <a:lnSpc>
                <a:spcPct val="135000"/>
              </a:lnSpc>
              <a:buNone/>
            </a:pPr>
            <a:r>
              <a:rPr lang="pt-PT" sz="1200" noProof="0" dirty="0">
                <a:solidFill>
                  <a:srgbClr val="3B4252"/>
                </a:solidFill>
                <a:latin typeface="Calibri" pitchFamily="34" charset="0"/>
                <a:ea typeface="Calibri" pitchFamily="34" charset="-122"/>
                <a:cs typeface="Calibri" pitchFamily="34" charset="-120"/>
              </a:rPr>
              <a:t>Os testes de usabilidade em pessoas reais com o produto real permite identificar problemas e oportunidades de melhoria. O protocolo </a:t>
            </a:r>
            <a:r>
              <a:rPr lang="pt-PT" sz="1200" noProof="0" dirty="0" err="1">
                <a:solidFill>
                  <a:srgbClr val="3B4252"/>
                </a:solidFill>
                <a:latin typeface="Calibri" pitchFamily="34" charset="0"/>
                <a:ea typeface="Calibri" pitchFamily="34" charset="-122"/>
                <a:cs typeface="Calibri" pitchFamily="34" charset="-120"/>
              </a:rPr>
              <a:t>think-aloud</a:t>
            </a:r>
            <a:r>
              <a:rPr lang="pt-PT" sz="1200" noProof="0" dirty="0">
                <a:solidFill>
                  <a:srgbClr val="3B4252"/>
                </a:solidFill>
                <a:latin typeface="Calibri" pitchFamily="34" charset="0"/>
                <a:ea typeface="Calibri" pitchFamily="34" charset="-122"/>
                <a:cs typeface="Calibri" pitchFamily="34" charset="-120"/>
              </a:rPr>
              <a:t>, em que o utilizador verbaliza os seus pensamentos durante a interação, é uma das técnicas mais eficazes para perceber as dificuldades encontradas.</a:t>
            </a:r>
            <a:endParaRPr lang="pt-PT" sz="1200" noProof="0" dirty="0"/>
          </a:p>
        </p:txBody>
      </p:sp>
      <p:sp>
        <p:nvSpPr>
          <p:cNvPr id="4" name="Text 2"/>
          <p:cNvSpPr/>
          <p:nvPr/>
        </p:nvSpPr>
        <p:spPr>
          <a:xfrm>
            <a:off x="731520" y="2057400"/>
            <a:ext cx="4846320" cy="731520"/>
          </a:xfrm>
          <a:prstGeom prst="rect">
            <a:avLst/>
          </a:prstGeom>
          <a:noFill/>
          <a:ln/>
        </p:spPr>
        <p:txBody>
          <a:bodyPr wrap="square" lIns="0" tIns="0" rIns="0" bIns="0" rtlCol="0" anchor="ctr"/>
          <a:lstStyle/>
          <a:p>
            <a:pPr marL="0" indent="0">
              <a:lnSpc>
                <a:spcPct val="135000"/>
              </a:lnSpc>
              <a:buNone/>
            </a:pPr>
            <a:r>
              <a:rPr lang="pt-PT" sz="1200" noProof="0" dirty="0">
                <a:solidFill>
                  <a:srgbClr val="3B4252"/>
                </a:solidFill>
                <a:latin typeface="Calibri" pitchFamily="34" charset="0"/>
                <a:ea typeface="Calibri" pitchFamily="34" charset="-122"/>
                <a:cs typeface="Calibri" pitchFamily="34" charset="-120"/>
              </a:rPr>
              <a:t>A avaliação heurística, permite ainda identificar problemas de usabilidade através de um conjunto de 10 princípios reconhecidos, sem necessidade de envolver utilizadores finais na fase inicial.</a:t>
            </a:r>
            <a:endParaRPr lang="pt-PT" sz="1200" noProof="0" dirty="0"/>
          </a:p>
        </p:txBody>
      </p:sp>
      <p:sp>
        <p:nvSpPr>
          <p:cNvPr id="5" name="Shape 3"/>
          <p:cNvSpPr/>
          <p:nvPr/>
        </p:nvSpPr>
        <p:spPr>
          <a:xfrm>
            <a:off x="5943600" y="1051560"/>
            <a:ext cx="2834640" cy="530352"/>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6" name="Shape 4"/>
          <p:cNvSpPr/>
          <p:nvPr/>
        </p:nvSpPr>
        <p:spPr>
          <a:xfrm>
            <a:off x="5943600" y="1051560"/>
            <a:ext cx="45720" cy="530352"/>
          </a:xfrm>
          <a:prstGeom prst="rect">
            <a:avLst/>
          </a:prstGeom>
          <a:solidFill>
            <a:srgbClr val="4B62A0"/>
          </a:solidFill>
          <a:ln/>
        </p:spPr>
        <p:txBody>
          <a:bodyPr/>
          <a:lstStyle/>
          <a:p>
            <a:endParaRPr lang="pt-PT" noProof="0" dirty="0"/>
          </a:p>
        </p:txBody>
      </p:sp>
      <p:sp>
        <p:nvSpPr>
          <p:cNvPr id="7" name="Text 5"/>
          <p:cNvSpPr/>
          <p:nvPr/>
        </p:nvSpPr>
        <p:spPr>
          <a:xfrm>
            <a:off x="6126480" y="1069848"/>
            <a:ext cx="144692" cy="457200"/>
          </a:xfrm>
          <a:prstGeom prst="rect">
            <a:avLst/>
          </a:prstGeom>
          <a:noFill/>
          <a:ln/>
        </p:spPr>
        <p:txBody>
          <a:bodyPr wrap="square" lIns="0" tIns="0" rIns="0" bIns="0" rtlCol="0" anchor="ctr"/>
          <a:lstStyle/>
          <a:p>
            <a:pPr marL="0" indent="0">
              <a:buNone/>
            </a:pPr>
            <a:r>
              <a:rPr lang="pt-PT" sz="1700" b="1" noProof="0" dirty="0">
                <a:solidFill>
                  <a:srgbClr val="4B62A0"/>
                </a:solidFill>
                <a:latin typeface="Georgia" pitchFamily="34" charset="0"/>
                <a:ea typeface="Georgia" pitchFamily="34" charset="-122"/>
                <a:cs typeface="Georgia" pitchFamily="34" charset="-120"/>
              </a:rPr>
              <a:t>1</a:t>
            </a:r>
            <a:endParaRPr lang="pt-PT" sz="1700" noProof="0" dirty="0"/>
          </a:p>
        </p:txBody>
      </p:sp>
      <p:sp>
        <p:nvSpPr>
          <p:cNvPr id="8" name="Text 6"/>
          <p:cNvSpPr/>
          <p:nvPr/>
        </p:nvSpPr>
        <p:spPr>
          <a:xfrm>
            <a:off x="6492240" y="1069848"/>
            <a:ext cx="879015" cy="457200"/>
          </a:xfrm>
          <a:prstGeom prst="rect">
            <a:avLst/>
          </a:prstGeom>
          <a:noFill/>
          <a:ln/>
        </p:spPr>
        <p:txBody>
          <a:bodyPr wrap="square" lIns="0" tIns="0" rIns="0" bIns="0" rtlCol="0" anchor="ctr"/>
          <a:lstStyle/>
          <a:p>
            <a:pPr marL="0" indent="0">
              <a:buNone/>
            </a:pPr>
            <a:r>
              <a:rPr lang="pt-PT" sz="1000" noProof="0" dirty="0">
                <a:solidFill>
                  <a:srgbClr val="3B4252"/>
                </a:solidFill>
                <a:latin typeface="Calibri" pitchFamily="34" charset="0"/>
                <a:ea typeface="Calibri" pitchFamily="34" charset="-122"/>
                <a:cs typeface="Calibri" pitchFamily="34" charset="-120"/>
              </a:rPr>
              <a:t>Definir</a:t>
            </a:r>
            <a:r>
              <a:rPr lang="pt-PT" sz="1000" noProof="0" dirty="0"/>
              <a:t> </a:t>
            </a:r>
            <a:r>
              <a:rPr lang="pt-PT" sz="1000" noProof="0" dirty="0">
                <a:solidFill>
                  <a:srgbClr val="3B4252"/>
                </a:solidFill>
                <a:latin typeface="Calibri" pitchFamily="34" charset="0"/>
                <a:cs typeface="Calibri" pitchFamily="34" charset="-120"/>
              </a:rPr>
              <a:t>ob</a:t>
            </a:r>
            <a:r>
              <a:rPr lang="pt-PT" sz="1000" noProof="0" dirty="0">
                <a:solidFill>
                  <a:srgbClr val="3B4252"/>
                </a:solidFill>
                <a:latin typeface="Calibri" pitchFamily="34" charset="0"/>
                <a:ea typeface="Calibri" pitchFamily="34" charset="-122"/>
                <a:cs typeface="Calibri" pitchFamily="34" charset="-120"/>
              </a:rPr>
              <a:t>jetivos</a:t>
            </a:r>
            <a:endParaRPr lang="pt-PT" sz="1000" noProof="0" dirty="0"/>
          </a:p>
        </p:txBody>
      </p:sp>
      <p:sp>
        <p:nvSpPr>
          <p:cNvPr id="9" name="Shape 7"/>
          <p:cNvSpPr/>
          <p:nvPr/>
        </p:nvSpPr>
        <p:spPr>
          <a:xfrm>
            <a:off x="5943600" y="1709928"/>
            <a:ext cx="2834640" cy="530352"/>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10" name="Shape 8"/>
          <p:cNvSpPr/>
          <p:nvPr/>
        </p:nvSpPr>
        <p:spPr>
          <a:xfrm>
            <a:off x="5943600" y="1709928"/>
            <a:ext cx="45720" cy="530352"/>
          </a:xfrm>
          <a:prstGeom prst="rect">
            <a:avLst/>
          </a:prstGeom>
          <a:solidFill>
            <a:srgbClr val="4B62A0"/>
          </a:solidFill>
          <a:ln/>
        </p:spPr>
        <p:txBody>
          <a:bodyPr/>
          <a:lstStyle/>
          <a:p>
            <a:endParaRPr lang="pt-PT" noProof="0" dirty="0"/>
          </a:p>
        </p:txBody>
      </p:sp>
      <p:sp>
        <p:nvSpPr>
          <p:cNvPr id="11" name="Text 9"/>
          <p:cNvSpPr/>
          <p:nvPr/>
        </p:nvSpPr>
        <p:spPr>
          <a:xfrm>
            <a:off x="6126480" y="1728216"/>
            <a:ext cx="144692" cy="457200"/>
          </a:xfrm>
          <a:prstGeom prst="rect">
            <a:avLst/>
          </a:prstGeom>
          <a:noFill/>
          <a:ln/>
        </p:spPr>
        <p:txBody>
          <a:bodyPr wrap="square" lIns="0" tIns="0" rIns="0" bIns="0" rtlCol="0" anchor="ctr"/>
          <a:lstStyle/>
          <a:p>
            <a:pPr marL="0" indent="0">
              <a:buNone/>
            </a:pPr>
            <a:r>
              <a:rPr lang="pt-PT" sz="1700" b="1" noProof="0" dirty="0">
                <a:solidFill>
                  <a:srgbClr val="4B62A0"/>
                </a:solidFill>
                <a:latin typeface="Georgia" pitchFamily="34" charset="0"/>
                <a:ea typeface="Georgia" pitchFamily="34" charset="-122"/>
                <a:cs typeface="Georgia" pitchFamily="34" charset="-120"/>
              </a:rPr>
              <a:t>2</a:t>
            </a:r>
            <a:endParaRPr lang="pt-PT" sz="1700" noProof="0" dirty="0"/>
          </a:p>
        </p:txBody>
      </p:sp>
      <p:sp>
        <p:nvSpPr>
          <p:cNvPr id="12" name="Text 10"/>
          <p:cNvSpPr/>
          <p:nvPr/>
        </p:nvSpPr>
        <p:spPr>
          <a:xfrm>
            <a:off x="6492240" y="1735222"/>
            <a:ext cx="1190822" cy="457200"/>
          </a:xfrm>
          <a:prstGeom prst="rect">
            <a:avLst/>
          </a:prstGeom>
          <a:noFill/>
          <a:ln/>
        </p:spPr>
        <p:txBody>
          <a:bodyPr wrap="square" lIns="0" tIns="0" rIns="0" bIns="0" rtlCol="0" anchor="ctr"/>
          <a:lstStyle/>
          <a:p>
            <a:pPr marL="0" indent="0">
              <a:buNone/>
            </a:pPr>
            <a:r>
              <a:rPr lang="pt-PT" sz="1000" noProof="0" dirty="0">
                <a:solidFill>
                  <a:srgbClr val="3B4252"/>
                </a:solidFill>
                <a:latin typeface="Calibri" pitchFamily="34" charset="0"/>
                <a:ea typeface="Calibri" pitchFamily="34" charset="-122"/>
                <a:cs typeface="Calibri" pitchFamily="34" charset="-120"/>
              </a:rPr>
              <a:t>Recrutar</a:t>
            </a:r>
            <a:r>
              <a:rPr lang="pt-PT" sz="1000" noProof="0" dirty="0"/>
              <a:t> </a:t>
            </a:r>
            <a:r>
              <a:rPr lang="pt-PT" sz="1000" noProof="0" dirty="0">
                <a:solidFill>
                  <a:srgbClr val="3B4252"/>
                </a:solidFill>
                <a:latin typeface="Calibri" pitchFamily="34" charset="0"/>
                <a:ea typeface="Calibri" pitchFamily="34" charset="-122"/>
                <a:cs typeface="Calibri" pitchFamily="34" charset="-120"/>
              </a:rPr>
              <a:t>participantes</a:t>
            </a:r>
            <a:endParaRPr lang="pt-PT" sz="1000" noProof="0" dirty="0"/>
          </a:p>
        </p:txBody>
      </p:sp>
      <p:sp>
        <p:nvSpPr>
          <p:cNvPr id="13" name="Shape 11"/>
          <p:cNvSpPr/>
          <p:nvPr/>
        </p:nvSpPr>
        <p:spPr>
          <a:xfrm>
            <a:off x="5943600" y="2368296"/>
            <a:ext cx="2834640" cy="530352"/>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14" name="Shape 12"/>
          <p:cNvSpPr/>
          <p:nvPr/>
        </p:nvSpPr>
        <p:spPr>
          <a:xfrm>
            <a:off x="5943600" y="2368296"/>
            <a:ext cx="45720" cy="530352"/>
          </a:xfrm>
          <a:prstGeom prst="rect">
            <a:avLst/>
          </a:prstGeom>
          <a:solidFill>
            <a:srgbClr val="4B62A0"/>
          </a:solidFill>
          <a:ln/>
        </p:spPr>
        <p:txBody>
          <a:bodyPr/>
          <a:lstStyle/>
          <a:p>
            <a:endParaRPr lang="pt-PT" noProof="0" dirty="0"/>
          </a:p>
        </p:txBody>
      </p:sp>
      <p:sp>
        <p:nvSpPr>
          <p:cNvPr id="15" name="Text 13"/>
          <p:cNvSpPr/>
          <p:nvPr/>
        </p:nvSpPr>
        <p:spPr>
          <a:xfrm>
            <a:off x="6126480" y="2386584"/>
            <a:ext cx="144692" cy="457200"/>
          </a:xfrm>
          <a:prstGeom prst="rect">
            <a:avLst/>
          </a:prstGeom>
          <a:noFill/>
          <a:ln/>
        </p:spPr>
        <p:txBody>
          <a:bodyPr wrap="square" lIns="0" tIns="0" rIns="0" bIns="0" rtlCol="0" anchor="ctr"/>
          <a:lstStyle/>
          <a:p>
            <a:pPr marL="0" indent="0">
              <a:buNone/>
            </a:pPr>
            <a:r>
              <a:rPr lang="pt-PT" sz="1700" b="1" noProof="0" dirty="0">
                <a:solidFill>
                  <a:srgbClr val="4B62A0"/>
                </a:solidFill>
                <a:latin typeface="Georgia" pitchFamily="34" charset="0"/>
                <a:ea typeface="Georgia" pitchFamily="34" charset="-122"/>
                <a:cs typeface="Georgia" pitchFamily="34" charset="-120"/>
              </a:rPr>
              <a:t>3</a:t>
            </a:r>
            <a:endParaRPr lang="pt-PT" sz="1700" noProof="0" dirty="0"/>
          </a:p>
        </p:txBody>
      </p:sp>
      <p:sp>
        <p:nvSpPr>
          <p:cNvPr id="16" name="Text 14"/>
          <p:cNvSpPr/>
          <p:nvPr/>
        </p:nvSpPr>
        <p:spPr>
          <a:xfrm>
            <a:off x="6492240" y="2397093"/>
            <a:ext cx="745884" cy="457200"/>
          </a:xfrm>
          <a:prstGeom prst="rect">
            <a:avLst/>
          </a:prstGeom>
          <a:noFill/>
          <a:ln/>
        </p:spPr>
        <p:txBody>
          <a:bodyPr wrap="square" lIns="0" tIns="0" rIns="0" bIns="0" rtlCol="0" anchor="ctr"/>
          <a:lstStyle/>
          <a:p>
            <a:pPr marL="0" indent="0">
              <a:buNone/>
            </a:pPr>
            <a:r>
              <a:rPr lang="pt-PT" sz="1000" noProof="0" dirty="0">
                <a:solidFill>
                  <a:srgbClr val="3B4252"/>
                </a:solidFill>
                <a:latin typeface="Calibri" pitchFamily="34" charset="0"/>
                <a:cs typeface="Calibri" pitchFamily="34" charset="-120"/>
              </a:rPr>
              <a:t>Efetuar</a:t>
            </a:r>
            <a:r>
              <a:rPr lang="pt-PT" sz="1000" noProof="0" dirty="0"/>
              <a:t> </a:t>
            </a:r>
            <a:r>
              <a:rPr lang="pt-PT" sz="1000" noProof="0" dirty="0">
                <a:solidFill>
                  <a:srgbClr val="3B4252"/>
                </a:solidFill>
                <a:latin typeface="Calibri" pitchFamily="34" charset="0"/>
                <a:ea typeface="Calibri" pitchFamily="34" charset="-122"/>
                <a:cs typeface="Calibri" pitchFamily="34" charset="-120"/>
              </a:rPr>
              <a:t>testes</a:t>
            </a:r>
            <a:endParaRPr lang="pt-PT" sz="1000" noProof="0" dirty="0"/>
          </a:p>
        </p:txBody>
      </p:sp>
      <p:sp>
        <p:nvSpPr>
          <p:cNvPr id="17" name="Shape 15"/>
          <p:cNvSpPr/>
          <p:nvPr/>
        </p:nvSpPr>
        <p:spPr>
          <a:xfrm>
            <a:off x="5943600" y="3026664"/>
            <a:ext cx="2834640" cy="530352"/>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18" name="Shape 16"/>
          <p:cNvSpPr/>
          <p:nvPr/>
        </p:nvSpPr>
        <p:spPr>
          <a:xfrm>
            <a:off x="5943600" y="3026664"/>
            <a:ext cx="45720" cy="530352"/>
          </a:xfrm>
          <a:prstGeom prst="rect">
            <a:avLst/>
          </a:prstGeom>
          <a:solidFill>
            <a:srgbClr val="4B62A0"/>
          </a:solidFill>
          <a:ln/>
        </p:spPr>
        <p:txBody>
          <a:bodyPr/>
          <a:lstStyle/>
          <a:p>
            <a:endParaRPr lang="pt-PT" noProof="0" dirty="0"/>
          </a:p>
        </p:txBody>
      </p:sp>
      <p:sp>
        <p:nvSpPr>
          <p:cNvPr id="19" name="Text 17"/>
          <p:cNvSpPr/>
          <p:nvPr/>
        </p:nvSpPr>
        <p:spPr>
          <a:xfrm>
            <a:off x="6126481" y="3044952"/>
            <a:ext cx="144692" cy="457200"/>
          </a:xfrm>
          <a:prstGeom prst="rect">
            <a:avLst/>
          </a:prstGeom>
          <a:noFill/>
          <a:ln/>
        </p:spPr>
        <p:txBody>
          <a:bodyPr wrap="square" lIns="0" tIns="0" rIns="0" bIns="0" rtlCol="0" anchor="ctr"/>
          <a:lstStyle/>
          <a:p>
            <a:pPr marL="0" indent="0">
              <a:buNone/>
            </a:pPr>
            <a:r>
              <a:rPr lang="pt-PT" sz="1700" b="1" noProof="0" dirty="0">
                <a:solidFill>
                  <a:srgbClr val="4B62A0"/>
                </a:solidFill>
                <a:latin typeface="Georgia" pitchFamily="34" charset="0"/>
                <a:ea typeface="Georgia" pitchFamily="34" charset="-122"/>
                <a:cs typeface="Georgia" pitchFamily="34" charset="-120"/>
              </a:rPr>
              <a:t>4</a:t>
            </a:r>
            <a:endParaRPr lang="pt-PT" sz="1700" noProof="0" dirty="0"/>
          </a:p>
        </p:txBody>
      </p:sp>
      <p:sp>
        <p:nvSpPr>
          <p:cNvPr id="20" name="Text 18"/>
          <p:cNvSpPr/>
          <p:nvPr/>
        </p:nvSpPr>
        <p:spPr>
          <a:xfrm>
            <a:off x="6492240" y="3062467"/>
            <a:ext cx="994629" cy="457200"/>
          </a:xfrm>
          <a:prstGeom prst="rect">
            <a:avLst/>
          </a:prstGeom>
          <a:noFill/>
          <a:ln/>
        </p:spPr>
        <p:txBody>
          <a:bodyPr wrap="square" lIns="0" tIns="0" rIns="0" bIns="0" rtlCol="0" anchor="ctr"/>
          <a:lstStyle/>
          <a:p>
            <a:pPr marL="0" indent="0">
              <a:buNone/>
            </a:pPr>
            <a:r>
              <a:rPr lang="pt-PT" sz="1000" noProof="0" dirty="0">
                <a:solidFill>
                  <a:srgbClr val="3B4252"/>
                </a:solidFill>
                <a:latin typeface="Calibri" pitchFamily="34" charset="0"/>
                <a:ea typeface="Calibri" pitchFamily="34" charset="-122"/>
                <a:cs typeface="Calibri" pitchFamily="34" charset="-120"/>
              </a:rPr>
              <a:t>Analisar</a:t>
            </a:r>
            <a:r>
              <a:rPr lang="pt-PT" sz="1000" noProof="0" dirty="0"/>
              <a:t> </a:t>
            </a:r>
            <a:r>
              <a:rPr lang="pt-PT" sz="1000" noProof="0" dirty="0">
                <a:solidFill>
                  <a:srgbClr val="3B4252"/>
                </a:solidFill>
                <a:latin typeface="Calibri" pitchFamily="34" charset="0"/>
                <a:ea typeface="Calibri" pitchFamily="34" charset="-122"/>
                <a:cs typeface="Calibri" pitchFamily="34" charset="-120"/>
              </a:rPr>
              <a:t>resultados</a:t>
            </a:r>
            <a:endParaRPr lang="pt-PT" sz="1000" noProof="0" dirty="0"/>
          </a:p>
        </p:txBody>
      </p:sp>
      <p:sp>
        <p:nvSpPr>
          <p:cNvPr id="21" name="Shape 19"/>
          <p:cNvSpPr/>
          <p:nvPr/>
        </p:nvSpPr>
        <p:spPr>
          <a:xfrm>
            <a:off x="5943600" y="3685032"/>
            <a:ext cx="2834640" cy="530352"/>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22" name="Shape 20"/>
          <p:cNvSpPr/>
          <p:nvPr/>
        </p:nvSpPr>
        <p:spPr>
          <a:xfrm>
            <a:off x="5943600" y="3685032"/>
            <a:ext cx="45720" cy="530352"/>
          </a:xfrm>
          <a:prstGeom prst="rect">
            <a:avLst/>
          </a:prstGeom>
          <a:solidFill>
            <a:srgbClr val="4B62A0"/>
          </a:solidFill>
          <a:ln/>
        </p:spPr>
        <p:txBody>
          <a:bodyPr/>
          <a:lstStyle/>
          <a:p>
            <a:endParaRPr lang="pt-PT" noProof="0" dirty="0"/>
          </a:p>
        </p:txBody>
      </p:sp>
      <p:sp>
        <p:nvSpPr>
          <p:cNvPr id="23" name="Text 21"/>
          <p:cNvSpPr/>
          <p:nvPr/>
        </p:nvSpPr>
        <p:spPr>
          <a:xfrm>
            <a:off x="6126480" y="3703320"/>
            <a:ext cx="144692" cy="457200"/>
          </a:xfrm>
          <a:prstGeom prst="rect">
            <a:avLst/>
          </a:prstGeom>
          <a:noFill/>
          <a:ln/>
        </p:spPr>
        <p:txBody>
          <a:bodyPr wrap="square" lIns="0" tIns="0" rIns="0" bIns="0" rtlCol="0" anchor="ctr"/>
          <a:lstStyle/>
          <a:p>
            <a:pPr marL="0" indent="0">
              <a:buNone/>
            </a:pPr>
            <a:r>
              <a:rPr lang="pt-PT" sz="1700" b="1" noProof="0" dirty="0">
                <a:solidFill>
                  <a:srgbClr val="4B62A0"/>
                </a:solidFill>
                <a:latin typeface="Georgia" pitchFamily="34" charset="0"/>
                <a:ea typeface="Georgia" pitchFamily="34" charset="-122"/>
                <a:cs typeface="Georgia" pitchFamily="34" charset="-120"/>
              </a:rPr>
              <a:t>5</a:t>
            </a:r>
            <a:endParaRPr lang="pt-PT" sz="1700" noProof="0" dirty="0"/>
          </a:p>
        </p:txBody>
      </p:sp>
      <p:sp>
        <p:nvSpPr>
          <p:cNvPr id="24" name="Text 22"/>
          <p:cNvSpPr/>
          <p:nvPr/>
        </p:nvSpPr>
        <p:spPr>
          <a:xfrm>
            <a:off x="6492240" y="3710326"/>
            <a:ext cx="320040" cy="457200"/>
          </a:xfrm>
          <a:prstGeom prst="rect">
            <a:avLst/>
          </a:prstGeom>
          <a:noFill/>
          <a:ln/>
        </p:spPr>
        <p:txBody>
          <a:bodyPr wrap="square" lIns="0" tIns="0" rIns="0" bIns="0" rtlCol="0" anchor="ctr"/>
          <a:lstStyle/>
          <a:p>
            <a:pPr marL="0" indent="0">
              <a:buNone/>
            </a:pPr>
            <a:r>
              <a:rPr lang="pt-PT" sz="1000" noProof="0" dirty="0">
                <a:solidFill>
                  <a:srgbClr val="3B4252"/>
                </a:solidFill>
                <a:latin typeface="Calibri" pitchFamily="34" charset="0"/>
                <a:ea typeface="Calibri" pitchFamily="34" charset="-122"/>
                <a:cs typeface="Calibri" pitchFamily="34" charset="-120"/>
              </a:rPr>
              <a:t>Iterar</a:t>
            </a:r>
            <a:endParaRPr lang="pt-PT" sz="1000" noProof="0" dirty="0"/>
          </a:p>
        </p:txBody>
      </p:sp>
      <p:sp>
        <p:nvSpPr>
          <p:cNvPr id="25" name="Shape 23"/>
          <p:cNvSpPr/>
          <p:nvPr/>
        </p:nvSpPr>
        <p:spPr>
          <a:xfrm>
            <a:off x="731520" y="2926080"/>
            <a:ext cx="4846320" cy="137160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26" name="Shape 24"/>
          <p:cNvSpPr/>
          <p:nvPr/>
        </p:nvSpPr>
        <p:spPr>
          <a:xfrm>
            <a:off x="731520" y="2926080"/>
            <a:ext cx="54864" cy="1371600"/>
          </a:xfrm>
          <a:prstGeom prst="rect">
            <a:avLst/>
          </a:prstGeom>
          <a:solidFill>
            <a:srgbClr val="5B8C7B"/>
          </a:solidFill>
          <a:ln/>
        </p:spPr>
        <p:txBody>
          <a:bodyPr/>
          <a:lstStyle/>
          <a:p>
            <a:endParaRPr lang="pt-PT" noProof="0" dirty="0"/>
          </a:p>
        </p:txBody>
      </p:sp>
      <p:sp>
        <p:nvSpPr>
          <p:cNvPr id="27" name="Text 25"/>
          <p:cNvSpPr/>
          <p:nvPr/>
        </p:nvSpPr>
        <p:spPr>
          <a:xfrm>
            <a:off x="1005840" y="3006830"/>
            <a:ext cx="4389120" cy="228600"/>
          </a:xfrm>
          <a:prstGeom prst="rect">
            <a:avLst/>
          </a:prstGeom>
          <a:noFill/>
          <a:ln/>
        </p:spPr>
        <p:txBody>
          <a:bodyPr wrap="square" lIns="0" tIns="0" rIns="0" bIns="0" rtlCol="0" anchor="ctr"/>
          <a:lstStyle/>
          <a:p>
            <a:pPr marL="0" indent="0">
              <a:buNone/>
            </a:pPr>
            <a:r>
              <a:rPr lang="pt-PT" sz="1100" b="1" noProof="0" dirty="0">
                <a:solidFill>
                  <a:srgbClr val="1E2335"/>
                </a:solidFill>
                <a:latin typeface="Georgia" pitchFamily="34" charset="0"/>
                <a:ea typeface="Georgia" pitchFamily="34" charset="-122"/>
                <a:cs typeface="Georgia" pitchFamily="34" charset="-120"/>
              </a:rPr>
              <a:t>Métodos principais</a:t>
            </a:r>
            <a:endParaRPr lang="pt-PT" sz="1100" noProof="0" dirty="0"/>
          </a:p>
        </p:txBody>
      </p:sp>
      <p:sp>
        <p:nvSpPr>
          <p:cNvPr id="28" name="Text 26"/>
          <p:cNvSpPr/>
          <p:nvPr/>
        </p:nvSpPr>
        <p:spPr>
          <a:xfrm>
            <a:off x="1005840" y="3246120"/>
            <a:ext cx="4297680" cy="914400"/>
          </a:xfrm>
          <a:prstGeom prst="rect">
            <a:avLst/>
          </a:prstGeom>
          <a:noFill/>
          <a:ln/>
        </p:spPr>
        <p:txBody>
          <a:bodyPr wrap="square" lIns="0" tIns="0" rIns="0" bIns="0" rtlCol="0" anchor="ctr"/>
          <a:lstStyle/>
          <a:p>
            <a:pPr marL="342900" indent="-342900">
              <a:spcAft>
                <a:spcPts val="300"/>
              </a:spcAft>
              <a:buSzPct val="100000"/>
              <a:buChar char="•"/>
            </a:pPr>
            <a:r>
              <a:rPr lang="pt-PT" sz="1000" noProof="0" dirty="0" err="1">
                <a:solidFill>
                  <a:srgbClr val="5A6378"/>
                </a:solidFill>
                <a:latin typeface="Calibri" pitchFamily="34" charset="0"/>
                <a:ea typeface="Calibri" pitchFamily="34" charset="-122"/>
                <a:cs typeface="Calibri" pitchFamily="34" charset="-120"/>
              </a:rPr>
              <a:t>Think-Aloud</a:t>
            </a:r>
            <a:r>
              <a:rPr lang="pt-PT" sz="1000" noProof="0" dirty="0">
                <a:solidFill>
                  <a:srgbClr val="5A6378"/>
                </a:solidFill>
                <a:latin typeface="Calibri" pitchFamily="34" charset="0"/>
                <a:ea typeface="Calibri" pitchFamily="34" charset="-122"/>
                <a:cs typeface="Calibri" pitchFamily="34" charset="-120"/>
              </a:rPr>
              <a:t> </a:t>
            </a:r>
            <a:r>
              <a:rPr lang="pt-PT" sz="1000" noProof="0" dirty="0" err="1">
                <a:solidFill>
                  <a:srgbClr val="5A6378"/>
                </a:solidFill>
                <a:latin typeface="Calibri" pitchFamily="34" charset="0"/>
                <a:ea typeface="Calibri" pitchFamily="34" charset="-122"/>
                <a:cs typeface="Calibri" pitchFamily="34" charset="-120"/>
              </a:rPr>
              <a:t>Protocol</a:t>
            </a:r>
            <a:r>
              <a:rPr lang="pt-PT" sz="1000" noProof="0" dirty="0">
                <a:solidFill>
                  <a:srgbClr val="5A6378"/>
                </a:solidFill>
                <a:latin typeface="Calibri" pitchFamily="34" charset="0"/>
                <a:ea typeface="Calibri" pitchFamily="34" charset="-122"/>
                <a:cs typeface="Calibri" pitchFamily="34" charset="-120"/>
              </a:rPr>
              <a:t> – Permite a verbalização do pensamento</a:t>
            </a:r>
            <a:endParaRPr lang="pt-PT" sz="1000" noProof="0" dirty="0"/>
          </a:p>
          <a:p>
            <a:pPr marL="342900" indent="-342900">
              <a:spcAft>
                <a:spcPts val="300"/>
              </a:spcAft>
              <a:buSzPct val="100000"/>
              <a:buChar char="•"/>
            </a:pPr>
            <a:r>
              <a:rPr lang="pt-PT" sz="1000" noProof="0" dirty="0">
                <a:solidFill>
                  <a:srgbClr val="5A6378"/>
                </a:solidFill>
                <a:latin typeface="Calibri" pitchFamily="34" charset="0"/>
                <a:ea typeface="Calibri" pitchFamily="34" charset="-122"/>
                <a:cs typeface="Calibri" pitchFamily="34" charset="-120"/>
              </a:rPr>
              <a:t>Testes moderados e não moderados (presenciais ou remotos)</a:t>
            </a:r>
            <a:endParaRPr lang="pt-PT" sz="1000" noProof="0" dirty="0"/>
          </a:p>
          <a:p>
            <a:pPr marL="342900" indent="-342900">
              <a:spcAft>
                <a:spcPts val="300"/>
              </a:spcAft>
              <a:buSzPct val="100000"/>
              <a:buChar char="•"/>
            </a:pPr>
            <a:r>
              <a:rPr lang="pt-PT" sz="1000" noProof="0" dirty="0">
                <a:solidFill>
                  <a:srgbClr val="5A6378"/>
                </a:solidFill>
                <a:latin typeface="Calibri" pitchFamily="34" charset="0"/>
                <a:ea typeface="Calibri" pitchFamily="34" charset="-122"/>
                <a:cs typeface="Calibri" pitchFamily="34" charset="-120"/>
              </a:rPr>
              <a:t>Avaliação heurística com os 10 princípios de Nielsen</a:t>
            </a:r>
            <a:endParaRPr lang="pt-PT" sz="1000" noProof="0" dirty="0"/>
          </a:p>
          <a:p>
            <a:pPr marL="342900" indent="-342900">
              <a:spcAft>
                <a:spcPts val="300"/>
              </a:spcAft>
              <a:buSzPct val="100000"/>
              <a:buChar char="•"/>
            </a:pPr>
            <a:r>
              <a:rPr lang="pt-PT" sz="1000" noProof="0" dirty="0">
                <a:solidFill>
                  <a:srgbClr val="5A6378"/>
                </a:solidFill>
                <a:latin typeface="Calibri" pitchFamily="34" charset="0"/>
                <a:ea typeface="Calibri" pitchFamily="34" charset="-122"/>
                <a:cs typeface="Calibri" pitchFamily="34" charset="-120"/>
              </a:rPr>
              <a:t>Testes sumativos (métricas) e formativos (descoberta)</a:t>
            </a:r>
            <a:endParaRPr lang="pt-PT" sz="1000"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DCE1EA"/>
        </a:solidFill>
        <a:effectLst/>
      </p:bgPr>
    </p:bg>
    <p:spTree>
      <p:nvGrpSpPr>
        <p:cNvPr id="1" name=""/>
        <p:cNvGrpSpPr/>
        <p:nvPr/>
      </p:nvGrpSpPr>
      <p:grpSpPr>
        <a:xfrm>
          <a:off x="0" y="0"/>
          <a:ext cx="0" cy="0"/>
          <a:chOff x="0" y="0"/>
          <a:chExt cx="0" cy="0"/>
        </a:xfrm>
      </p:grpSpPr>
      <p:sp>
        <p:nvSpPr>
          <p:cNvPr id="2" name="Text 0"/>
          <p:cNvSpPr/>
          <p:nvPr/>
        </p:nvSpPr>
        <p:spPr>
          <a:xfrm>
            <a:off x="731520" y="320040"/>
            <a:ext cx="6019625" cy="640080"/>
          </a:xfrm>
          <a:prstGeom prst="rect">
            <a:avLst/>
          </a:prstGeom>
          <a:noFill/>
          <a:ln/>
        </p:spPr>
        <p:txBody>
          <a:bodyPr wrap="square" lIns="0" tIns="0" rIns="0" bIns="0" rtlCol="0" anchor="ctr"/>
          <a:lstStyle/>
          <a:p>
            <a:pPr marL="0" indent="0">
              <a:buNone/>
            </a:pPr>
            <a:r>
              <a:rPr lang="pt-PT" sz="3200" b="1" noProof="0" dirty="0">
                <a:solidFill>
                  <a:srgbClr val="1E2335"/>
                </a:solidFill>
                <a:latin typeface="Georgia" pitchFamily="34" charset="0"/>
                <a:ea typeface="Georgia" pitchFamily="34" charset="-122"/>
                <a:cs typeface="Georgia" pitchFamily="34" charset="-120"/>
              </a:rPr>
              <a:t>Questionários Padronizados</a:t>
            </a:r>
            <a:endParaRPr lang="pt-PT" sz="3200" noProof="0" dirty="0"/>
          </a:p>
        </p:txBody>
      </p:sp>
      <p:sp>
        <p:nvSpPr>
          <p:cNvPr id="4" name="Shape 1"/>
          <p:cNvSpPr/>
          <p:nvPr/>
        </p:nvSpPr>
        <p:spPr>
          <a:xfrm>
            <a:off x="731520" y="3740468"/>
            <a:ext cx="7680960" cy="96012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grpSp>
        <p:nvGrpSpPr>
          <p:cNvPr id="8" name="Group 7">
            <a:extLst>
              <a:ext uri="{FF2B5EF4-FFF2-40B4-BE49-F238E27FC236}">
                <a16:creationId xmlns:a16="http://schemas.microsoft.com/office/drawing/2014/main" id="{700B4E4E-7722-0DAA-2986-DA332324DC6D}"/>
              </a:ext>
            </a:extLst>
          </p:cNvPr>
          <p:cNvGrpSpPr/>
          <p:nvPr/>
        </p:nvGrpSpPr>
        <p:grpSpPr>
          <a:xfrm>
            <a:off x="731520" y="3740472"/>
            <a:ext cx="7276624" cy="960120"/>
            <a:chOff x="731520" y="3611880"/>
            <a:chExt cx="7276624" cy="960120"/>
          </a:xfrm>
        </p:grpSpPr>
        <p:sp>
          <p:nvSpPr>
            <p:cNvPr id="5" name="Shape 2"/>
            <p:cNvSpPr/>
            <p:nvPr/>
          </p:nvSpPr>
          <p:spPr>
            <a:xfrm>
              <a:off x="731520" y="3611880"/>
              <a:ext cx="54864" cy="960120"/>
            </a:xfrm>
            <a:prstGeom prst="rect">
              <a:avLst/>
            </a:prstGeom>
            <a:solidFill>
              <a:srgbClr val="4B62A0"/>
            </a:solidFill>
            <a:ln/>
          </p:spPr>
          <p:txBody>
            <a:bodyPr/>
            <a:lstStyle/>
            <a:p>
              <a:endParaRPr lang="pt-PT" noProof="0" dirty="0"/>
            </a:p>
          </p:txBody>
        </p:sp>
        <p:sp>
          <p:nvSpPr>
            <p:cNvPr id="6" name="Text 3"/>
            <p:cNvSpPr/>
            <p:nvPr/>
          </p:nvSpPr>
          <p:spPr>
            <a:xfrm>
              <a:off x="1005840" y="3707608"/>
              <a:ext cx="1134110" cy="201168"/>
            </a:xfrm>
            <a:prstGeom prst="rect">
              <a:avLst/>
            </a:prstGeom>
            <a:noFill/>
            <a:ln/>
          </p:spPr>
          <p:txBody>
            <a:bodyPr wrap="square" lIns="0" tIns="0" rIns="0" bIns="0" rtlCol="0" anchor="ctr"/>
            <a:lstStyle/>
            <a:p>
              <a:pPr marL="0" indent="0">
                <a:buNone/>
              </a:pPr>
              <a:r>
                <a:rPr lang="pt-PT" sz="1100" b="1" noProof="0" dirty="0">
                  <a:solidFill>
                    <a:srgbClr val="1E2335"/>
                  </a:solidFill>
                  <a:latin typeface="Georgia" pitchFamily="34" charset="0"/>
                  <a:ea typeface="Georgia" pitchFamily="34" charset="-122"/>
                  <a:cs typeface="Georgia" pitchFamily="34" charset="-120"/>
                </a:rPr>
                <a:t>Analise do SUS</a:t>
              </a:r>
              <a:endParaRPr lang="pt-PT" sz="1100" noProof="0" dirty="0"/>
            </a:p>
          </p:txBody>
        </p:sp>
        <p:sp>
          <p:nvSpPr>
            <p:cNvPr id="7" name="Text 4"/>
            <p:cNvSpPr/>
            <p:nvPr/>
          </p:nvSpPr>
          <p:spPr>
            <a:xfrm>
              <a:off x="1005840" y="3871912"/>
              <a:ext cx="7002304" cy="548640"/>
            </a:xfrm>
            <a:prstGeom prst="rect">
              <a:avLst/>
            </a:prstGeom>
            <a:noFill/>
            <a:ln/>
          </p:spPr>
          <p:txBody>
            <a:bodyPr wrap="square" lIns="0" tIns="0" rIns="0" bIns="0" rtlCol="0" anchor="ctr"/>
            <a:lstStyle/>
            <a:p>
              <a:pPr marL="0" indent="0">
                <a:lnSpc>
                  <a:spcPct val="125000"/>
                </a:lnSpc>
                <a:buNone/>
              </a:pPr>
              <a:r>
                <a:rPr lang="pt-PT" sz="1000" noProof="0" dirty="0">
                  <a:solidFill>
                    <a:srgbClr val="5A6378"/>
                  </a:solidFill>
                  <a:latin typeface="Calibri" pitchFamily="34" charset="0"/>
                  <a:ea typeface="Calibri" pitchFamily="34" charset="-122"/>
                  <a:cs typeface="Calibri" pitchFamily="34" charset="-120"/>
                </a:rPr>
                <a:t>Com apenas 10 itens, o SUS é o questionário de usabilidade mais utilizado no mundo. Uma validação com mais de 2.300 inquéritos em 206 estudos estabeleceu uma pontuação média de referência de 68. No entanto valores acima de 80 indicam boa usabilidade.</a:t>
              </a:r>
              <a:endParaRPr lang="pt-PT" sz="1000" noProof="0" dirty="0"/>
            </a:p>
          </p:txBody>
        </p:sp>
      </p:grpSp>
      <p:graphicFrame>
        <p:nvGraphicFramePr>
          <p:cNvPr id="3" name="Table 0">
            <a:extLst>
              <a:ext uri="{FF2B5EF4-FFF2-40B4-BE49-F238E27FC236}">
                <a16:creationId xmlns:a16="http://schemas.microsoft.com/office/drawing/2014/main" id="{6A43CDC1-395A-1555-7151-A9AD9FE51FFE}"/>
              </a:ext>
            </a:extLst>
          </p:cNvPr>
          <p:cNvGraphicFramePr>
            <a:graphicFrameLocks noGrp="1"/>
          </p:cNvGraphicFramePr>
          <p:nvPr>
            <p:extLst>
              <p:ext uri="{D42A27DB-BD31-4B8C-83A1-F6EECF244321}">
                <p14:modId xmlns:p14="http://schemas.microsoft.com/office/powerpoint/2010/main" val="3961087790"/>
              </p:ext>
            </p:extLst>
          </p:nvPr>
        </p:nvGraphicFramePr>
        <p:xfrm>
          <a:off x="731520" y="1048788"/>
          <a:ext cx="7680960" cy="2485015"/>
        </p:xfrm>
        <a:graphic>
          <a:graphicData uri="http://schemas.openxmlformats.org/drawingml/2006/table">
            <a:tbl>
              <a:tblPr/>
              <a:tblGrid>
                <a:gridCol w="2388198">
                  <a:extLst>
                    <a:ext uri="{9D8B030D-6E8A-4147-A177-3AD203B41FA5}">
                      <a16:colId xmlns:a16="http://schemas.microsoft.com/office/drawing/2014/main" val="20000"/>
                    </a:ext>
                  </a:extLst>
                </a:gridCol>
                <a:gridCol w="1687606">
                  <a:extLst>
                    <a:ext uri="{9D8B030D-6E8A-4147-A177-3AD203B41FA5}">
                      <a16:colId xmlns:a16="http://schemas.microsoft.com/office/drawing/2014/main" val="20001"/>
                    </a:ext>
                  </a:extLst>
                </a:gridCol>
                <a:gridCol w="3605156">
                  <a:extLst>
                    <a:ext uri="{9D8B030D-6E8A-4147-A177-3AD203B41FA5}">
                      <a16:colId xmlns:a16="http://schemas.microsoft.com/office/drawing/2014/main" val="20002"/>
                    </a:ext>
                  </a:extLst>
                </a:gridCol>
              </a:tblGrid>
              <a:tr h="305848">
                <a:tc>
                  <a:txBody>
                    <a:bodyPr/>
                    <a:lstStyle/>
                    <a:p>
                      <a:pPr marL="0" indent="0" algn="ctr">
                        <a:buNone/>
                      </a:pPr>
                      <a:r>
                        <a:rPr lang="pt-PT" sz="1000" b="1" noProof="0" dirty="0">
                          <a:solidFill>
                            <a:srgbClr val="FFFFFF"/>
                          </a:solidFill>
                          <a:latin typeface="Georgia" pitchFamily="34" charset="0"/>
                          <a:ea typeface="Georgia" pitchFamily="34" charset="-122"/>
                          <a:cs typeface="Georgia" pitchFamily="34" charset="-120"/>
                        </a:rPr>
                        <a:t>Questionário</a:t>
                      </a:r>
                      <a:endParaRPr lang="pt-PT" sz="1000" noProof="0" dirty="0">
                        <a:latin typeface="Georgia" charset="0"/>
                        <a:ea typeface="Georgia" charset="0"/>
                        <a:cs typeface="Georgia" charset="0"/>
                      </a:endParaRPr>
                    </a:p>
                  </a:txBody>
                  <a:tcPr anchor="ctr">
                    <a:lnL w="6350" cap="flat" cmpd="sng" algn="ctr">
                      <a:solidFill>
                        <a:srgbClr val="CDD1DB"/>
                      </a:solidFill>
                      <a:prstDash val="solid"/>
                      <a:round/>
                      <a:headEnd type="none" w="med" len="med"/>
                      <a:tailEnd type="none" w="med" len="med"/>
                    </a:lnL>
                    <a:lnR w="6350" cap="flat" cmpd="sng" algn="ctr">
                      <a:solidFill>
                        <a:srgbClr val="CDD1DB"/>
                      </a:solidFill>
                      <a:prstDash val="solid"/>
                      <a:round/>
                      <a:headEnd type="none" w="med" len="med"/>
                      <a:tailEnd type="none" w="med" len="med"/>
                    </a:lnR>
                    <a:lnT w="6350" cap="flat" cmpd="sng" algn="ctr">
                      <a:solidFill>
                        <a:srgbClr val="CDD1DB"/>
                      </a:solidFill>
                      <a:prstDash val="solid"/>
                      <a:round/>
                      <a:headEnd type="none" w="med" len="med"/>
                      <a:tailEnd type="none" w="med" len="med"/>
                    </a:lnT>
                    <a:lnB w="6350" cap="flat" cmpd="sng" algn="ctr">
                      <a:solidFill>
                        <a:srgbClr val="CDD1DB"/>
                      </a:solidFill>
                      <a:prstDash val="solid"/>
                      <a:round/>
                      <a:headEnd type="none" w="med" len="med"/>
                      <a:tailEnd type="none" w="med" len="med"/>
                    </a:lnB>
                    <a:solidFill>
                      <a:srgbClr val="1E2335"/>
                    </a:solidFill>
                  </a:tcPr>
                </a:tc>
                <a:tc>
                  <a:txBody>
                    <a:bodyPr/>
                    <a:lstStyle/>
                    <a:p>
                      <a:pPr marL="0" indent="0" algn="ctr">
                        <a:buNone/>
                      </a:pPr>
                      <a:r>
                        <a:rPr lang="pt-PT" sz="1000" b="1" noProof="0" dirty="0">
                          <a:solidFill>
                            <a:srgbClr val="FFFFFF"/>
                          </a:solidFill>
                          <a:latin typeface="Georgia" pitchFamily="34" charset="0"/>
                          <a:ea typeface="Georgia" pitchFamily="34" charset="-122"/>
                          <a:cs typeface="Georgia" pitchFamily="34" charset="-120"/>
                        </a:rPr>
                        <a:t>N.º de Perguntas</a:t>
                      </a:r>
                      <a:endParaRPr lang="pt-PT" sz="1000" noProof="0" dirty="0">
                        <a:latin typeface="Georgia" charset="0"/>
                        <a:ea typeface="Georgia" charset="0"/>
                        <a:cs typeface="Georgia" charset="0"/>
                      </a:endParaRPr>
                    </a:p>
                  </a:txBody>
                  <a:tcPr anchor="ctr">
                    <a:lnL w="6350" cap="flat" cmpd="sng" algn="ctr">
                      <a:solidFill>
                        <a:srgbClr val="CDD1DB"/>
                      </a:solidFill>
                      <a:prstDash val="solid"/>
                      <a:round/>
                      <a:headEnd type="none" w="med" len="med"/>
                      <a:tailEnd type="none" w="med" len="med"/>
                    </a:lnL>
                    <a:lnR w="6350" cap="flat" cmpd="sng" algn="ctr">
                      <a:solidFill>
                        <a:srgbClr val="CDD1DB"/>
                      </a:solidFill>
                      <a:prstDash val="solid"/>
                      <a:round/>
                      <a:headEnd type="none" w="med" len="med"/>
                      <a:tailEnd type="none" w="med" len="med"/>
                    </a:lnR>
                    <a:lnT w="6350" cap="flat" cmpd="sng" algn="ctr">
                      <a:solidFill>
                        <a:srgbClr val="CDD1DB"/>
                      </a:solidFill>
                      <a:prstDash val="solid"/>
                      <a:round/>
                      <a:headEnd type="none" w="med" len="med"/>
                      <a:tailEnd type="none" w="med" len="med"/>
                    </a:lnT>
                    <a:lnB w="6350" cap="flat" cmpd="sng" algn="ctr">
                      <a:solidFill>
                        <a:srgbClr val="CDD1DB"/>
                      </a:solidFill>
                      <a:prstDash val="solid"/>
                      <a:round/>
                      <a:headEnd type="none" w="med" len="med"/>
                      <a:tailEnd type="none" w="med" len="med"/>
                    </a:lnB>
                    <a:solidFill>
                      <a:srgbClr val="1E2335"/>
                    </a:solidFill>
                  </a:tcPr>
                </a:tc>
                <a:tc>
                  <a:txBody>
                    <a:bodyPr/>
                    <a:lstStyle/>
                    <a:p>
                      <a:pPr marL="0" indent="0" algn="ctr">
                        <a:buNone/>
                      </a:pPr>
                      <a:r>
                        <a:rPr lang="pt-PT" sz="1000" b="1" noProof="0" dirty="0">
                          <a:solidFill>
                            <a:srgbClr val="FFFFFF"/>
                          </a:solidFill>
                          <a:latin typeface="Georgia" pitchFamily="34" charset="0"/>
                          <a:ea typeface="Georgia" charset="0"/>
                          <a:cs typeface="Georgia" charset="0"/>
                        </a:rPr>
                        <a:t>Pontos utilizados nos Questionários</a:t>
                      </a:r>
                      <a:endParaRPr lang="pt-PT" sz="1000" noProof="0" dirty="0">
                        <a:latin typeface="Georgia" charset="0"/>
                        <a:ea typeface="Georgia" charset="0"/>
                        <a:cs typeface="Georgia" charset="0"/>
                      </a:endParaRPr>
                    </a:p>
                  </a:txBody>
                  <a:tcPr anchor="ctr">
                    <a:lnL w="6350" cap="flat" cmpd="sng" algn="ctr">
                      <a:solidFill>
                        <a:srgbClr val="CDD1DB"/>
                      </a:solidFill>
                      <a:prstDash val="solid"/>
                      <a:round/>
                      <a:headEnd type="none" w="med" len="med"/>
                      <a:tailEnd type="none" w="med" len="med"/>
                    </a:lnL>
                    <a:lnR w="6350" cap="flat" cmpd="sng" algn="ctr">
                      <a:solidFill>
                        <a:srgbClr val="CDD1DB"/>
                      </a:solidFill>
                      <a:prstDash val="solid"/>
                      <a:round/>
                      <a:headEnd type="none" w="med" len="med"/>
                      <a:tailEnd type="none" w="med" len="med"/>
                    </a:lnR>
                    <a:lnT w="6350" cap="flat" cmpd="sng" algn="ctr">
                      <a:solidFill>
                        <a:srgbClr val="CDD1DB"/>
                      </a:solidFill>
                      <a:prstDash val="solid"/>
                      <a:round/>
                      <a:headEnd type="none" w="med" len="med"/>
                      <a:tailEnd type="none" w="med" len="med"/>
                    </a:lnT>
                    <a:lnB w="6350" cap="flat" cmpd="sng" algn="ctr">
                      <a:solidFill>
                        <a:srgbClr val="CDD1DB"/>
                      </a:solidFill>
                      <a:prstDash val="solid"/>
                      <a:round/>
                      <a:headEnd type="none" w="med" len="med"/>
                      <a:tailEnd type="none" w="med" len="med"/>
                    </a:lnB>
                    <a:solidFill>
                      <a:srgbClr val="1E2335"/>
                    </a:solidFill>
                  </a:tcPr>
                </a:tc>
                <a:extLst>
                  <a:ext uri="{0D108BD9-81ED-4DB2-BD59-A6C34878D82A}">
                    <a16:rowId xmlns:a16="http://schemas.microsoft.com/office/drawing/2014/main" val="10000"/>
                  </a:ext>
                </a:extLst>
              </a:tr>
              <a:tr h="344079">
                <a:tc>
                  <a:txBody>
                    <a:bodyPr/>
                    <a:lstStyle/>
                    <a:p>
                      <a:pPr marL="0" indent="0" algn="ctr">
                        <a:buNone/>
                      </a:pPr>
                      <a:r>
                        <a:rPr lang="pt-PT" sz="950" b="1" noProof="0" dirty="0">
                          <a:solidFill>
                            <a:srgbClr val="3B4252"/>
                          </a:solidFill>
                          <a:latin typeface="Calibri" pitchFamily="34" charset="0"/>
                          <a:ea typeface="Calibri" pitchFamily="34" charset="-122"/>
                          <a:cs typeface="Calibri" pitchFamily="34" charset="-120"/>
                        </a:rPr>
                        <a:t>SUS</a:t>
                      </a:r>
                      <a:endParaRPr lang="pt-PT" sz="950" noProof="0" dirty="0">
                        <a:latin typeface="Calibri" charset="0"/>
                        <a:ea typeface="Calibri" charset="0"/>
                        <a:cs typeface="Calibri" charset="0"/>
                      </a:endParaRPr>
                    </a:p>
                  </a:txBody>
                  <a:tcPr anchor="ctr">
                    <a:lnL w="6350" cap="flat" cmpd="sng" algn="ctr">
                      <a:solidFill>
                        <a:srgbClr val="CDD1DB"/>
                      </a:solidFill>
                      <a:prstDash val="solid"/>
                      <a:round/>
                      <a:headEnd type="none" w="med" len="med"/>
                      <a:tailEnd type="none" w="med" len="med"/>
                    </a:lnL>
                    <a:lnR w="6350" cap="flat" cmpd="sng" algn="ctr">
                      <a:solidFill>
                        <a:srgbClr val="CDD1DB"/>
                      </a:solidFill>
                      <a:prstDash val="solid"/>
                      <a:round/>
                      <a:headEnd type="none" w="med" len="med"/>
                      <a:tailEnd type="none" w="med" len="med"/>
                    </a:lnR>
                    <a:lnT w="6350" cap="flat" cmpd="sng" algn="ctr">
                      <a:solidFill>
                        <a:srgbClr val="CDD1DB"/>
                      </a:solidFill>
                      <a:prstDash val="solid"/>
                      <a:round/>
                      <a:headEnd type="none" w="med" len="med"/>
                      <a:tailEnd type="none" w="med" len="med"/>
                    </a:lnT>
                    <a:lnB w="6350" cap="flat" cmpd="sng" algn="ctr">
                      <a:solidFill>
                        <a:srgbClr val="CDD1DB"/>
                      </a:solidFill>
                      <a:prstDash val="solid"/>
                      <a:round/>
                      <a:headEnd type="none" w="med" len="med"/>
                      <a:tailEnd type="none" w="med" len="med"/>
                    </a:lnB>
                    <a:solidFill>
                      <a:srgbClr val="E8EBF0"/>
                    </a:solidFill>
                  </a:tcPr>
                </a:tc>
                <a:tc>
                  <a:txBody>
                    <a:bodyPr/>
                    <a:lstStyle/>
                    <a:p>
                      <a:pPr marL="0" indent="0" algn="ctr">
                        <a:buNone/>
                      </a:pPr>
                      <a:r>
                        <a:rPr lang="pt-PT" sz="950" noProof="0" dirty="0">
                          <a:solidFill>
                            <a:srgbClr val="3B4252"/>
                          </a:solidFill>
                          <a:latin typeface="Calibri" pitchFamily="34" charset="0"/>
                          <a:ea typeface="Calibri" pitchFamily="34" charset="-122"/>
                          <a:cs typeface="Calibri" pitchFamily="34" charset="-120"/>
                        </a:rPr>
                        <a:t>10</a:t>
                      </a:r>
                      <a:endParaRPr lang="pt-PT" sz="950" noProof="0" dirty="0">
                        <a:latin typeface="Calibri" charset="0"/>
                        <a:ea typeface="Calibri" charset="0"/>
                        <a:cs typeface="Calibri" charset="0"/>
                      </a:endParaRPr>
                    </a:p>
                  </a:txBody>
                  <a:tcPr anchor="ctr">
                    <a:lnL w="6350" cap="flat" cmpd="sng" algn="ctr">
                      <a:solidFill>
                        <a:srgbClr val="CDD1DB"/>
                      </a:solidFill>
                      <a:prstDash val="solid"/>
                      <a:round/>
                      <a:headEnd type="none" w="med" len="med"/>
                      <a:tailEnd type="none" w="med" len="med"/>
                    </a:lnL>
                    <a:lnR w="6350" cap="flat" cmpd="sng" algn="ctr">
                      <a:solidFill>
                        <a:srgbClr val="CDD1DB"/>
                      </a:solidFill>
                      <a:prstDash val="solid"/>
                      <a:round/>
                      <a:headEnd type="none" w="med" len="med"/>
                      <a:tailEnd type="none" w="med" len="med"/>
                    </a:lnR>
                    <a:lnT w="6350" cap="flat" cmpd="sng" algn="ctr">
                      <a:solidFill>
                        <a:srgbClr val="CDD1DB"/>
                      </a:solidFill>
                      <a:prstDash val="solid"/>
                      <a:round/>
                      <a:headEnd type="none" w="med" len="med"/>
                      <a:tailEnd type="none" w="med" len="med"/>
                    </a:lnT>
                    <a:lnB w="6350" cap="flat" cmpd="sng" algn="ctr">
                      <a:solidFill>
                        <a:srgbClr val="CDD1DB"/>
                      </a:solidFill>
                      <a:prstDash val="solid"/>
                      <a:round/>
                      <a:headEnd type="none" w="med" len="med"/>
                      <a:tailEnd type="none" w="med" len="med"/>
                    </a:lnB>
                    <a:solidFill>
                      <a:srgbClr val="E8EBF0"/>
                    </a:solidFill>
                  </a:tcPr>
                </a:tc>
                <a:tc>
                  <a:txBody>
                    <a:bodyPr/>
                    <a:lstStyle/>
                    <a:p>
                      <a:pPr marL="0" indent="0" algn="ctr">
                        <a:buNone/>
                      </a:pPr>
                      <a:r>
                        <a:rPr lang="pt-PT" sz="950" noProof="0" dirty="0">
                          <a:solidFill>
                            <a:srgbClr val="3B4252"/>
                          </a:solidFill>
                          <a:latin typeface="Calibri" pitchFamily="34" charset="0"/>
                          <a:ea typeface="Calibri" pitchFamily="34" charset="-122"/>
                          <a:cs typeface="Calibri" pitchFamily="34" charset="-120"/>
                        </a:rPr>
                        <a:t>Usabilidade global (pontuação de 0 a 100)</a:t>
                      </a:r>
                      <a:endParaRPr lang="pt-PT" sz="950" noProof="0" dirty="0">
                        <a:latin typeface="Calibri" charset="0"/>
                        <a:ea typeface="Calibri" charset="0"/>
                        <a:cs typeface="Calibri" charset="0"/>
                      </a:endParaRPr>
                    </a:p>
                  </a:txBody>
                  <a:tcPr anchor="ctr">
                    <a:lnL w="6350" cap="flat" cmpd="sng" algn="ctr">
                      <a:solidFill>
                        <a:srgbClr val="CDD1DB"/>
                      </a:solidFill>
                      <a:prstDash val="solid"/>
                      <a:round/>
                      <a:headEnd type="none" w="med" len="med"/>
                      <a:tailEnd type="none" w="med" len="med"/>
                    </a:lnL>
                    <a:lnR w="6350" cap="flat" cmpd="sng" algn="ctr">
                      <a:solidFill>
                        <a:srgbClr val="CDD1DB"/>
                      </a:solidFill>
                      <a:prstDash val="solid"/>
                      <a:round/>
                      <a:headEnd type="none" w="med" len="med"/>
                      <a:tailEnd type="none" w="med" len="med"/>
                    </a:lnR>
                    <a:lnT w="6350" cap="flat" cmpd="sng" algn="ctr">
                      <a:solidFill>
                        <a:srgbClr val="CDD1DB"/>
                      </a:solidFill>
                      <a:prstDash val="solid"/>
                      <a:round/>
                      <a:headEnd type="none" w="med" len="med"/>
                      <a:tailEnd type="none" w="med" len="med"/>
                    </a:lnT>
                    <a:lnB w="6350" cap="flat" cmpd="sng" algn="ctr">
                      <a:solidFill>
                        <a:srgbClr val="CDD1DB"/>
                      </a:solidFill>
                      <a:prstDash val="solid"/>
                      <a:round/>
                      <a:headEnd type="none" w="med" len="med"/>
                      <a:tailEnd type="none" w="med" len="med"/>
                    </a:lnB>
                    <a:solidFill>
                      <a:srgbClr val="E8EBF0"/>
                    </a:solidFill>
                  </a:tcPr>
                </a:tc>
                <a:extLst>
                  <a:ext uri="{0D108BD9-81ED-4DB2-BD59-A6C34878D82A}">
                    <a16:rowId xmlns:a16="http://schemas.microsoft.com/office/drawing/2014/main" val="10001"/>
                  </a:ext>
                </a:extLst>
              </a:tr>
              <a:tr h="458772">
                <a:tc>
                  <a:txBody>
                    <a:bodyPr/>
                    <a:lstStyle/>
                    <a:p>
                      <a:pPr marL="0" indent="0" algn="ctr">
                        <a:buNone/>
                      </a:pPr>
                      <a:r>
                        <a:rPr lang="pt-PT" sz="950" b="1" noProof="0" dirty="0">
                          <a:solidFill>
                            <a:srgbClr val="3B4252"/>
                          </a:solidFill>
                          <a:latin typeface="Calibri" pitchFamily="34" charset="0"/>
                          <a:ea typeface="Calibri" pitchFamily="34" charset="-122"/>
                          <a:cs typeface="Calibri" pitchFamily="34" charset="-120"/>
                        </a:rPr>
                        <a:t>PSSUQ / CSUQ</a:t>
                      </a:r>
                      <a:endParaRPr lang="pt-PT" sz="950" noProof="0" dirty="0">
                        <a:latin typeface="Calibri" charset="0"/>
                        <a:ea typeface="Calibri" charset="0"/>
                        <a:cs typeface="Calibri" charset="0"/>
                      </a:endParaRPr>
                    </a:p>
                  </a:txBody>
                  <a:tcPr anchor="ctr">
                    <a:lnL w="6350" cap="flat" cmpd="sng" algn="ctr">
                      <a:solidFill>
                        <a:srgbClr val="CDD1DB"/>
                      </a:solidFill>
                      <a:prstDash val="solid"/>
                      <a:round/>
                      <a:headEnd type="none" w="med" len="med"/>
                      <a:tailEnd type="none" w="med" len="med"/>
                    </a:lnL>
                    <a:lnR w="6350" cap="flat" cmpd="sng" algn="ctr">
                      <a:solidFill>
                        <a:srgbClr val="CDD1DB"/>
                      </a:solidFill>
                      <a:prstDash val="solid"/>
                      <a:round/>
                      <a:headEnd type="none" w="med" len="med"/>
                      <a:tailEnd type="none" w="med" len="med"/>
                    </a:lnR>
                    <a:lnT w="6350" cap="flat" cmpd="sng" algn="ctr">
                      <a:solidFill>
                        <a:srgbClr val="CDD1DB"/>
                      </a:solidFill>
                      <a:prstDash val="solid"/>
                      <a:round/>
                      <a:headEnd type="none" w="med" len="med"/>
                      <a:tailEnd type="none" w="med" len="med"/>
                    </a:lnT>
                    <a:lnB w="6350" cap="flat" cmpd="sng" algn="ctr">
                      <a:solidFill>
                        <a:srgbClr val="CDD1DB"/>
                      </a:solidFill>
                      <a:prstDash val="solid"/>
                      <a:round/>
                      <a:headEnd type="none" w="med" len="med"/>
                      <a:tailEnd type="none" w="med" len="med"/>
                    </a:lnB>
                    <a:solidFill>
                      <a:srgbClr val="FFFFFF"/>
                    </a:solidFill>
                  </a:tcPr>
                </a:tc>
                <a:tc>
                  <a:txBody>
                    <a:bodyPr/>
                    <a:lstStyle/>
                    <a:p>
                      <a:pPr marL="0" indent="0" algn="ctr">
                        <a:buNone/>
                      </a:pPr>
                      <a:r>
                        <a:rPr lang="pt-PT" sz="950" noProof="0" dirty="0">
                          <a:solidFill>
                            <a:srgbClr val="3B4252"/>
                          </a:solidFill>
                          <a:latin typeface="Calibri" pitchFamily="34" charset="0"/>
                          <a:ea typeface="Calibri" pitchFamily="34" charset="-122"/>
                          <a:cs typeface="Calibri" pitchFamily="34" charset="-120"/>
                        </a:rPr>
                        <a:t>16–19</a:t>
                      </a:r>
                      <a:endParaRPr lang="pt-PT" sz="950" noProof="0" dirty="0">
                        <a:latin typeface="Calibri" charset="0"/>
                        <a:ea typeface="Calibri" charset="0"/>
                        <a:cs typeface="Calibri" charset="0"/>
                      </a:endParaRPr>
                    </a:p>
                  </a:txBody>
                  <a:tcPr anchor="ctr">
                    <a:lnL w="6350" cap="flat" cmpd="sng" algn="ctr">
                      <a:solidFill>
                        <a:srgbClr val="CDD1DB"/>
                      </a:solidFill>
                      <a:prstDash val="solid"/>
                      <a:round/>
                      <a:headEnd type="none" w="med" len="med"/>
                      <a:tailEnd type="none" w="med" len="med"/>
                    </a:lnL>
                    <a:lnR w="6350" cap="flat" cmpd="sng" algn="ctr">
                      <a:solidFill>
                        <a:srgbClr val="CDD1DB"/>
                      </a:solidFill>
                      <a:prstDash val="solid"/>
                      <a:round/>
                      <a:headEnd type="none" w="med" len="med"/>
                      <a:tailEnd type="none" w="med" len="med"/>
                    </a:lnR>
                    <a:lnT w="6350" cap="flat" cmpd="sng" algn="ctr">
                      <a:solidFill>
                        <a:srgbClr val="CDD1DB"/>
                      </a:solidFill>
                      <a:prstDash val="solid"/>
                      <a:round/>
                      <a:headEnd type="none" w="med" len="med"/>
                      <a:tailEnd type="none" w="med" len="med"/>
                    </a:lnT>
                    <a:lnB w="6350" cap="flat" cmpd="sng" algn="ctr">
                      <a:solidFill>
                        <a:srgbClr val="CDD1DB"/>
                      </a:solidFill>
                      <a:prstDash val="solid"/>
                      <a:round/>
                      <a:headEnd type="none" w="med" len="med"/>
                      <a:tailEnd type="none" w="med" len="med"/>
                    </a:lnB>
                    <a:solidFill>
                      <a:srgbClr val="FFFFFF"/>
                    </a:solidFill>
                  </a:tcPr>
                </a:tc>
                <a:tc>
                  <a:txBody>
                    <a:bodyPr/>
                    <a:lstStyle/>
                    <a:p>
                      <a:pPr marL="0" indent="0" algn="ctr">
                        <a:buNone/>
                      </a:pPr>
                      <a:r>
                        <a:rPr lang="pt-PT" sz="950" noProof="0" dirty="0">
                          <a:solidFill>
                            <a:srgbClr val="3B4252"/>
                          </a:solidFill>
                          <a:latin typeface="Calibri" pitchFamily="34" charset="0"/>
                          <a:ea typeface="Calibri" pitchFamily="34" charset="-122"/>
                          <a:cs typeface="Calibri" pitchFamily="34" charset="-120"/>
                        </a:rPr>
                        <a:t>Utilidade do sistema, qualidade da informação</a:t>
                      </a:r>
                      <a:endParaRPr lang="pt-PT" sz="950" noProof="0" dirty="0">
                        <a:latin typeface="Calibri" charset="0"/>
                        <a:ea typeface="Calibri" charset="0"/>
                        <a:cs typeface="Calibri" charset="0"/>
                      </a:endParaRPr>
                    </a:p>
                    <a:p>
                      <a:pPr marL="0" indent="0" algn="ctr">
                        <a:buNone/>
                      </a:pPr>
                      <a:r>
                        <a:rPr lang="pt-PT" sz="950" noProof="0" dirty="0">
                          <a:solidFill>
                            <a:srgbClr val="3B4252"/>
                          </a:solidFill>
                          <a:latin typeface="Calibri" pitchFamily="34" charset="0"/>
                          <a:ea typeface="Calibri" pitchFamily="34" charset="-122"/>
                          <a:cs typeface="Calibri" pitchFamily="34" charset="-120"/>
                        </a:rPr>
                        <a:t>e qualidade da interface</a:t>
                      </a:r>
                      <a:endParaRPr lang="pt-PT" sz="950" noProof="0" dirty="0">
                        <a:latin typeface="Calibri" charset="0"/>
                        <a:ea typeface="Calibri" charset="0"/>
                        <a:cs typeface="Calibri" charset="0"/>
                      </a:endParaRPr>
                    </a:p>
                  </a:txBody>
                  <a:tcPr anchor="ctr">
                    <a:lnL w="6350" cap="flat" cmpd="sng" algn="ctr">
                      <a:solidFill>
                        <a:srgbClr val="CDD1DB"/>
                      </a:solidFill>
                      <a:prstDash val="solid"/>
                      <a:round/>
                      <a:headEnd type="none" w="med" len="med"/>
                      <a:tailEnd type="none" w="med" len="med"/>
                    </a:lnL>
                    <a:lnR w="6350" cap="flat" cmpd="sng" algn="ctr">
                      <a:solidFill>
                        <a:srgbClr val="CDD1DB"/>
                      </a:solidFill>
                      <a:prstDash val="solid"/>
                      <a:round/>
                      <a:headEnd type="none" w="med" len="med"/>
                      <a:tailEnd type="none" w="med" len="med"/>
                    </a:lnR>
                    <a:lnT w="6350" cap="flat" cmpd="sng" algn="ctr">
                      <a:solidFill>
                        <a:srgbClr val="CDD1DB"/>
                      </a:solidFill>
                      <a:prstDash val="solid"/>
                      <a:round/>
                      <a:headEnd type="none" w="med" len="med"/>
                      <a:tailEnd type="none" w="med" len="med"/>
                    </a:lnT>
                    <a:lnB w="6350" cap="flat" cmpd="sng" algn="ctr">
                      <a:solidFill>
                        <a:srgbClr val="CDD1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8772">
                <a:tc>
                  <a:txBody>
                    <a:bodyPr/>
                    <a:lstStyle/>
                    <a:p>
                      <a:pPr marL="0" indent="0" algn="ctr">
                        <a:buNone/>
                      </a:pPr>
                      <a:r>
                        <a:rPr lang="pt-PT" sz="950" b="1" noProof="0" dirty="0">
                          <a:solidFill>
                            <a:srgbClr val="3B4252"/>
                          </a:solidFill>
                          <a:latin typeface="Calibri" pitchFamily="34" charset="0"/>
                          <a:ea typeface="Calibri" pitchFamily="34" charset="-122"/>
                          <a:cs typeface="Calibri" pitchFamily="34" charset="-120"/>
                        </a:rPr>
                        <a:t>QUIS</a:t>
                      </a:r>
                      <a:endParaRPr lang="pt-PT" sz="950" noProof="0" dirty="0">
                        <a:latin typeface="Calibri" charset="0"/>
                        <a:ea typeface="Calibri" charset="0"/>
                        <a:cs typeface="Calibri" charset="0"/>
                      </a:endParaRPr>
                    </a:p>
                  </a:txBody>
                  <a:tcPr anchor="ctr">
                    <a:lnL w="6350" cap="flat" cmpd="sng" algn="ctr">
                      <a:solidFill>
                        <a:srgbClr val="CDD1DB"/>
                      </a:solidFill>
                      <a:prstDash val="solid"/>
                      <a:round/>
                      <a:headEnd type="none" w="med" len="med"/>
                      <a:tailEnd type="none" w="med" len="med"/>
                    </a:lnL>
                    <a:lnR w="6350" cap="flat" cmpd="sng" algn="ctr">
                      <a:solidFill>
                        <a:srgbClr val="CDD1DB"/>
                      </a:solidFill>
                      <a:prstDash val="solid"/>
                      <a:round/>
                      <a:headEnd type="none" w="med" len="med"/>
                      <a:tailEnd type="none" w="med" len="med"/>
                    </a:lnR>
                    <a:lnT w="6350" cap="flat" cmpd="sng" algn="ctr">
                      <a:solidFill>
                        <a:srgbClr val="CDD1DB"/>
                      </a:solidFill>
                      <a:prstDash val="solid"/>
                      <a:round/>
                      <a:headEnd type="none" w="med" len="med"/>
                      <a:tailEnd type="none" w="med" len="med"/>
                    </a:lnT>
                    <a:lnB w="6350" cap="flat" cmpd="sng" algn="ctr">
                      <a:solidFill>
                        <a:srgbClr val="CDD1DB"/>
                      </a:solidFill>
                      <a:prstDash val="solid"/>
                      <a:round/>
                      <a:headEnd type="none" w="med" len="med"/>
                      <a:tailEnd type="none" w="med" len="med"/>
                    </a:lnB>
                    <a:solidFill>
                      <a:srgbClr val="E8EBF0"/>
                    </a:solidFill>
                  </a:tcPr>
                </a:tc>
                <a:tc>
                  <a:txBody>
                    <a:bodyPr/>
                    <a:lstStyle/>
                    <a:p>
                      <a:pPr marL="0" indent="0" algn="ctr">
                        <a:buNone/>
                      </a:pPr>
                      <a:r>
                        <a:rPr lang="pt-PT" sz="950" noProof="0" dirty="0">
                          <a:solidFill>
                            <a:srgbClr val="3B4252"/>
                          </a:solidFill>
                          <a:latin typeface="Calibri" pitchFamily="34" charset="0"/>
                          <a:ea typeface="Calibri" pitchFamily="34" charset="-122"/>
                          <a:cs typeface="Calibri" pitchFamily="34" charset="-120"/>
                        </a:rPr>
                        <a:t>27+</a:t>
                      </a:r>
                      <a:endParaRPr lang="pt-PT" sz="950" noProof="0" dirty="0">
                        <a:latin typeface="Calibri" charset="0"/>
                        <a:ea typeface="Calibri" charset="0"/>
                        <a:cs typeface="Calibri" charset="0"/>
                      </a:endParaRPr>
                    </a:p>
                  </a:txBody>
                  <a:tcPr anchor="ctr">
                    <a:lnL w="6350" cap="flat" cmpd="sng" algn="ctr">
                      <a:solidFill>
                        <a:srgbClr val="CDD1DB"/>
                      </a:solidFill>
                      <a:prstDash val="solid"/>
                      <a:round/>
                      <a:headEnd type="none" w="med" len="med"/>
                      <a:tailEnd type="none" w="med" len="med"/>
                    </a:lnL>
                    <a:lnR w="6350" cap="flat" cmpd="sng" algn="ctr">
                      <a:solidFill>
                        <a:srgbClr val="CDD1DB"/>
                      </a:solidFill>
                      <a:prstDash val="solid"/>
                      <a:round/>
                      <a:headEnd type="none" w="med" len="med"/>
                      <a:tailEnd type="none" w="med" len="med"/>
                    </a:lnR>
                    <a:lnT w="6350" cap="flat" cmpd="sng" algn="ctr">
                      <a:solidFill>
                        <a:srgbClr val="CDD1DB"/>
                      </a:solidFill>
                      <a:prstDash val="solid"/>
                      <a:round/>
                      <a:headEnd type="none" w="med" len="med"/>
                      <a:tailEnd type="none" w="med" len="med"/>
                    </a:lnT>
                    <a:lnB w="6350" cap="flat" cmpd="sng" algn="ctr">
                      <a:solidFill>
                        <a:srgbClr val="CDD1DB"/>
                      </a:solidFill>
                      <a:prstDash val="solid"/>
                      <a:round/>
                      <a:headEnd type="none" w="med" len="med"/>
                      <a:tailEnd type="none" w="med" len="med"/>
                    </a:lnB>
                    <a:solidFill>
                      <a:srgbClr val="E8EBF0"/>
                    </a:solidFill>
                  </a:tcPr>
                </a:tc>
                <a:tc>
                  <a:txBody>
                    <a:bodyPr/>
                    <a:lstStyle/>
                    <a:p>
                      <a:pPr marL="0" indent="0" algn="ctr">
                        <a:buNone/>
                      </a:pPr>
                      <a:r>
                        <a:rPr lang="pt-PT" sz="950" noProof="0" dirty="0">
                          <a:solidFill>
                            <a:srgbClr val="3B4252"/>
                          </a:solidFill>
                          <a:latin typeface="Calibri" pitchFamily="34" charset="0"/>
                          <a:ea typeface="Calibri" pitchFamily="34" charset="-122"/>
                          <a:cs typeface="Calibri" pitchFamily="34" charset="-120"/>
                        </a:rPr>
                        <a:t>Satisfação global, layout,</a:t>
                      </a:r>
                      <a:endParaRPr lang="pt-PT" sz="950" noProof="0" dirty="0">
                        <a:latin typeface="Calibri" charset="0"/>
                        <a:ea typeface="Calibri" charset="0"/>
                        <a:cs typeface="Calibri" charset="0"/>
                      </a:endParaRPr>
                    </a:p>
                    <a:p>
                      <a:pPr marL="0" indent="0" algn="ctr">
                        <a:buNone/>
                      </a:pPr>
                      <a:r>
                        <a:rPr lang="pt-PT" sz="950" noProof="0" dirty="0">
                          <a:solidFill>
                            <a:srgbClr val="3B4252"/>
                          </a:solidFill>
                          <a:latin typeface="Calibri" pitchFamily="34" charset="0"/>
                          <a:ea typeface="Calibri" pitchFamily="34" charset="-122"/>
                          <a:cs typeface="Calibri" pitchFamily="34" charset="-120"/>
                        </a:rPr>
                        <a:t>terminologia e aprendizagem</a:t>
                      </a:r>
                      <a:endParaRPr lang="pt-PT" sz="950" noProof="0" dirty="0">
                        <a:latin typeface="Calibri" charset="0"/>
                        <a:ea typeface="Calibri" charset="0"/>
                        <a:cs typeface="Calibri" charset="0"/>
                      </a:endParaRPr>
                    </a:p>
                  </a:txBody>
                  <a:tcPr anchor="ctr">
                    <a:lnL w="6350" cap="flat" cmpd="sng" algn="ctr">
                      <a:solidFill>
                        <a:srgbClr val="CDD1DB"/>
                      </a:solidFill>
                      <a:prstDash val="solid"/>
                      <a:round/>
                      <a:headEnd type="none" w="med" len="med"/>
                      <a:tailEnd type="none" w="med" len="med"/>
                    </a:lnL>
                    <a:lnR w="6350" cap="flat" cmpd="sng" algn="ctr">
                      <a:solidFill>
                        <a:srgbClr val="CDD1DB"/>
                      </a:solidFill>
                      <a:prstDash val="solid"/>
                      <a:round/>
                      <a:headEnd type="none" w="med" len="med"/>
                      <a:tailEnd type="none" w="med" len="med"/>
                    </a:lnR>
                    <a:lnT w="6350" cap="flat" cmpd="sng" algn="ctr">
                      <a:solidFill>
                        <a:srgbClr val="CDD1DB"/>
                      </a:solidFill>
                      <a:prstDash val="solid"/>
                      <a:round/>
                      <a:headEnd type="none" w="med" len="med"/>
                      <a:tailEnd type="none" w="med" len="med"/>
                    </a:lnT>
                    <a:lnB w="6350" cap="flat" cmpd="sng" algn="ctr">
                      <a:solidFill>
                        <a:srgbClr val="CDD1DB"/>
                      </a:solidFill>
                      <a:prstDash val="solid"/>
                      <a:round/>
                      <a:headEnd type="none" w="med" len="med"/>
                      <a:tailEnd type="none" w="med" len="med"/>
                    </a:lnB>
                    <a:solidFill>
                      <a:srgbClr val="E8EBF0"/>
                    </a:solidFill>
                  </a:tcPr>
                </a:tc>
                <a:extLst>
                  <a:ext uri="{0D108BD9-81ED-4DB2-BD59-A6C34878D82A}">
                    <a16:rowId xmlns:a16="http://schemas.microsoft.com/office/drawing/2014/main" val="10003"/>
                  </a:ext>
                </a:extLst>
              </a:tr>
              <a:tr h="458772">
                <a:tc>
                  <a:txBody>
                    <a:bodyPr/>
                    <a:lstStyle/>
                    <a:p>
                      <a:pPr marL="0" indent="0" algn="ctr">
                        <a:buNone/>
                      </a:pPr>
                      <a:r>
                        <a:rPr lang="pt-PT" sz="950" b="1" noProof="0" dirty="0">
                          <a:solidFill>
                            <a:srgbClr val="3B4252"/>
                          </a:solidFill>
                          <a:latin typeface="Calibri" pitchFamily="34" charset="0"/>
                          <a:ea typeface="Calibri" pitchFamily="34" charset="-122"/>
                          <a:cs typeface="Calibri" pitchFamily="34" charset="-120"/>
                        </a:rPr>
                        <a:t>UEQ</a:t>
                      </a:r>
                      <a:endParaRPr lang="pt-PT" sz="950" noProof="0" dirty="0">
                        <a:latin typeface="Calibri" charset="0"/>
                        <a:ea typeface="Calibri" charset="0"/>
                        <a:cs typeface="Calibri" charset="0"/>
                      </a:endParaRPr>
                    </a:p>
                  </a:txBody>
                  <a:tcPr anchor="ctr">
                    <a:lnL w="6350" cap="flat" cmpd="sng" algn="ctr">
                      <a:solidFill>
                        <a:srgbClr val="CDD1DB"/>
                      </a:solidFill>
                      <a:prstDash val="solid"/>
                      <a:round/>
                      <a:headEnd type="none" w="med" len="med"/>
                      <a:tailEnd type="none" w="med" len="med"/>
                    </a:lnL>
                    <a:lnR w="6350" cap="flat" cmpd="sng" algn="ctr">
                      <a:solidFill>
                        <a:srgbClr val="CDD1DB"/>
                      </a:solidFill>
                      <a:prstDash val="solid"/>
                      <a:round/>
                      <a:headEnd type="none" w="med" len="med"/>
                      <a:tailEnd type="none" w="med" len="med"/>
                    </a:lnR>
                    <a:lnT w="6350" cap="flat" cmpd="sng" algn="ctr">
                      <a:solidFill>
                        <a:srgbClr val="CDD1DB"/>
                      </a:solidFill>
                      <a:prstDash val="solid"/>
                      <a:round/>
                      <a:headEnd type="none" w="med" len="med"/>
                      <a:tailEnd type="none" w="med" len="med"/>
                    </a:lnT>
                    <a:lnB w="6350" cap="flat" cmpd="sng" algn="ctr">
                      <a:solidFill>
                        <a:srgbClr val="CDD1DB"/>
                      </a:solidFill>
                      <a:prstDash val="solid"/>
                      <a:round/>
                      <a:headEnd type="none" w="med" len="med"/>
                      <a:tailEnd type="none" w="med" len="med"/>
                    </a:lnB>
                    <a:solidFill>
                      <a:srgbClr val="FFFFFF"/>
                    </a:solidFill>
                  </a:tcPr>
                </a:tc>
                <a:tc>
                  <a:txBody>
                    <a:bodyPr/>
                    <a:lstStyle/>
                    <a:p>
                      <a:pPr marL="0" indent="0" algn="ctr">
                        <a:buNone/>
                      </a:pPr>
                      <a:r>
                        <a:rPr lang="pt-PT" sz="950" noProof="0" dirty="0">
                          <a:solidFill>
                            <a:srgbClr val="3B4252"/>
                          </a:solidFill>
                          <a:latin typeface="Calibri" pitchFamily="34" charset="0"/>
                          <a:ea typeface="Calibri" pitchFamily="34" charset="-122"/>
                          <a:cs typeface="Calibri" pitchFamily="34" charset="-120"/>
                        </a:rPr>
                        <a:t>26</a:t>
                      </a:r>
                      <a:endParaRPr lang="pt-PT" sz="950" noProof="0" dirty="0">
                        <a:latin typeface="Calibri" charset="0"/>
                        <a:ea typeface="Calibri" charset="0"/>
                        <a:cs typeface="Calibri" charset="0"/>
                      </a:endParaRPr>
                    </a:p>
                  </a:txBody>
                  <a:tcPr anchor="ctr">
                    <a:lnL w="6350" cap="flat" cmpd="sng" algn="ctr">
                      <a:solidFill>
                        <a:srgbClr val="CDD1DB"/>
                      </a:solidFill>
                      <a:prstDash val="solid"/>
                      <a:round/>
                      <a:headEnd type="none" w="med" len="med"/>
                      <a:tailEnd type="none" w="med" len="med"/>
                    </a:lnL>
                    <a:lnR w="6350" cap="flat" cmpd="sng" algn="ctr">
                      <a:solidFill>
                        <a:srgbClr val="CDD1DB"/>
                      </a:solidFill>
                      <a:prstDash val="solid"/>
                      <a:round/>
                      <a:headEnd type="none" w="med" len="med"/>
                      <a:tailEnd type="none" w="med" len="med"/>
                    </a:lnR>
                    <a:lnT w="6350" cap="flat" cmpd="sng" algn="ctr">
                      <a:solidFill>
                        <a:srgbClr val="CDD1DB"/>
                      </a:solidFill>
                      <a:prstDash val="solid"/>
                      <a:round/>
                      <a:headEnd type="none" w="med" len="med"/>
                      <a:tailEnd type="none" w="med" len="med"/>
                    </a:lnT>
                    <a:lnB w="6350" cap="flat" cmpd="sng" algn="ctr">
                      <a:solidFill>
                        <a:srgbClr val="CDD1DB"/>
                      </a:solidFill>
                      <a:prstDash val="solid"/>
                      <a:round/>
                      <a:headEnd type="none" w="med" len="med"/>
                      <a:tailEnd type="none" w="med" len="med"/>
                    </a:lnB>
                    <a:solidFill>
                      <a:srgbClr val="FFFFFF"/>
                    </a:solidFill>
                  </a:tcPr>
                </a:tc>
                <a:tc>
                  <a:txBody>
                    <a:bodyPr/>
                    <a:lstStyle/>
                    <a:p>
                      <a:pPr marL="0" indent="0" algn="ctr">
                        <a:buNone/>
                      </a:pPr>
                      <a:r>
                        <a:rPr lang="pt-PT" sz="950" noProof="0" dirty="0">
                          <a:solidFill>
                            <a:srgbClr val="3B4252"/>
                          </a:solidFill>
                          <a:latin typeface="Calibri" pitchFamily="34" charset="0"/>
                          <a:ea typeface="Calibri" pitchFamily="34" charset="-122"/>
                          <a:cs typeface="Calibri" pitchFamily="34" charset="-120"/>
                        </a:rPr>
                        <a:t>Atratividade, clareza, eficiência,</a:t>
                      </a:r>
                      <a:endParaRPr lang="pt-PT" sz="950" noProof="0" dirty="0">
                        <a:latin typeface="Calibri" charset="0"/>
                        <a:ea typeface="Calibri" charset="0"/>
                        <a:cs typeface="Calibri" charset="0"/>
                      </a:endParaRPr>
                    </a:p>
                    <a:p>
                      <a:pPr marL="0" indent="0" algn="ctr">
                        <a:buNone/>
                      </a:pPr>
                      <a:r>
                        <a:rPr lang="pt-PT" sz="950" noProof="0" dirty="0">
                          <a:solidFill>
                            <a:srgbClr val="3B4252"/>
                          </a:solidFill>
                          <a:latin typeface="Calibri" pitchFamily="34" charset="0"/>
                          <a:ea typeface="Calibri" pitchFamily="34" charset="-122"/>
                          <a:cs typeface="Calibri" pitchFamily="34" charset="-120"/>
                        </a:rPr>
                        <a:t>fiabilidade, estimulação e novidade</a:t>
                      </a:r>
                      <a:endParaRPr lang="pt-PT" sz="950" noProof="0" dirty="0">
                        <a:latin typeface="Calibri" charset="0"/>
                        <a:ea typeface="Calibri" charset="0"/>
                        <a:cs typeface="Calibri" charset="0"/>
                      </a:endParaRPr>
                    </a:p>
                  </a:txBody>
                  <a:tcPr anchor="ctr">
                    <a:lnL w="6350" cap="flat" cmpd="sng" algn="ctr">
                      <a:solidFill>
                        <a:srgbClr val="CDD1DB"/>
                      </a:solidFill>
                      <a:prstDash val="solid"/>
                      <a:round/>
                      <a:headEnd type="none" w="med" len="med"/>
                      <a:tailEnd type="none" w="med" len="med"/>
                    </a:lnL>
                    <a:lnR w="6350" cap="flat" cmpd="sng" algn="ctr">
                      <a:solidFill>
                        <a:srgbClr val="CDD1DB"/>
                      </a:solidFill>
                      <a:prstDash val="solid"/>
                      <a:round/>
                      <a:headEnd type="none" w="med" len="med"/>
                      <a:tailEnd type="none" w="med" len="med"/>
                    </a:lnR>
                    <a:lnT w="6350" cap="flat" cmpd="sng" algn="ctr">
                      <a:solidFill>
                        <a:srgbClr val="CDD1DB"/>
                      </a:solidFill>
                      <a:prstDash val="solid"/>
                      <a:round/>
                      <a:headEnd type="none" w="med" len="med"/>
                      <a:tailEnd type="none" w="med" len="med"/>
                    </a:lnT>
                    <a:lnB w="6350" cap="flat" cmpd="sng" algn="ctr">
                      <a:solidFill>
                        <a:srgbClr val="CDD1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8772">
                <a:tc>
                  <a:txBody>
                    <a:bodyPr/>
                    <a:lstStyle/>
                    <a:p>
                      <a:pPr marL="0" indent="0" algn="ctr">
                        <a:buNone/>
                      </a:pPr>
                      <a:r>
                        <a:rPr lang="pt-PT" sz="950" b="1" noProof="0" dirty="0" err="1">
                          <a:solidFill>
                            <a:srgbClr val="3B4252"/>
                          </a:solidFill>
                          <a:latin typeface="Calibri" pitchFamily="34" charset="0"/>
                          <a:ea typeface="Calibri" pitchFamily="34" charset="-122"/>
                          <a:cs typeface="Calibri" pitchFamily="34" charset="-120"/>
                        </a:rPr>
                        <a:t>AttrakDiff</a:t>
                      </a:r>
                      <a:endParaRPr lang="pt-PT" sz="950" noProof="0" dirty="0">
                        <a:latin typeface="Calibri" charset="0"/>
                        <a:ea typeface="Calibri" charset="0"/>
                        <a:cs typeface="Calibri" charset="0"/>
                      </a:endParaRPr>
                    </a:p>
                  </a:txBody>
                  <a:tcPr anchor="ctr">
                    <a:lnL w="6350" cap="flat" cmpd="sng" algn="ctr">
                      <a:solidFill>
                        <a:srgbClr val="CDD1DB"/>
                      </a:solidFill>
                      <a:prstDash val="solid"/>
                      <a:round/>
                      <a:headEnd type="none" w="med" len="med"/>
                      <a:tailEnd type="none" w="med" len="med"/>
                    </a:lnL>
                    <a:lnR w="6350" cap="flat" cmpd="sng" algn="ctr">
                      <a:solidFill>
                        <a:srgbClr val="CDD1DB"/>
                      </a:solidFill>
                      <a:prstDash val="solid"/>
                      <a:round/>
                      <a:headEnd type="none" w="med" len="med"/>
                      <a:tailEnd type="none" w="med" len="med"/>
                    </a:lnR>
                    <a:lnT w="6350" cap="flat" cmpd="sng" algn="ctr">
                      <a:solidFill>
                        <a:srgbClr val="CDD1DB"/>
                      </a:solidFill>
                      <a:prstDash val="solid"/>
                      <a:round/>
                      <a:headEnd type="none" w="med" len="med"/>
                      <a:tailEnd type="none" w="med" len="med"/>
                    </a:lnT>
                    <a:lnB w="6350" cap="flat" cmpd="sng" algn="ctr">
                      <a:solidFill>
                        <a:srgbClr val="CDD1DB"/>
                      </a:solidFill>
                      <a:prstDash val="solid"/>
                      <a:round/>
                      <a:headEnd type="none" w="med" len="med"/>
                      <a:tailEnd type="none" w="med" len="med"/>
                    </a:lnB>
                    <a:solidFill>
                      <a:srgbClr val="E8EBF0"/>
                    </a:solidFill>
                  </a:tcPr>
                </a:tc>
                <a:tc>
                  <a:txBody>
                    <a:bodyPr/>
                    <a:lstStyle/>
                    <a:p>
                      <a:pPr marL="0" indent="0" algn="ctr">
                        <a:buNone/>
                      </a:pPr>
                      <a:r>
                        <a:rPr lang="pt-PT" sz="950" noProof="0" dirty="0">
                          <a:solidFill>
                            <a:srgbClr val="3B4252"/>
                          </a:solidFill>
                          <a:latin typeface="Calibri" pitchFamily="34" charset="0"/>
                          <a:ea typeface="Calibri" pitchFamily="34" charset="-122"/>
                          <a:cs typeface="Calibri" pitchFamily="34" charset="-120"/>
                        </a:rPr>
                        <a:t>28</a:t>
                      </a:r>
                      <a:endParaRPr lang="pt-PT" sz="950" noProof="0" dirty="0">
                        <a:latin typeface="Calibri" charset="0"/>
                        <a:ea typeface="Calibri" charset="0"/>
                        <a:cs typeface="Calibri" charset="0"/>
                      </a:endParaRPr>
                    </a:p>
                  </a:txBody>
                  <a:tcPr anchor="ctr">
                    <a:lnL w="6350" cap="flat" cmpd="sng" algn="ctr">
                      <a:solidFill>
                        <a:srgbClr val="CDD1DB"/>
                      </a:solidFill>
                      <a:prstDash val="solid"/>
                      <a:round/>
                      <a:headEnd type="none" w="med" len="med"/>
                      <a:tailEnd type="none" w="med" len="med"/>
                    </a:lnL>
                    <a:lnR w="6350" cap="flat" cmpd="sng" algn="ctr">
                      <a:solidFill>
                        <a:srgbClr val="CDD1DB"/>
                      </a:solidFill>
                      <a:prstDash val="solid"/>
                      <a:round/>
                      <a:headEnd type="none" w="med" len="med"/>
                      <a:tailEnd type="none" w="med" len="med"/>
                    </a:lnR>
                    <a:lnT w="6350" cap="flat" cmpd="sng" algn="ctr">
                      <a:solidFill>
                        <a:srgbClr val="CDD1DB"/>
                      </a:solidFill>
                      <a:prstDash val="solid"/>
                      <a:round/>
                      <a:headEnd type="none" w="med" len="med"/>
                      <a:tailEnd type="none" w="med" len="med"/>
                    </a:lnT>
                    <a:lnB w="6350" cap="flat" cmpd="sng" algn="ctr">
                      <a:solidFill>
                        <a:srgbClr val="CDD1DB"/>
                      </a:solidFill>
                      <a:prstDash val="solid"/>
                      <a:round/>
                      <a:headEnd type="none" w="med" len="med"/>
                      <a:tailEnd type="none" w="med" len="med"/>
                    </a:lnB>
                    <a:solidFill>
                      <a:srgbClr val="E8EBF0"/>
                    </a:solidFill>
                  </a:tcPr>
                </a:tc>
                <a:tc>
                  <a:txBody>
                    <a:bodyPr/>
                    <a:lstStyle/>
                    <a:p>
                      <a:pPr marL="0" indent="0" algn="ctr">
                        <a:buNone/>
                      </a:pPr>
                      <a:r>
                        <a:rPr lang="pt-PT" sz="950" noProof="0" dirty="0">
                          <a:solidFill>
                            <a:srgbClr val="3B4252"/>
                          </a:solidFill>
                          <a:latin typeface="Calibri" pitchFamily="34" charset="0"/>
                          <a:ea typeface="Calibri" pitchFamily="34" charset="-122"/>
                          <a:cs typeface="Calibri" pitchFamily="34" charset="-120"/>
                        </a:rPr>
                        <a:t>Qualidade pragmática, qualidade</a:t>
                      </a:r>
                      <a:endParaRPr lang="pt-PT" sz="950" noProof="0" dirty="0">
                        <a:latin typeface="Calibri" charset="0"/>
                        <a:ea typeface="Calibri" charset="0"/>
                        <a:cs typeface="Calibri" charset="0"/>
                      </a:endParaRPr>
                    </a:p>
                    <a:p>
                      <a:pPr marL="0" indent="0" algn="ctr">
                        <a:buNone/>
                      </a:pPr>
                      <a:r>
                        <a:rPr lang="pt-PT" sz="950" noProof="0" dirty="0">
                          <a:solidFill>
                            <a:srgbClr val="3B4252"/>
                          </a:solidFill>
                          <a:latin typeface="Calibri" pitchFamily="34" charset="0"/>
                          <a:ea typeface="Calibri" pitchFamily="34" charset="-122"/>
                          <a:cs typeface="Calibri" pitchFamily="34" charset="-120"/>
                        </a:rPr>
                        <a:t>experiencial e atratividade global</a:t>
                      </a:r>
                      <a:endParaRPr lang="pt-PT" sz="950" noProof="0" dirty="0">
                        <a:latin typeface="Calibri" charset="0"/>
                        <a:ea typeface="Calibri" charset="0"/>
                        <a:cs typeface="Calibri" charset="0"/>
                      </a:endParaRPr>
                    </a:p>
                  </a:txBody>
                  <a:tcPr anchor="ctr">
                    <a:lnL w="6350" cap="flat" cmpd="sng" algn="ctr">
                      <a:solidFill>
                        <a:srgbClr val="CDD1DB"/>
                      </a:solidFill>
                      <a:prstDash val="solid"/>
                      <a:round/>
                      <a:headEnd type="none" w="med" len="med"/>
                      <a:tailEnd type="none" w="med" len="med"/>
                    </a:lnL>
                    <a:lnR w="6350" cap="flat" cmpd="sng" algn="ctr">
                      <a:solidFill>
                        <a:srgbClr val="CDD1DB"/>
                      </a:solidFill>
                      <a:prstDash val="solid"/>
                      <a:round/>
                      <a:headEnd type="none" w="med" len="med"/>
                      <a:tailEnd type="none" w="med" len="med"/>
                    </a:lnR>
                    <a:lnT w="6350" cap="flat" cmpd="sng" algn="ctr">
                      <a:solidFill>
                        <a:srgbClr val="CDD1DB"/>
                      </a:solidFill>
                      <a:prstDash val="solid"/>
                      <a:round/>
                      <a:headEnd type="none" w="med" len="med"/>
                      <a:tailEnd type="none" w="med" len="med"/>
                    </a:lnT>
                    <a:lnB w="6350" cap="flat" cmpd="sng" algn="ctr">
                      <a:solidFill>
                        <a:srgbClr val="CDD1DB"/>
                      </a:solidFill>
                      <a:prstDash val="solid"/>
                      <a:round/>
                      <a:headEnd type="none" w="med" len="med"/>
                      <a:tailEnd type="none" w="med" len="med"/>
                    </a:lnB>
                    <a:solidFill>
                      <a:srgbClr val="E8EBF0"/>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DCE1EA"/>
        </a:solidFill>
        <a:effectLst/>
      </p:bgPr>
    </p:bg>
    <p:spTree>
      <p:nvGrpSpPr>
        <p:cNvPr id="1" name=""/>
        <p:cNvGrpSpPr/>
        <p:nvPr/>
      </p:nvGrpSpPr>
      <p:grpSpPr>
        <a:xfrm>
          <a:off x="0" y="0"/>
          <a:ext cx="0" cy="0"/>
          <a:chOff x="0" y="0"/>
          <a:chExt cx="0" cy="0"/>
        </a:xfrm>
      </p:grpSpPr>
      <p:sp>
        <p:nvSpPr>
          <p:cNvPr id="2" name="Text 0"/>
          <p:cNvSpPr/>
          <p:nvPr/>
        </p:nvSpPr>
        <p:spPr>
          <a:xfrm>
            <a:off x="731520" y="320040"/>
            <a:ext cx="5719286" cy="640080"/>
          </a:xfrm>
          <a:prstGeom prst="rect">
            <a:avLst/>
          </a:prstGeom>
          <a:noFill/>
          <a:ln/>
        </p:spPr>
        <p:txBody>
          <a:bodyPr wrap="square" lIns="0" tIns="0" rIns="0" bIns="0" rtlCol="0" anchor="ctr"/>
          <a:lstStyle/>
          <a:p>
            <a:pPr marL="0" indent="0">
              <a:buNone/>
            </a:pPr>
            <a:r>
              <a:rPr lang="pt-PT" sz="3200" b="1" noProof="0" dirty="0">
                <a:solidFill>
                  <a:srgbClr val="1E2335"/>
                </a:solidFill>
                <a:latin typeface="Georgia" pitchFamily="34" charset="0"/>
                <a:ea typeface="Georgia" pitchFamily="34" charset="-122"/>
                <a:cs typeface="Georgia" pitchFamily="34" charset="-120"/>
              </a:rPr>
              <a:t>Análises Comportamentais</a:t>
            </a:r>
            <a:endParaRPr lang="pt-PT" sz="3200" noProof="0" dirty="0"/>
          </a:p>
        </p:txBody>
      </p:sp>
      <p:sp>
        <p:nvSpPr>
          <p:cNvPr id="3" name="Text 1"/>
          <p:cNvSpPr/>
          <p:nvPr/>
        </p:nvSpPr>
        <p:spPr>
          <a:xfrm>
            <a:off x="731520" y="1051560"/>
            <a:ext cx="7405211" cy="548640"/>
          </a:xfrm>
          <a:prstGeom prst="rect">
            <a:avLst/>
          </a:prstGeom>
          <a:noFill/>
          <a:ln/>
        </p:spPr>
        <p:txBody>
          <a:bodyPr wrap="square" lIns="0" tIns="0" rIns="0" bIns="0" rtlCol="0" anchor="ctr"/>
          <a:lstStyle/>
          <a:p>
            <a:pPr marL="0" indent="0">
              <a:lnSpc>
                <a:spcPct val="135000"/>
              </a:lnSpc>
              <a:buNone/>
            </a:pPr>
            <a:r>
              <a:rPr lang="pt-PT" sz="1200" noProof="0" dirty="0">
                <a:solidFill>
                  <a:srgbClr val="3B4252"/>
                </a:solidFill>
                <a:latin typeface="Calibri" pitchFamily="34" charset="0"/>
                <a:ea typeface="Calibri" pitchFamily="34" charset="-122"/>
                <a:cs typeface="Calibri" pitchFamily="34" charset="-120"/>
              </a:rPr>
              <a:t>Enquanto os questionários captam perceções subjetivas, as análises comportamentais observam o que os utilizadores realmente fazem. Este ponto complementar é essencial para obter uma visão completa da experiência com um só.</a:t>
            </a:r>
            <a:endParaRPr lang="pt-PT" sz="1200" noProof="0" dirty="0"/>
          </a:p>
        </p:txBody>
      </p:sp>
      <p:sp>
        <p:nvSpPr>
          <p:cNvPr id="4" name="Shape 2"/>
          <p:cNvSpPr/>
          <p:nvPr/>
        </p:nvSpPr>
        <p:spPr>
          <a:xfrm>
            <a:off x="731520" y="1828800"/>
            <a:ext cx="3749040" cy="118872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5" name="Shape 3"/>
          <p:cNvSpPr/>
          <p:nvPr/>
        </p:nvSpPr>
        <p:spPr>
          <a:xfrm>
            <a:off x="731520" y="1828800"/>
            <a:ext cx="54864" cy="1188720"/>
          </a:xfrm>
          <a:prstGeom prst="rect">
            <a:avLst/>
          </a:prstGeom>
          <a:solidFill>
            <a:srgbClr val="4B62A0"/>
          </a:solidFill>
          <a:ln/>
        </p:spPr>
        <p:txBody>
          <a:bodyPr/>
          <a:lstStyle/>
          <a:p>
            <a:endParaRPr lang="pt-PT" noProof="0" dirty="0"/>
          </a:p>
        </p:txBody>
      </p:sp>
      <p:sp>
        <p:nvSpPr>
          <p:cNvPr id="6" name="Text 4"/>
          <p:cNvSpPr/>
          <p:nvPr/>
        </p:nvSpPr>
        <p:spPr>
          <a:xfrm>
            <a:off x="960120" y="1908676"/>
            <a:ext cx="1904524" cy="256032"/>
          </a:xfrm>
          <a:prstGeom prst="rect">
            <a:avLst/>
          </a:prstGeom>
          <a:noFill/>
          <a:ln/>
        </p:spPr>
        <p:txBody>
          <a:bodyPr wrap="square" lIns="0" tIns="0" rIns="0" bIns="0" rtlCol="0" anchor="ctr"/>
          <a:lstStyle/>
          <a:p>
            <a:pPr marL="0" indent="0">
              <a:buNone/>
            </a:pPr>
            <a:r>
              <a:rPr lang="pt-PT" sz="1200" b="1" noProof="0" dirty="0" err="1">
                <a:solidFill>
                  <a:srgbClr val="1E2335"/>
                </a:solidFill>
                <a:latin typeface="Georgia" pitchFamily="34" charset="0"/>
                <a:ea typeface="Georgia" pitchFamily="34" charset="-122"/>
                <a:cs typeface="Georgia" pitchFamily="34" charset="-120"/>
              </a:rPr>
              <a:t>Heatmaps</a:t>
            </a:r>
            <a:r>
              <a:rPr lang="pt-PT" sz="1200" b="1" noProof="0" dirty="0">
                <a:solidFill>
                  <a:srgbClr val="1E2335"/>
                </a:solidFill>
                <a:latin typeface="Georgia" pitchFamily="34" charset="0"/>
                <a:ea typeface="Georgia" pitchFamily="34" charset="-122"/>
                <a:cs typeface="Georgia" pitchFamily="34" charset="-120"/>
              </a:rPr>
              <a:t> e </a:t>
            </a:r>
            <a:r>
              <a:rPr lang="pt-PT" sz="1200" b="1" noProof="0" dirty="0" err="1">
                <a:solidFill>
                  <a:srgbClr val="1E2335"/>
                </a:solidFill>
                <a:latin typeface="Georgia" pitchFamily="34" charset="0"/>
                <a:ea typeface="Georgia" pitchFamily="34" charset="-122"/>
                <a:cs typeface="Georgia" pitchFamily="34" charset="-120"/>
              </a:rPr>
              <a:t>Click</a:t>
            </a:r>
            <a:r>
              <a:rPr lang="pt-PT" sz="1200" b="1" noProof="0" dirty="0">
                <a:solidFill>
                  <a:srgbClr val="1E2335"/>
                </a:solidFill>
                <a:latin typeface="Georgia" pitchFamily="34" charset="0"/>
                <a:ea typeface="Georgia" pitchFamily="34" charset="-122"/>
                <a:cs typeface="Georgia" pitchFamily="34" charset="-120"/>
              </a:rPr>
              <a:t> </a:t>
            </a:r>
            <a:r>
              <a:rPr lang="pt-PT" sz="1200" b="1" noProof="0" dirty="0" err="1">
                <a:solidFill>
                  <a:srgbClr val="1E2335"/>
                </a:solidFill>
                <a:latin typeface="Georgia" pitchFamily="34" charset="0"/>
                <a:ea typeface="Georgia" pitchFamily="34" charset="-122"/>
                <a:cs typeface="Georgia" pitchFamily="34" charset="-120"/>
              </a:rPr>
              <a:t>Maps</a:t>
            </a:r>
            <a:endParaRPr lang="pt-PT" sz="1200" noProof="0" dirty="0"/>
          </a:p>
        </p:txBody>
      </p:sp>
      <p:sp>
        <p:nvSpPr>
          <p:cNvPr id="7" name="Text 5"/>
          <p:cNvSpPr/>
          <p:nvPr/>
        </p:nvSpPr>
        <p:spPr>
          <a:xfrm>
            <a:off x="960120" y="2165984"/>
            <a:ext cx="2242102" cy="731520"/>
          </a:xfrm>
          <a:prstGeom prst="rect">
            <a:avLst/>
          </a:prstGeom>
          <a:noFill/>
          <a:ln/>
        </p:spPr>
        <p:txBody>
          <a:bodyPr wrap="square" lIns="0" tIns="0" rIns="0" bIns="0" rtlCol="0" anchor="ctr"/>
          <a:lstStyle/>
          <a:p>
            <a:pPr marL="0" indent="0">
              <a:lnSpc>
                <a:spcPct val="120000"/>
              </a:lnSpc>
              <a:buNone/>
            </a:pPr>
            <a:r>
              <a:rPr lang="pt-PT" sz="950" noProof="0" dirty="0">
                <a:solidFill>
                  <a:srgbClr val="5A6378"/>
                </a:solidFill>
                <a:latin typeface="Calibri" pitchFamily="34" charset="0"/>
                <a:ea typeface="Calibri" pitchFamily="34" charset="-122"/>
                <a:cs typeface="Calibri" pitchFamily="34" charset="-120"/>
              </a:rPr>
              <a:t>Representação visual das zonas mais clicadas</a:t>
            </a:r>
            <a:endParaRPr lang="pt-PT" sz="950" noProof="0" dirty="0"/>
          </a:p>
          <a:p>
            <a:pPr marL="0" indent="0">
              <a:lnSpc>
                <a:spcPct val="120000"/>
              </a:lnSpc>
              <a:buNone/>
            </a:pPr>
            <a:r>
              <a:rPr lang="pt-PT" sz="950" noProof="0" dirty="0">
                <a:solidFill>
                  <a:srgbClr val="5A6378"/>
                </a:solidFill>
                <a:latin typeface="Calibri" pitchFamily="34" charset="0"/>
                <a:ea typeface="Calibri" pitchFamily="34" charset="-122"/>
                <a:cs typeface="Calibri" pitchFamily="34" charset="-120"/>
              </a:rPr>
              <a:t>e observadas. Permitem identificar padrões</a:t>
            </a:r>
            <a:endParaRPr lang="pt-PT" sz="950" noProof="0" dirty="0"/>
          </a:p>
          <a:p>
            <a:pPr marL="0" indent="0">
              <a:lnSpc>
                <a:spcPct val="120000"/>
              </a:lnSpc>
              <a:buNone/>
            </a:pPr>
            <a:r>
              <a:rPr lang="pt-PT" sz="950" noProof="0" dirty="0">
                <a:solidFill>
                  <a:srgbClr val="5A6378"/>
                </a:solidFill>
                <a:latin typeface="Calibri" pitchFamily="34" charset="0"/>
                <a:ea typeface="Calibri" pitchFamily="34" charset="-122"/>
                <a:cs typeface="Calibri" pitchFamily="34" charset="-120"/>
              </a:rPr>
              <a:t>de interação e áreas de maior atenção.</a:t>
            </a:r>
            <a:endParaRPr lang="pt-PT" sz="950" noProof="0" dirty="0"/>
          </a:p>
        </p:txBody>
      </p:sp>
      <p:sp>
        <p:nvSpPr>
          <p:cNvPr id="8" name="Shape 6"/>
          <p:cNvSpPr/>
          <p:nvPr/>
        </p:nvSpPr>
        <p:spPr>
          <a:xfrm>
            <a:off x="4846320" y="1828800"/>
            <a:ext cx="3749040" cy="118872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9" name="Shape 7"/>
          <p:cNvSpPr/>
          <p:nvPr/>
        </p:nvSpPr>
        <p:spPr>
          <a:xfrm>
            <a:off x="4846320" y="1828800"/>
            <a:ext cx="54864" cy="1188720"/>
          </a:xfrm>
          <a:prstGeom prst="rect">
            <a:avLst/>
          </a:prstGeom>
          <a:solidFill>
            <a:srgbClr val="5B8C7B"/>
          </a:solidFill>
          <a:ln/>
        </p:spPr>
        <p:txBody>
          <a:bodyPr/>
          <a:lstStyle/>
          <a:p>
            <a:endParaRPr lang="pt-PT" noProof="0" dirty="0"/>
          </a:p>
        </p:txBody>
      </p:sp>
      <p:sp>
        <p:nvSpPr>
          <p:cNvPr id="10" name="Text 8"/>
          <p:cNvSpPr/>
          <p:nvPr/>
        </p:nvSpPr>
        <p:spPr>
          <a:xfrm>
            <a:off x="5074920" y="1922124"/>
            <a:ext cx="1046702" cy="256032"/>
          </a:xfrm>
          <a:prstGeom prst="rect">
            <a:avLst/>
          </a:prstGeom>
          <a:noFill/>
          <a:ln/>
        </p:spPr>
        <p:txBody>
          <a:bodyPr wrap="square" lIns="0" tIns="0" rIns="0" bIns="0" rtlCol="0" anchor="ctr"/>
          <a:lstStyle/>
          <a:p>
            <a:pPr marL="0" indent="0">
              <a:buNone/>
            </a:pPr>
            <a:r>
              <a:rPr lang="pt-PT" sz="1200" b="1" noProof="0" dirty="0" err="1">
                <a:solidFill>
                  <a:srgbClr val="1E2335"/>
                </a:solidFill>
                <a:latin typeface="Georgia" pitchFamily="34" charset="0"/>
                <a:ea typeface="Georgia" pitchFamily="34" charset="-122"/>
                <a:cs typeface="Georgia" pitchFamily="34" charset="-120"/>
              </a:rPr>
              <a:t>Eye</a:t>
            </a:r>
            <a:r>
              <a:rPr lang="pt-PT" sz="1200" b="1" noProof="0" dirty="0">
                <a:solidFill>
                  <a:srgbClr val="1E2335"/>
                </a:solidFill>
                <a:latin typeface="Georgia" pitchFamily="34" charset="0"/>
                <a:ea typeface="Georgia" pitchFamily="34" charset="-122"/>
                <a:cs typeface="Georgia" pitchFamily="34" charset="-120"/>
              </a:rPr>
              <a:t> </a:t>
            </a:r>
            <a:r>
              <a:rPr lang="pt-PT" sz="1200" b="1" noProof="0" dirty="0" err="1">
                <a:solidFill>
                  <a:srgbClr val="1E2335"/>
                </a:solidFill>
                <a:latin typeface="Georgia" pitchFamily="34" charset="0"/>
                <a:ea typeface="Georgia" pitchFamily="34" charset="-122"/>
                <a:cs typeface="Georgia" pitchFamily="34" charset="-120"/>
              </a:rPr>
              <a:t>Tracking</a:t>
            </a:r>
            <a:endParaRPr lang="pt-PT" sz="1200" noProof="0" dirty="0"/>
          </a:p>
        </p:txBody>
      </p:sp>
      <p:sp>
        <p:nvSpPr>
          <p:cNvPr id="11" name="Text 9"/>
          <p:cNvSpPr/>
          <p:nvPr/>
        </p:nvSpPr>
        <p:spPr>
          <a:xfrm>
            <a:off x="5074920" y="2151838"/>
            <a:ext cx="2312922" cy="731520"/>
          </a:xfrm>
          <a:prstGeom prst="rect">
            <a:avLst/>
          </a:prstGeom>
          <a:noFill/>
          <a:ln/>
        </p:spPr>
        <p:txBody>
          <a:bodyPr wrap="square" lIns="0" tIns="0" rIns="0" bIns="0" rtlCol="0" anchor="ctr"/>
          <a:lstStyle/>
          <a:p>
            <a:pPr marL="0" indent="0">
              <a:lnSpc>
                <a:spcPct val="120000"/>
              </a:lnSpc>
              <a:buNone/>
            </a:pPr>
            <a:r>
              <a:rPr lang="pt-PT" sz="950" noProof="0" dirty="0">
                <a:solidFill>
                  <a:srgbClr val="5A6378"/>
                </a:solidFill>
                <a:latin typeface="Calibri" pitchFamily="34" charset="0"/>
                <a:ea typeface="Calibri" pitchFamily="34" charset="-122"/>
                <a:cs typeface="Calibri" pitchFamily="34" charset="-120"/>
              </a:rPr>
              <a:t>Rastreamento ocular para compreender onde</a:t>
            </a:r>
            <a:endParaRPr lang="pt-PT" sz="950" noProof="0" dirty="0"/>
          </a:p>
          <a:p>
            <a:pPr marL="0" indent="0">
              <a:lnSpc>
                <a:spcPct val="120000"/>
              </a:lnSpc>
              <a:buNone/>
            </a:pPr>
            <a:r>
              <a:rPr lang="pt-PT" sz="950" noProof="0" dirty="0">
                <a:solidFill>
                  <a:srgbClr val="5A6378"/>
                </a:solidFill>
                <a:latin typeface="Calibri" pitchFamily="34" charset="0"/>
                <a:ea typeface="Calibri" pitchFamily="34" charset="-122"/>
                <a:cs typeface="Calibri" pitchFamily="34" charset="-120"/>
              </a:rPr>
              <a:t>o utilizador concentra a atenção. Importante</a:t>
            </a:r>
            <a:endParaRPr lang="pt-PT" sz="950" noProof="0" dirty="0"/>
          </a:p>
          <a:p>
            <a:pPr marL="0" indent="0">
              <a:lnSpc>
                <a:spcPct val="120000"/>
              </a:lnSpc>
              <a:buNone/>
            </a:pPr>
            <a:r>
              <a:rPr lang="pt-PT" sz="950" noProof="0" dirty="0">
                <a:solidFill>
                  <a:srgbClr val="5A6378"/>
                </a:solidFill>
                <a:latin typeface="Calibri" pitchFamily="34" charset="0"/>
                <a:ea typeface="Calibri" pitchFamily="34" charset="-122"/>
                <a:cs typeface="Calibri" pitchFamily="34" charset="-120"/>
              </a:rPr>
              <a:t>para avaliar layouts e arquitetura visual.</a:t>
            </a:r>
            <a:endParaRPr lang="pt-PT" sz="950" noProof="0" dirty="0"/>
          </a:p>
        </p:txBody>
      </p:sp>
      <p:sp>
        <p:nvSpPr>
          <p:cNvPr id="12" name="Shape 10"/>
          <p:cNvSpPr/>
          <p:nvPr/>
        </p:nvSpPr>
        <p:spPr>
          <a:xfrm>
            <a:off x="731520" y="3200400"/>
            <a:ext cx="3749040" cy="118872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13" name="Shape 11"/>
          <p:cNvSpPr/>
          <p:nvPr/>
        </p:nvSpPr>
        <p:spPr>
          <a:xfrm>
            <a:off x="731520" y="3200400"/>
            <a:ext cx="54864" cy="1188720"/>
          </a:xfrm>
          <a:prstGeom prst="rect">
            <a:avLst/>
          </a:prstGeom>
          <a:solidFill>
            <a:srgbClr val="B8863B"/>
          </a:solidFill>
          <a:ln/>
        </p:spPr>
        <p:txBody>
          <a:bodyPr/>
          <a:lstStyle/>
          <a:p>
            <a:endParaRPr lang="pt-PT" noProof="0" dirty="0"/>
          </a:p>
        </p:txBody>
      </p:sp>
      <p:sp>
        <p:nvSpPr>
          <p:cNvPr id="14" name="Text 12"/>
          <p:cNvSpPr/>
          <p:nvPr/>
        </p:nvSpPr>
        <p:spPr>
          <a:xfrm>
            <a:off x="960120" y="3293724"/>
            <a:ext cx="899541" cy="256032"/>
          </a:xfrm>
          <a:prstGeom prst="rect">
            <a:avLst/>
          </a:prstGeom>
          <a:noFill/>
          <a:ln/>
        </p:spPr>
        <p:txBody>
          <a:bodyPr wrap="square" lIns="0" tIns="0" rIns="0" bIns="0" rtlCol="0" anchor="ctr"/>
          <a:lstStyle/>
          <a:p>
            <a:pPr marL="0" indent="0">
              <a:buNone/>
            </a:pPr>
            <a:r>
              <a:rPr lang="pt-PT" sz="1200" b="1" noProof="0" dirty="0">
                <a:solidFill>
                  <a:srgbClr val="1E2335"/>
                </a:solidFill>
                <a:latin typeface="Georgia" pitchFamily="34" charset="0"/>
                <a:ea typeface="Georgia" pitchFamily="34" charset="-122"/>
                <a:cs typeface="Georgia" pitchFamily="34" charset="-120"/>
              </a:rPr>
              <a:t>Testes A/B</a:t>
            </a:r>
            <a:endParaRPr lang="pt-PT" sz="1200" noProof="0" dirty="0"/>
          </a:p>
        </p:txBody>
      </p:sp>
      <p:sp>
        <p:nvSpPr>
          <p:cNvPr id="15" name="Text 13"/>
          <p:cNvSpPr/>
          <p:nvPr/>
        </p:nvSpPr>
        <p:spPr>
          <a:xfrm>
            <a:off x="960120" y="3537584"/>
            <a:ext cx="2289461" cy="731520"/>
          </a:xfrm>
          <a:prstGeom prst="rect">
            <a:avLst/>
          </a:prstGeom>
          <a:noFill/>
          <a:ln/>
        </p:spPr>
        <p:txBody>
          <a:bodyPr wrap="square" lIns="0" tIns="0" rIns="0" bIns="0" rtlCol="0" anchor="ctr"/>
          <a:lstStyle/>
          <a:p>
            <a:pPr marL="0" indent="0">
              <a:lnSpc>
                <a:spcPct val="120000"/>
              </a:lnSpc>
              <a:buNone/>
            </a:pPr>
            <a:r>
              <a:rPr lang="pt-PT" sz="950" noProof="0" dirty="0">
                <a:solidFill>
                  <a:srgbClr val="5A6378"/>
                </a:solidFill>
                <a:latin typeface="Calibri" pitchFamily="34" charset="0"/>
                <a:ea typeface="Calibri" pitchFamily="34" charset="-122"/>
                <a:cs typeface="Calibri" pitchFamily="34" charset="-120"/>
              </a:rPr>
              <a:t>Comparação de duas versões de uma interface</a:t>
            </a:r>
            <a:endParaRPr lang="pt-PT" sz="950" noProof="0" dirty="0"/>
          </a:p>
          <a:p>
            <a:pPr marL="0" indent="0">
              <a:lnSpc>
                <a:spcPct val="120000"/>
              </a:lnSpc>
              <a:buNone/>
            </a:pPr>
            <a:r>
              <a:rPr lang="pt-PT" sz="950" noProof="0" dirty="0">
                <a:solidFill>
                  <a:srgbClr val="5A6378"/>
                </a:solidFill>
                <a:latin typeface="Calibri" pitchFamily="34" charset="0"/>
                <a:ea typeface="Calibri" pitchFamily="34" charset="-122"/>
                <a:cs typeface="Calibri" pitchFamily="34" charset="-120"/>
              </a:rPr>
              <a:t>para determinar qual apresenta melhor</a:t>
            </a:r>
            <a:endParaRPr lang="pt-PT" sz="950" noProof="0" dirty="0"/>
          </a:p>
          <a:p>
            <a:pPr marL="0" indent="0">
              <a:lnSpc>
                <a:spcPct val="120000"/>
              </a:lnSpc>
              <a:buNone/>
            </a:pPr>
            <a:r>
              <a:rPr lang="pt-PT" sz="950" noProof="0" dirty="0">
                <a:solidFill>
                  <a:srgbClr val="5A6378"/>
                </a:solidFill>
                <a:latin typeface="Calibri" pitchFamily="34" charset="0"/>
                <a:ea typeface="Calibri" pitchFamily="34" charset="-122"/>
                <a:cs typeface="Calibri" pitchFamily="34" charset="-120"/>
              </a:rPr>
              <a:t>desempenho nas métricas definidas.</a:t>
            </a:r>
            <a:endParaRPr lang="pt-PT" sz="950" noProof="0" dirty="0"/>
          </a:p>
        </p:txBody>
      </p:sp>
      <p:sp>
        <p:nvSpPr>
          <p:cNvPr id="16" name="Shape 14"/>
          <p:cNvSpPr/>
          <p:nvPr/>
        </p:nvSpPr>
        <p:spPr>
          <a:xfrm>
            <a:off x="4846320" y="3200400"/>
            <a:ext cx="3749040" cy="118872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17" name="Shape 15"/>
          <p:cNvSpPr/>
          <p:nvPr/>
        </p:nvSpPr>
        <p:spPr>
          <a:xfrm>
            <a:off x="4846320" y="3200400"/>
            <a:ext cx="54864" cy="1188720"/>
          </a:xfrm>
          <a:prstGeom prst="rect">
            <a:avLst/>
          </a:prstGeom>
          <a:solidFill>
            <a:srgbClr val="A05555"/>
          </a:solidFill>
          <a:ln/>
        </p:spPr>
        <p:txBody>
          <a:bodyPr/>
          <a:lstStyle/>
          <a:p>
            <a:endParaRPr lang="pt-PT" noProof="0" dirty="0"/>
          </a:p>
        </p:txBody>
      </p:sp>
      <p:sp>
        <p:nvSpPr>
          <p:cNvPr id="18" name="Text 16"/>
          <p:cNvSpPr/>
          <p:nvPr/>
        </p:nvSpPr>
        <p:spPr>
          <a:xfrm>
            <a:off x="5074920" y="3300448"/>
            <a:ext cx="1642491" cy="256032"/>
          </a:xfrm>
          <a:prstGeom prst="rect">
            <a:avLst/>
          </a:prstGeom>
          <a:noFill/>
          <a:ln/>
        </p:spPr>
        <p:txBody>
          <a:bodyPr wrap="square" lIns="0" tIns="0" rIns="0" bIns="0" rtlCol="0" anchor="ctr"/>
          <a:lstStyle/>
          <a:p>
            <a:r>
              <a:rPr lang="pt-PT" sz="1200" b="1" noProof="0" dirty="0">
                <a:solidFill>
                  <a:srgbClr val="1E2335"/>
                </a:solidFill>
                <a:latin typeface="Georgia" pitchFamily="34" charset="0"/>
                <a:ea typeface="Georgia" pitchFamily="34" charset="-122"/>
                <a:cs typeface="Georgia" pitchFamily="34" charset="-120"/>
              </a:rPr>
              <a:t>Gravação de Sessões</a:t>
            </a:r>
            <a:endParaRPr lang="pt-PT" sz="1200" noProof="0" dirty="0"/>
          </a:p>
        </p:txBody>
      </p:sp>
      <p:sp>
        <p:nvSpPr>
          <p:cNvPr id="19" name="Text 17"/>
          <p:cNvSpPr/>
          <p:nvPr/>
        </p:nvSpPr>
        <p:spPr>
          <a:xfrm>
            <a:off x="5074920" y="3512509"/>
            <a:ext cx="2335435" cy="731520"/>
          </a:xfrm>
          <a:prstGeom prst="rect">
            <a:avLst/>
          </a:prstGeom>
          <a:noFill/>
          <a:ln/>
        </p:spPr>
        <p:txBody>
          <a:bodyPr wrap="square" lIns="0" tIns="0" rIns="0" bIns="0" rtlCol="0" anchor="ctr"/>
          <a:lstStyle/>
          <a:p>
            <a:pPr>
              <a:lnSpc>
                <a:spcPct val="120000"/>
              </a:lnSpc>
            </a:pPr>
            <a:r>
              <a:rPr lang="pt-PT" sz="950" noProof="0" dirty="0">
                <a:solidFill>
                  <a:srgbClr val="5A6378"/>
                </a:solidFill>
                <a:latin typeface="Calibri" pitchFamily="34" charset="0"/>
                <a:ea typeface="Calibri" pitchFamily="34" charset="-122"/>
                <a:cs typeface="Calibri" pitchFamily="34" charset="-120"/>
              </a:rPr>
              <a:t>Gravações de vídeo da navegação do utilizador.</a:t>
            </a:r>
            <a:endParaRPr lang="pt-PT" sz="950" noProof="0" dirty="0"/>
          </a:p>
          <a:p>
            <a:pPr>
              <a:lnSpc>
                <a:spcPct val="120000"/>
              </a:lnSpc>
            </a:pPr>
            <a:r>
              <a:rPr lang="pt-PT" sz="950" noProof="0" dirty="0">
                <a:solidFill>
                  <a:srgbClr val="5A6378"/>
                </a:solidFill>
                <a:latin typeface="Calibri" pitchFamily="34" charset="0"/>
                <a:ea typeface="Calibri" pitchFamily="34" charset="-122"/>
                <a:cs typeface="Calibri" pitchFamily="34" charset="-120"/>
              </a:rPr>
              <a:t>Permite rever cada interação e identificar</a:t>
            </a:r>
            <a:endParaRPr lang="pt-PT" sz="950" noProof="0" dirty="0"/>
          </a:p>
          <a:p>
            <a:pPr>
              <a:lnSpc>
                <a:spcPct val="120000"/>
              </a:lnSpc>
            </a:pPr>
            <a:r>
              <a:rPr lang="pt-PT" sz="950" noProof="0" dirty="0">
                <a:solidFill>
                  <a:srgbClr val="5A6378"/>
                </a:solidFill>
                <a:latin typeface="Calibri" pitchFamily="34" charset="0"/>
                <a:ea typeface="Calibri" pitchFamily="34" charset="-122"/>
                <a:cs typeface="Calibri" pitchFamily="34" charset="-120"/>
              </a:rPr>
              <a:t>pontos de dificuldade ou abandono.</a:t>
            </a:r>
            <a:endParaRPr lang="pt-PT" sz="95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DCE1EA"/>
        </a:solidFill>
        <a:effectLst/>
      </p:bgPr>
    </p:bg>
    <p:spTree>
      <p:nvGrpSpPr>
        <p:cNvPr id="1" name=""/>
        <p:cNvGrpSpPr/>
        <p:nvPr/>
      </p:nvGrpSpPr>
      <p:grpSpPr>
        <a:xfrm>
          <a:off x="0" y="0"/>
          <a:ext cx="0" cy="0"/>
          <a:chOff x="0" y="0"/>
          <a:chExt cx="0" cy="0"/>
        </a:xfrm>
      </p:grpSpPr>
      <p:sp>
        <p:nvSpPr>
          <p:cNvPr id="2" name="Text 0"/>
          <p:cNvSpPr/>
          <p:nvPr/>
        </p:nvSpPr>
        <p:spPr>
          <a:xfrm>
            <a:off x="731520" y="320040"/>
            <a:ext cx="4206240" cy="640080"/>
          </a:xfrm>
          <a:prstGeom prst="rect">
            <a:avLst/>
          </a:prstGeom>
          <a:noFill/>
          <a:ln/>
        </p:spPr>
        <p:txBody>
          <a:bodyPr wrap="square" lIns="0" tIns="0" rIns="0" bIns="0" rtlCol="0" anchor="ctr"/>
          <a:lstStyle/>
          <a:p>
            <a:pPr marL="0" indent="0">
              <a:buNone/>
            </a:pPr>
            <a:r>
              <a:rPr lang="pt-PT" sz="3200" b="1" noProof="0" dirty="0">
                <a:solidFill>
                  <a:srgbClr val="1E2335"/>
                </a:solidFill>
                <a:latin typeface="Georgia" pitchFamily="34" charset="0"/>
                <a:ea typeface="Georgia" pitchFamily="34" charset="-122"/>
                <a:cs typeface="Georgia" pitchFamily="34" charset="-120"/>
              </a:rPr>
              <a:t>Net </a:t>
            </a:r>
            <a:r>
              <a:rPr lang="pt-PT" sz="3200" b="1" noProof="0" dirty="0" err="1">
                <a:solidFill>
                  <a:srgbClr val="1E2335"/>
                </a:solidFill>
                <a:latin typeface="Georgia" pitchFamily="34" charset="0"/>
                <a:ea typeface="Georgia" pitchFamily="34" charset="-122"/>
                <a:cs typeface="Georgia" pitchFamily="34" charset="-120"/>
              </a:rPr>
              <a:t>Promoter</a:t>
            </a:r>
            <a:r>
              <a:rPr lang="pt-PT" sz="3200" b="1" noProof="0" dirty="0">
                <a:solidFill>
                  <a:srgbClr val="1E2335"/>
                </a:solidFill>
                <a:latin typeface="Georgia" pitchFamily="34" charset="0"/>
                <a:ea typeface="Georgia" pitchFamily="34" charset="-122"/>
                <a:cs typeface="Georgia" pitchFamily="34" charset="-120"/>
              </a:rPr>
              <a:t> Score</a:t>
            </a:r>
            <a:endParaRPr lang="pt-PT" sz="3200" noProof="0" dirty="0"/>
          </a:p>
        </p:txBody>
      </p:sp>
      <p:sp>
        <p:nvSpPr>
          <p:cNvPr id="3" name="Text 1"/>
          <p:cNvSpPr/>
          <p:nvPr/>
        </p:nvSpPr>
        <p:spPr>
          <a:xfrm>
            <a:off x="731520" y="1051560"/>
            <a:ext cx="7833240" cy="502920"/>
          </a:xfrm>
          <a:prstGeom prst="rect">
            <a:avLst/>
          </a:prstGeom>
          <a:noFill/>
          <a:ln/>
        </p:spPr>
        <p:txBody>
          <a:bodyPr wrap="square" lIns="0" tIns="0" rIns="0" bIns="0" rtlCol="0" anchor="ctr"/>
          <a:lstStyle/>
          <a:p>
            <a:pPr marL="0" indent="0">
              <a:lnSpc>
                <a:spcPct val="135000"/>
              </a:lnSpc>
              <a:buNone/>
            </a:pPr>
            <a:r>
              <a:rPr lang="pt-PT" sz="1200" noProof="0" dirty="0">
                <a:solidFill>
                  <a:srgbClr val="3B4252"/>
                </a:solidFill>
                <a:latin typeface="Calibri" pitchFamily="34" charset="0"/>
                <a:ea typeface="Calibri" pitchFamily="34" charset="-122"/>
                <a:cs typeface="Calibri" pitchFamily="34" charset="-120"/>
              </a:rPr>
              <a:t>O NPS baseia-se apenas numa única pergunta, que é "Qual a probabilidade de recomendar este produto a um amigo?“ numa  escala de 0 a 10 , e tornou-se uma das métricas mais populares na indústria para medir a lealdade do cliente perante a marca.</a:t>
            </a:r>
            <a:endParaRPr lang="pt-PT" sz="1200" noProof="0" dirty="0"/>
          </a:p>
        </p:txBody>
      </p:sp>
      <p:sp>
        <p:nvSpPr>
          <p:cNvPr id="4" name="Shape 2"/>
          <p:cNvSpPr/>
          <p:nvPr/>
        </p:nvSpPr>
        <p:spPr>
          <a:xfrm>
            <a:off x="758952" y="1783080"/>
            <a:ext cx="7680960" cy="201168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5" name="Shape 3"/>
          <p:cNvSpPr/>
          <p:nvPr/>
        </p:nvSpPr>
        <p:spPr>
          <a:xfrm>
            <a:off x="1097280" y="1965960"/>
            <a:ext cx="548640" cy="438912"/>
          </a:xfrm>
          <a:prstGeom prst="rect">
            <a:avLst/>
          </a:prstGeom>
          <a:solidFill>
            <a:srgbClr val="A05555"/>
          </a:solidFill>
          <a:ln/>
        </p:spPr>
        <p:txBody>
          <a:bodyPr/>
          <a:lstStyle/>
          <a:p>
            <a:endParaRPr lang="pt-PT" noProof="0" dirty="0"/>
          </a:p>
        </p:txBody>
      </p:sp>
      <p:sp>
        <p:nvSpPr>
          <p:cNvPr id="6" name="Text 4"/>
          <p:cNvSpPr/>
          <p:nvPr/>
        </p:nvSpPr>
        <p:spPr>
          <a:xfrm>
            <a:off x="1097280" y="1965960"/>
            <a:ext cx="548640" cy="438912"/>
          </a:xfrm>
          <a:prstGeom prst="rect">
            <a:avLst/>
          </a:prstGeom>
          <a:noFill/>
          <a:ln/>
        </p:spPr>
        <p:txBody>
          <a:bodyPr wrap="square" lIns="0" tIns="0" rIns="0" bIns="0" rtlCol="0" anchor="ctr"/>
          <a:lstStyle/>
          <a:p>
            <a:pPr marL="0" indent="0" algn="ctr">
              <a:buNone/>
            </a:pPr>
            <a:r>
              <a:rPr lang="pt-PT" sz="1500" b="1" noProof="0" dirty="0">
                <a:solidFill>
                  <a:srgbClr val="FFFFFF"/>
                </a:solidFill>
                <a:latin typeface="Georgia" pitchFamily="34" charset="0"/>
                <a:ea typeface="Georgia" pitchFamily="34" charset="-122"/>
                <a:cs typeface="Georgia" pitchFamily="34" charset="-120"/>
              </a:rPr>
              <a:t>0</a:t>
            </a:r>
            <a:endParaRPr lang="pt-PT" sz="1500" noProof="0" dirty="0"/>
          </a:p>
        </p:txBody>
      </p:sp>
      <p:sp>
        <p:nvSpPr>
          <p:cNvPr id="7" name="Shape 5"/>
          <p:cNvSpPr/>
          <p:nvPr/>
        </p:nvSpPr>
        <p:spPr>
          <a:xfrm>
            <a:off x="1737360" y="1965960"/>
            <a:ext cx="548640" cy="438912"/>
          </a:xfrm>
          <a:prstGeom prst="rect">
            <a:avLst/>
          </a:prstGeom>
          <a:solidFill>
            <a:srgbClr val="A05555"/>
          </a:solidFill>
          <a:ln/>
        </p:spPr>
        <p:txBody>
          <a:bodyPr/>
          <a:lstStyle/>
          <a:p>
            <a:endParaRPr lang="pt-PT" noProof="0" dirty="0"/>
          </a:p>
        </p:txBody>
      </p:sp>
      <p:sp>
        <p:nvSpPr>
          <p:cNvPr id="8" name="Text 6"/>
          <p:cNvSpPr/>
          <p:nvPr/>
        </p:nvSpPr>
        <p:spPr>
          <a:xfrm>
            <a:off x="1737360" y="1965960"/>
            <a:ext cx="548640" cy="438912"/>
          </a:xfrm>
          <a:prstGeom prst="rect">
            <a:avLst/>
          </a:prstGeom>
          <a:noFill/>
          <a:ln/>
        </p:spPr>
        <p:txBody>
          <a:bodyPr wrap="square" lIns="0" tIns="0" rIns="0" bIns="0" rtlCol="0" anchor="ctr"/>
          <a:lstStyle/>
          <a:p>
            <a:pPr marL="0" indent="0" algn="ctr">
              <a:buNone/>
            </a:pPr>
            <a:r>
              <a:rPr lang="pt-PT" sz="1500" b="1" noProof="0" dirty="0">
                <a:solidFill>
                  <a:srgbClr val="FFFFFF"/>
                </a:solidFill>
                <a:latin typeface="Georgia" pitchFamily="34" charset="0"/>
                <a:ea typeface="Georgia" pitchFamily="34" charset="-122"/>
                <a:cs typeface="Georgia" pitchFamily="34" charset="-120"/>
              </a:rPr>
              <a:t>1</a:t>
            </a:r>
            <a:endParaRPr lang="pt-PT" sz="1500" noProof="0" dirty="0"/>
          </a:p>
        </p:txBody>
      </p:sp>
      <p:sp>
        <p:nvSpPr>
          <p:cNvPr id="9" name="Shape 7"/>
          <p:cNvSpPr/>
          <p:nvPr/>
        </p:nvSpPr>
        <p:spPr>
          <a:xfrm>
            <a:off x="2377440" y="1965960"/>
            <a:ext cx="548640" cy="438912"/>
          </a:xfrm>
          <a:prstGeom prst="rect">
            <a:avLst/>
          </a:prstGeom>
          <a:solidFill>
            <a:srgbClr val="A05555"/>
          </a:solidFill>
          <a:ln/>
        </p:spPr>
        <p:txBody>
          <a:bodyPr/>
          <a:lstStyle/>
          <a:p>
            <a:endParaRPr lang="pt-PT" noProof="0" dirty="0"/>
          </a:p>
        </p:txBody>
      </p:sp>
      <p:sp>
        <p:nvSpPr>
          <p:cNvPr id="10" name="Text 8"/>
          <p:cNvSpPr/>
          <p:nvPr/>
        </p:nvSpPr>
        <p:spPr>
          <a:xfrm>
            <a:off x="2377440" y="1965960"/>
            <a:ext cx="548640" cy="438912"/>
          </a:xfrm>
          <a:prstGeom prst="rect">
            <a:avLst/>
          </a:prstGeom>
          <a:noFill/>
          <a:ln/>
        </p:spPr>
        <p:txBody>
          <a:bodyPr wrap="square" lIns="0" tIns="0" rIns="0" bIns="0" rtlCol="0" anchor="ctr"/>
          <a:lstStyle/>
          <a:p>
            <a:pPr marL="0" indent="0" algn="ctr">
              <a:buNone/>
            </a:pPr>
            <a:r>
              <a:rPr lang="pt-PT" sz="1500" b="1" noProof="0" dirty="0">
                <a:solidFill>
                  <a:srgbClr val="FFFFFF"/>
                </a:solidFill>
                <a:latin typeface="Georgia" pitchFamily="34" charset="0"/>
                <a:ea typeface="Georgia" pitchFamily="34" charset="-122"/>
                <a:cs typeface="Georgia" pitchFamily="34" charset="-120"/>
              </a:rPr>
              <a:t>2</a:t>
            </a:r>
            <a:endParaRPr lang="pt-PT" sz="1500" noProof="0" dirty="0"/>
          </a:p>
        </p:txBody>
      </p:sp>
      <p:sp>
        <p:nvSpPr>
          <p:cNvPr id="11" name="Shape 9"/>
          <p:cNvSpPr/>
          <p:nvPr/>
        </p:nvSpPr>
        <p:spPr>
          <a:xfrm>
            <a:off x="3017520" y="1965960"/>
            <a:ext cx="548640" cy="438912"/>
          </a:xfrm>
          <a:prstGeom prst="rect">
            <a:avLst/>
          </a:prstGeom>
          <a:solidFill>
            <a:srgbClr val="A05555"/>
          </a:solidFill>
          <a:ln/>
        </p:spPr>
        <p:txBody>
          <a:bodyPr/>
          <a:lstStyle/>
          <a:p>
            <a:endParaRPr lang="pt-PT" noProof="0" dirty="0"/>
          </a:p>
        </p:txBody>
      </p:sp>
      <p:sp>
        <p:nvSpPr>
          <p:cNvPr id="12" name="Text 10"/>
          <p:cNvSpPr/>
          <p:nvPr/>
        </p:nvSpPr>
        <p:spPr>
          <a:xfrm>
            <a:off x="3017520" y="1965960"/>
            <a:ext cx="548640" cy="438912"/>
          </a:xfrm>
          <a:prstGeom prst="rect">
            <a:avLst/>
          </a:prstGeom>
          <a:noFill/>
          <a:ln/>
        </p:spPr>
        <p:txBody>
          <a:bodyPr wrap="square" lIns="0" tIns="0" rIns="0" bIns="0" rtlCol="0" anchor="ctr"/>
          <a:lstStyle/>
          <a:p>
            <a:pPr marL="0" indent="0" algn="ctr">
              <a:buNone/>
            </a:pPr>
            <a:r>
              <a:rPr lang="pt-PT" sz="1500" b="1" noProof="0" dirty="0">
                <a:solidFill>
                  <a:srgbClr val="FFFFFF"/>
                </a:solidFill>
                <a:latin typeface="Georgia" pitchFamily="34" charset="0"/>
                <a:ea typeface="Georgia" pitchFamily="34" charset="-122"/>
                <a:cs typeface="Georgia" pitchFamily="34" charset="-120"/>
              </a:rPr>
              <a:t>3</a:t>
            </a:r>
            <a:endParaRPr lang="pt-PT" sz="1500" noProof="0" dirty="0"/>
          </a:p>
        </p:txBody>
      </p:sp>
      <p:sp>
        <p:nvSpPr>
          <p:cNvPr id="13" name="Shape 11"/>
          <p:cNvSpPr/>
          <p:nvPr/>
        </p:nvSpPr>
        <p:spPr>
          <a:xfrm>
            <a:off x="3657600" y="1965960"/>
            <a:ext cx="548640" cy="438912"/>
          </a:xfrm>
          <a:prstGeom prst="rect">
            <a:avLst/>
          </a:prstGeom>
          <a:solidFill>
            <a:srgbClr val="A05555"/>
          </a:solidFill>
          <a:ln/>
        </p:spPr>
        <p:txBody>
          <a:bodyPr/>
          <a:lstStyle/>
          <a:p>
            <a:endParaRPr lang="pt-PT" noProof="0" dirty="0"/>
          </a:p>
        </p:txBody>
      </p:sp>
      <p:sp>
        <p:nvSpPr>
          <p:cNvPr id="14" name="Text 12"/>
          <p:cNvSpPr/>
          <p:nvPr/>
        </p:nvSpPr>
        <p:spPr>
          <a:xfrm>
            <a:off x="3657600" y="1965960"/>
            <a:ext cx="548640" cy="438912"/>
          </a:xfrm>
          <a:prstGeom prst="rect">
            <a:avLst/>
          </a:prstGeom>
          <a:noFill/>
          <a:ln/>
        </p:spPr>
        <p:txBody>
          <a:bodyPr wrap="square" lIns="0" tIns="0" rIns="0" bIns="0" rtlCol="0" anchor="ctr"/>
          <a:lstStyle/>
          <a:p>
            <a:pPr marL="0" indent="0" algn="ctr">
              <a:buNone/>
            </a:pPr>
            <a:r>
              <a:rPr lang="pt-PT" sz="1500" b="1" noProof="0" dirty="0">
                <a:solidFill>
                  <a:srgbClr val="FFFFFF"/>
                </a:solidFill>
                <a:latin typeface="Georgia" pitchFamily="34" charset="0"/>
                <a:ea typeface="Georgia" pitchFamily="34" charset="-122"/>
                <a:cs typeface="Georgia" pitchFamily="34" charset="-120"/>
              </a:rPr>
              <a:t>4</a:t>
            </a:r>
            <a:endParaRPr lang="pt-PT" sz="1500" noProof="0" dirty="0"/>
          </a:p>
        </p:txBody>
      </p:sp>
      <p:sp>
        <p:nvSpPr>
          <p:cNvPr id="15" name="Shape 13"/>
          <p:cNvSpPr/>
          <p:nvPr/>
        </p:nvSpPr>
        <p:spPr>
          <a:xfrm>
            <a:off x="4297680" y="1965960"/>
            <a:ext cx="548640" cy="438912"/>
          </a:xfrm>
          <a:prstGeom prst="rect">
            <a:avLst/>
          </a:prstGeom>
          <a:solidFill>
            <a:srgbClr val="A05555"/>
          </a:solidFill>
          <a:ln/>
        </p:spPr>
        <p:txBody>
          <a:bodyPr/>
          <a:lstStyle/>
          <a:p>
            <a:endParaRPr lang="pt-PT" noProof="0" dirty="0"/>
          </a:p>
        </p:txBody>
      </p:sp>
      <p:sp>
        <p:nvSpPr>
          <p:cNvPr id="16" name="Text 14"/>
          <p:cNvSpPr/>
          <p:nvPr/>
        </p:nvSpPr>
        <p:spPr>
          <a:xfrm>
            <a:off x="4297680" y="1965960"/>
            <a:ext cx="548640" cy="438912"/>
          </a:xfrm>
          <a:prstGeom prst="rect">
            <a:avLst/>
          </a:prstGeom>
          <a:noFill/>
          <a:ln/>
        </p:spPr>
        <p:txBody>
          <a:bodyPr wrap="square" lIns="0" tIns="0" rIns="0" bIns="0" rtlCol="0" anchor="ctr"/>
          <a:lstStyle/>
          <a:p>
            <a:pPr marL="0" indent="0" algn="ctr">
              <a:buNone/>
            </a:pPr>
            <a:r>
              <a:rPr lang="pt-PT" sz="1500" b="1" noProof="0" dirty="0">
                <a:solidFill>
                  <a:srgbClr val="FFFFFF"/>
                </a:solidFill>
                <a:latin typeface="Georgia" pitchFamily="34" charset="0"/>
                <a:ea typeface="Georgia" pitchFamily="34" charset="-122"/>
                <a:cs typeface="Georgia" pitchFamily="34" charset="-120"/>
              </a:rPr>
              <a:t>5</a:t>
            </a:r>
            <a:endParaRPr lang="pt-PT" sz="1500" noProof="0" dirty="0"/>
          </a:p>
        </p:txBody>
      </p:sp>
      <p:sp>
        <p:nvSpPr>
          <p:cNvPr id="17" name="Shape 15"/>
          <p:cNvSpPr/>
          <p:nvPr/>
        </p:nvSpPr>
        <p:spPr>
          <a:xfrm>
            <a:off x="4937760" y="1965960"/>
            <a:ext cx="548640" cy="438912"/>
          </a:xfrm>
          <a:prstGeom prst="rect">
            <a:avLst/>
          </a:prstGeom>
          <a:solidFill>
            <a:srgbClr val="A05555"/>
          </a:solidFill>
          <a:ln/>
        </p:spPr>
        <p:txBody>
          <a:bodyPr/>
          <a:lstStyle/>
          <a:p>
            <a:endParaRPr lang="pt-PT" noProof="0" dirty="0"/>
          </a:p>
        </p:txBody>
      </p:sp>
      <p:sp>
        <p:nvSpPr>
          <p:cNvPr id="18" name="Text 16"/>
          <p:cNvSpPr/>
          <p:nvPr/>
        </p:nvSpPr>
        <p:spPr>
          <a:xfrm>
            <a:off x="4937760" y="1965960"/>
            <a:ext cx="548640" cy="438912"/>
          </a:xfrm>
          <a:prstGeom prst="rect">
            <a:avLst/>
          </a:prstGeom>
          <a:noFill/>
          <a:ln/>
        </p:spPr>
        <p:txBody>
          <a:bodyPr wrap="square" lIns="0" tIns="0" rIns="0" bIns="0" rtlCol="0" anchor="ctr"/>
          <a:lstStyle/>
          <a:p>
            <a:pPr marL="0" indent="0" algn="ctr">
              <a:buNone/>
            </a:pPr>
            <a:r>
              <a:rPr lang="pt-PT" sz="1500" b="1" noProof="0" dirty="0">
                <a:solidFill>
                  <a:srgbClr val="FFFFFF"/>
                </a:solidFill>
                <a:latin typeface="Georgia" pitchFamily="34" charset="0"/>
                <a:ea typeface="Georgia" pitchFamily="34" charset="-122"/>
                <a:cs typeface="Georgia" pitchFamily="34" charset="-120"/>
              </a:rPr>
              <a:t>6</a:t>
            </a:r>
            <a:endParaRPr lang="pt-PT" sz="1500" noProof="0" dirty="0"/>
          </a:p>
        </p:txBody>
      </p:sp>
      <p:sp>
        <p:nvSpPr>
          <p:cNvPr id="19" name="Shape 17"/>
          <p:cNvSpPr/>
          <p:nvPr/>
        </p:nvSpPr>
        <p:spPr>
          <a:xfrm>
            <a:off x="5577840" y="1965960"/>
            <a:ext cx="548640" cy="438912"/>
          </a:xfrm>
          <a:prstGeom prst="rect">
            <a:avLst/>
          </a:prstGeom>
          <a:solidFill>
            <a:srgbClr val="B8863B"/>
          </a:solidFill>
          <a:ln/>
        </p:spPr>
        <p:txBody>
          <a:bodyPr/>
          <a:lstStyle/>
          <a:p>
            <a:endParaRPr lang="pt-PT" noProof="0" dirty="0"/>
          </a:p>
        </p:txBody>
      </p:sp>
      <p:sp>
        <p:nvSpPr>
          <p:cNvPr id="20" name="Text 18"/>
          <p:cNvSpPr/>
          <p:nvPr/>
        </p:nvSpPr>
        <p:spPr>
          <a:xfrm>
            <a:off x="5577840" y="1965960"/>
            <a:ext cx="548640" cy="438912"/>
          </a:xfrm>
          <a:prstGeom prst="rect">
            <a:avLst/>
          </a:prstGeom>
          <a:noFill/>
          <a:ln/>
        </p:spPr>
        <p:txBody>
          <a:bodyPr wrap="square" lIns="0" tIns="0" rIns="0" bIns="0" rtlCol="0" anchor="ctr"/>
          <a:lstStyle/>
          <a:p>
            <a:pPr marL="0" indent="0" algn="ctr">
              <a:buNone/>
            </a:pPr>
            <a:r>
              <a:rPr lang="pt-PT" sz="1500" b="1" noProof="0" dirty="0">
                <a:solidFill>
                  <a:srgbClr val="FFFFFF"/>
                </a:solidFill>
                <a:latin typeface="Georgia" pitchFamily="34" charset="0"/>
                <a:ea typeface="Georgia" pitchFamily="34" charset="-122"/>
                <a:cs typeface="Georgia" pitchFamily="34" charset="-120"/>
              </a:rPr>
              <a:t>7</a:t>
            </a:r>
            <a:endParaRPr lang="pt-PT" sz="1500" noProof="0" dirty="0"/>
          </a:p>
        </p:txBody>
      </p:sp>
      <p:sp>
        <p:nvSpPr>
          <p:cNvPr id="21" name="Shape 19"/>
          <p:cNvSpPr/>
          <p:nvPr/>
        </p:nvSpPr>
        <p:spPr>
          <a:xfrm>
            <a:off x="6217920" y="1965960"/>
            <a:ext cx="548640" cy="438912"/>
          </a:xfrm>
          <a:prstGeom prst="rect">
            <a:avLst/>
          </a:prstGeom>
          <a:solidFill>
            <a:srgbClr val="B8863B"/>
          </a:solidFill>
          <a:ln/>
        </p:spPr>
        <p:txBody>
          <a:bodyPr/>
          <a:lstStyle/>
          <a:p>
            <a:endParaRPr lang="pt-PT" noProof="0" dirty="0"/>
          </a:p>
        </p:txBody>
      </p:sp>
      <p:sp>
        <p:nvSpPr>
          <p:cNvPr id="22" name="Text 20"/>
          <p:cNvSpPr/>
          <p:nvPr/>
        </p:nvSpPr>
        <p:spPr>
          <a:xfrm>
            <a:off x="6217920" y="1965960"/>
            <a:ext cx="548640" cy="438912"/>
          </a:xfrm>
          <a:prstGeom prst="rect">
            <a:avLst/>
          </a:prstGeom>
          <a:noFill/>
          <a:ln/>
        </p:spPr>
        <p:txBody>
          <a:bodyPr wrap="square" lIns="0" tIns="0" rIns="0" bIns="0" rtlCol="0" anchor="ctr"/>
          <a:lstStyle/>
          <a:p>
            <a:pPr marL="0" indent="0" algn="ctr">
              <a:buNone/>
            </a:pPr>
            <a:r>
              <a:rPr lang="pt-PT" sz="1500" b="1" noProof="0" dirty="0">
                <a:solidFill>
                  <a:srgbClr val="FFFFFF"/>
                </a:solidFill>
                <a:latin typeface="Georgia" pitchFamily="34" charset="0"/>
                <a:ea typeface="Georgia" pitchFamily="34" charset="-122"/>
                <a:cs typeface="Georgia" pitchFamily="34" charset="-120"/>
              </a:rPr>
              <a:t>8</a:t>
            </a:r>
            <a:endParaRPr lang="pt-PT" sz="1500" noProof="0" dirty="0"/>
          </a:p>
        </p:txBody>
      </p:sp>
      <p:sp>
        <p:nvSpPr>
          <p:cNvPr id="23" name="Shape 21"/>
          <p:cNvSpPr/>
          <p:nvPr/>
        </p:nvSpPr>
        <p:spPr>
          <a:xfrm>
            <a:off x="6858000" y="1965960"/>
            <a:ext cx="548640" cy="438912"/>
          </a:xfrm>
          <a:prstGeom prst="rect">
            <a:avLst/>
          </a:prstGeom>
          <a:solidFill>
            <a:srgbClr val="5B8C7B"/>
          </a:solidFill>
          <a:ln/>
        </p:spPr>
        <p:txBody>
          <a:bodyPr/>
          <a:lstStyle/>
          <a:p>
            <a:endParaRPr lang="pt-PT" noProof="0" dirty="0"/>
          </a:p>
        </p:txBody>
      </p:sp>
      <p:sp>
        <p:nvSpPr>
          <p:cNvPr id="24" name="Text 22"/>
          <p:cNvSpPr/>
          <p:nvPr/>
        </p:nvSpPr>
        <p:spPr>
          <a:xfrm>
            <a:off x="6858000" y="1965960"/>
            <a:ext cx="548640" cy="438912"/>
          </a:xfrm>
          <a:prstGeom prst="rect">
            <a:avLst/>
          </a:prstGeom>
          <a:noFill/>
          <a:ln/>
        </p:spPr>
        <p:txBody>
          <a:bodyPr wrap="square" lIns="0" tIns="0" rIns="0" bIns="0" rtlCol="0" anchor="ctr"/>
          <a:lstStyle/>
          <a:p>
            <a:pPr marL="0" indent="0" algn="ctr">
              <a:buNone/>
            </a:pPr>
            <a:r>
              <a:rPr lang="pt-PT" sz="1500" b="1" noProof="0" dirty="0">
                <a:solidFill>
                  <a:srgbClr val="FFFFFF"/>
                </a:solidFill>
                <a:latin typeface="Georgia" pitchFamily="34" charset="0"/>
                <a:ea typeface="Georgia" pitchFamily="34" charset="-122"/>
                <a:cs typeface="Georgia" pitchFamily="34" charset="-120"/>
              </a:rPr>
              <a:t>9</a:t>
            </a:r>
            <a:endParaRPr lang="pt-PT" sz="1500" noProof="0" dirty="0"/>
          </a:p>
        </p:txBody>
      </p:sp>
      <p:sp>
        <p:nvSpPr>
          <p:cNvPr id="25" name="Shape 23"/>
          <p:cNvSpPr/>
          <p:nvPr/>
        </p:nvSpPr>
        <p:spPr>
          <a:xfrm>
            <a:off x="7498080" y="1965960"/>
            <a:ext cx="548640" cy="438912"/>
          </a:xfrm>
          <a:prstGeom prst="rect">
            <a:avLst/>
          </a:prstGeom>
          <a:solidFill>
            <a:srgbClr val="5B8C7B"/>
          </a:solidFill>
          <a:ln/>
        </p:spPr>
        <p:txBody>
          <a:bodyPr/>
          <a:lstStyle/>
          <a:p>
            <a:endParaRPr lang="pt-PT" noProof="0" dirty="0"/>
          </a:p>
        </p:txBody>
      </p:sp>
      <p:sp>
        <p:nvSpPr>
          <p:cNvPr id="26" name="Text 24"/>
          <p:cNvSpPr/>
          <p:nvPr/>
        </p:nvSpPr>
        <p:spPr>
          <a:xfrm>
            <a:off x="7498080" y="1965960"/>
            <a:ext cx="548640" cy="438912"/>
          </a:xfrm>
          <a:prstGeom prst="rect">
            <a:avLst/>
          </a:prstGeom>
          <a:noFill/>
          <a:ln/>
        </p:spPr>
        <p:txBody>
          <a:bodyPr wrap="square" lIns="0" tIns="0" rIns="0" bIns="0" rtlCol="0" anchor="ctr"/>
          <a:lstStyle/>
          <a:p>
            <a:pPr marL="0" indent="0" algn="ctr">
              <a:buNone/>
            </a:pPr>
            <a:r>
              <a:rPr lang="pt-PT" sz="1500" b="1" noProof="0" dirty="0">
                <a:solidFill>
                  <a:srgbClr val="FFFFFF"/>
                </a:solidFill>
                <a:latin typeface="Georgia" pitchFamily="34" charset="0"/>
                <a:ea typeface="Georgia" pitchFamily="34" charset="-122"/>
                <a:cs typeface="Georgia" pitchFamily="34" charset="-120"/>
              </a:rPr>
              <a:t>10</a:t>
            </a:r>
            <a:endParaRPr lang="pt-PT" sz="1500" noProof="0" dirty="0"/>
          </a:p>
        </p:txBody>
      </p:sp>
      <p:sp>
        <p:nvSpPr>
          <p:cNvPr id="27" name="Text 25"/>
          <p:cNvSpPr/>
          <p:nvPr/>
        </p:nvSpPr>
        <p:spPr>
          <a:xfrm>
            <a:off x="1097280" y="2514600"/>
            <a:ext cx="4480560" cy="228600"/>
          </a:xfrm>
          <a:prstGeom prst="rect">
            <a:avLst/>
          </a:prstGeom>
          <a:noFill/>
          <a:ln/>
        </p:spPr>
        <p:txBody>
          <a:bodyPr wrap="square" lIns="0" tIns="0" rIns="0" bIns="0" rtlCol="0" anchor="ctr"/>
          <a:lstStyle/>
          <a:p>
            <a:pPr marL="0" indent="0" algn="ctr">
              <a:buNone/>
            </a:pPr>
            <a:r>
              <a:rPr lang="pt-PT" sz="900" b="1" noProof="0" dirty="0">
                <a:solidFill>
                  <a:srgbClr val="A05555"/>
                </a:solidFill>
                <a:latin typeface="Georgia" pitchFamily="34" charset="0"/>
                <a:ea typeface="Georgia" pitchFamily="34" charset="-122"/>
                <a:cs typeface="Georgia" pitchFamily="34" charset="-120"/>
              </a:rPr>
              <a:t>Críticos (0–6)</a:t>
            </a:r>
            <a:endParaRPr lang="pt-PT" sz="900" noProof="0" dirty="0"/>
          </a:p>
        </p:txBody>
      </p:sp>
      <p:sp>
        <p:nvSpPr>
          <p:cNvPr id="28" name="Text 26"/>
          <p:cNvSpPr/>
          <p:nvPr/>
        </p:nvSpPr>
        <p:spPr>
          <a:xfrm>
            <a:off x="5577840" y="2514600"/>
            <a:ext cx="1280160" cy="228600"/>
          </a:xfrm>
          <a:prstGeom prst="rect">
            <a:avLst/>
          </a:prstGeom>
          <a:noFill/>
          <a:ln/>
        </p:spPr>
        <p:txBody>
          <a:bodyPr wrap="square" lIns="0" tIns="0" rIns="0" bIns="0" rtlCol="0" anchor="ctr"/>
          <a:lstStyle/>
          <a:p>
            <a:pPr marL="0" indent="0" algn="ctr">
              <a:buNone/>
            </a:pPr>
            <a:r>
              <a:rPr lang="pt-PT" sz="900" b="1" noProof="0" dirty="0">
                <a:solidFill>
                  <a:srgbClr val="B8863B"/>
                </a:solidFill>
                <a:latin typeface="Georgia" pitchFamily="34" charset="0"/>
                <a:ea typeface="Georgia" pitchFamily="34" charset="-122"/>
                <a:cs typeface="Georgia" pitchFamily="34" charset="-120"/>
              </a:rPr>
              <a:t>Passivos (7–8)</a:t>
            </a:r>
            <a:endParaRPr lang="pt-PT" sz="900" noProof="0" dirty="0"/>
          </a:p>
        </p:txBody>
      </p:sp>
      <p:sp>
        <p:nvSpPr>
          <p:cNvPr id="29" name="Text 27"/>
          <p:cNvSpPr/>
          <p:nvPr/>
        </p:nvSpPr>
        <p:spPr>
          <a:xfrm>
            <a:off x="6858000" y="2514600"/>
            <a:ext cx="1280160" cy="228600"/>
          </a:xfrm>
          <a:prstGeom prst="rect">
            <a:avLst/>
          </a:prstGeom>
          <a:noFill/>
          <a:ln/>
        </p:spPr>
        <p:txBody>
          <a:bodyPr wrap="square" lIns="0" tIns="0" rIns="0" bIns="0" rtlCol="0" anchor="ctr"/>
          <a:lstStyle/>
          <a:p>
            <a:pPr marL="0" indent="0" algn="ctr">
              <a:buNone/>
            </a:pPr>
            <a:r>
              <a:rPr lang="pt-PT" sz="900" b="1" noProof="0" dirty="0">
                <a:solidFill>
                  <a:srgbClr val="5B8C7B"/>
                </a:solidFill>
                <a:latin typeface="Georgia" pitchFamily="34" charset="0"/>
                <a:ea typeface="Georgia" pitchFamily="34" charset="-122"/>
                <a:cs typeface="Georgia" pitchFamily="34" charset="-120"/>
              </a:rPr>
              <a:t>Promotores (9–10)</a:t>
            </a:r>
            <a:endParaRPr lang="pt-PT" sz="900" noProof="0" dirty="0"/>
          </a:p>
        </p:txBody>
      </p:sp>
      <p:sp>
        <p:nvSpPr>
          <p:cNvPr id="30" name="Text 28"/>
          <p:cNvSpPr/>
          <p:nvPr/>
        </p:nvSpPr>
        <p:spPr>
          <a:xfrm>
            <a:off x="2706040" y="2880360"/>
            <a:ext cx="3749040" cy="320040"/>
          </a:xfrm>
          <a:prstGeom prst="rect">
            <a:avLst/>
          </a:prstGeom>
          <a:noFill/>
          <a:ln/>
        </p:spPr>
        <p:txBody>
          <a:bodyPr wrap="square" lIns="0" tIns="0" rIns="0" bIns="0" rtlCol="0" anchor="ctr"/>
          <a:lstStyle/>
          <a:p>
            <a:pPr marL="0" indent="0" algn="ctr">
              <a:buNone/>
            </a:pPr>
            <a:r>
              <a:rPr lang="pt-PT" sz="1600" b="1" noProof="0" dirty="0">
                <a:solidFill>
                  <a:srgbClr val="1E2335"/>
                </a:solidFill>
                <a:latin typeface="Georgia" pitchFamily="34" charset="0"/>
                <a:ea typeface="Georgia" pitchFamily="34" charset="-122"/>
                <a:cs typeface="Georgia" pitchFamily="34" charset="-120"/>
              </a:rPr>
              <a:t>NPS  =  % Promotores  −  % Críticos</a:t>
            </a:r>
            <a:endParaRPr lang="pt-PT" sz="1600" noProof="0" dirty="0"/>
          </a:p>
        </p:txBody>
      </p:sp>
      <p:sp>
        <p:nvSpPr>
          <p:cNvPr id="31" name="Text 29"/>
          <p:cNvSpPr/>
          <p:nvPr/>
        </p:nvSpPr>
        <p:spPr>
          <a:xfrm>
            <a:off x="3914762" y="3200400"/>
            <a:ext cx="1368742" cy="228600"/>
          </a:xfrm>
          <a:prstGeom prst="rect">
            <a:avLst/>
          </a:prstGeom>
          <a:noFill/>
          <a:ln/>
        </p:spPr>
        <p:txBody>
          <a:bodyPr wrap="square" lIns="0" tIns="0" rIns="0" bIns="0" rtlCol="0" anchor="ctr"/>
          <a:lstStyle/>
          <a:p>
            <a:pPr marL="0" indent="0" algn="ctr">
              <a:buNone/>
            </a:pPr>
            <a:r>
              <a:rPr lang="pt-PT" sz="900" noProof="0" dirty="0">
                <a:solidFill>
                  <a:srgbClr val="5A6378"/>
                </a:solidFill>
                <a:latin typeface="Calibri" pitchFamily="34" charset="0"/>
                <a:ea typeface="Calibri" pitchFamily="34" charset="-122"/>
                <a:cs typeface="Calibri" pitchFamily="34" charset="-120"/>
              </a:rPr>
              <a:t>Resultado entre −100 e +100</a:t>
            </a:r>
            <a:endParaRPr lang="pt-PT" sz="900" noProof="0" dirty="0"/>
          </a:p>
        </p:txBody>
      </p:sp>
      <p:sp>
        <p:nvSpPr>
          <p:cNvPr id="32" name="Shape 30"/>
          <p:cNvSpPr/>
          <p:nvPr/>
        </p:nvSpPr>
        <p:spPr>
          <a:xfrm>
            <a:off x="731520" y="3931920"/>
            <a:ext cx="7680960" cy="640080"/>
          </a:xfrm>
          <a:prstGeom prst="rect">
            <a:avLst/>
          </a:prstGeom>
          <a:solidFill>
            <a:srgbClr val="F5EEE0"/>
          </a:solidFill>
          <a:ln/>
        </p:spPr>
        <p:txBody>
          <a:bodyPr/>
          <a:lstStyle/>
          <a:p>
            <a:endParaRPr lang="pt-PT" noProof="0" dirty="0"/>
          </a:p>
        </p:txBody>
      </p:sp>
      <p:sp>
        <p:nvSpPr>
          <p:cNvPr id="33" name="Shape 31"/>
          <p:cNvSpPr/>
          <p:nvPr/>
        </p:nvSpPr>
        <p:spPr>
          <a:xfrm>
            <a:off x="731520" y="3931920"/>
            <a:ext cx="54864" cy="640080"/>
          </a:xfrm>
          <a:prstGeom prst="rect">
            <a:avLst/>
          </a:prstGeom>
          <a:solidFill>
            <a:srgbClr val="B8863B"/>
          </a:solidFill>
          <a:ln/>
        </p:spPr>
        <p:txBody>
          <a:bodyPr/>
          <a:lstStyle/>
          <a:p>
            <a:endParaRPr lang="pt-PT" noProof="0" dirty="0"/>
          </a:p>
        </p:txBody>
      </p:sp>
      <p:sp>
        <p:nvSpPr>
          <p:cNvPr id="34" name="Text 32"/>
          <p:cNvSpPr/>
          <p:nvPr/>
        </p:nvSpPr>
        <p:spPr>
          <a:xfrm>
            <a:off x="1005840" y="3959352"/>
            <a:ext cx="7132320" cy="566928"/>
          </a:xfrm>
          <a:prstGeom prst="rect">
            <a:avLst/>
          </a:prstGeom>
          <a:noFill/>
          <a:ln/>
        </p:spPr>
        <p:txBody>
          <a:bodyPr wrap="square" lIns="0" tIns="0" rIns="0" bIns="0" rtlCol="0" anchor="ctr"/>
          <a:lstStyle/>
          <a:p>
            <a:pPr marL="0" indent="0">
              <a:lnSpc>
                <a:spcPct val="120000"/>
              </a:lnSpc>
              <a:buNone/>
            </a:pPr>
            <a:r>
              <a:rPr lang="pt-PT" sz="900" noProof="0" dirty="0">
                <a:solidFill>
                  <a:srgbClr val="6B5A30"/>
                </a:solidFill>
                <a:latin typeface="Calibri" pitchFamily="34" charset="0"/>
                <a:ea typeface="Calibri" pitchFamily="34" charset="-122"/>
                <a:cs typeface="Calibri" pitchFamily="34" charset="-120"/>
              </a:rPr>
              <a:t>Nota: Estudos posteriores demonstraram que o poder previsões do NPS sobre o crescimento empresarial é inferior ao originalmente assumido. Um estudo com mais de 15.000 entrevistas concluiu que o NPS não supera outros índices de satisfação, atualmente utilizados hoje em dia.</a:t>
            </a:r>
            <a:endParaRPr lang="pt-PT" sz="9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DCE1EA"/>
        </a:solidFill>
        <a:effectLst/>
      </p:bgPr>
    </p:bg>
    <p:spTree>
      <p:nvGrpSpPr>
        <p:cNvPr id="1" name=""/>
        <p:cNvGrpSpPr/>
        <p:nvPr/>
      </p:nvGrpSpPr>
      <p:grpSpPr>
        <a:xfrm>
          <a:off x="0" y="0"/>
          <a:ext cx="0" cy="0"/>
          <a:chOff x="0" y="0"/>
          <a:chExt cx="0" cy="0"/>
        </a:xfrm>
      </p:grpSpPr>
      <p:sp>
        <p:nvSpPr>
          <p:cNvPr id="2" name="Text 0"/>
          <p:cNvSpPr/>
          <p:nvPr/>
        </p:nvSpPr>
        <p:spPr>
          <a:xfrm>
            <a:off x="731520" y="320040"/>
            <a:ext cx="7315200" cy="640080"/>
          </a:xfrm>
          <a:prstGeom prst="rect">
            <a:avLst/>
          </a:prstGeom>
          <a:noFill/>
          <a:ln/>
        </p:spPr>
        <p:txBody>
          <a:bodyPr wrap="square" lIns="0" tIns="0" rIns="0" bIns="0" rtlCol="0" anchor="ctr"/>
          <a:lstStyle/>
          <a:p>
            <a:pPr marL="0" indent="0">
              <a:buNone/>
            </a:pPr>
            <a:r>
              <a:rPr lang="pt-PT" sz="3200" b="1" noProof="0" dirty="0">
                <a:solidFill>
                  <a:srgbClr val="1E2335"/>
                </a:solidFill>
                <a:latin typeface="Georgia" pitchFamily="34" charset="0"/>
                <a:ea typeface="Georgia" pitchFamily="34" charset="-122"/>
                <a:cs typeface="Georgia" pitchFamily="34" charset="-120"/>
              </a:rPr>
              <a:t>Triangulação de Métodos</a:t>
            </a:r>
            <a:endParaRPr lang="pt-PT" sz="3200" noProof="0" dirty="0"/>
          </a:p>
        </p:txBody>
      </p:sp>
      <p:sp>
        <p:nvSpPr>
          <p:cNvPr id="3" name="Text 1"/>
          <p:cNvSpPr/>
          <p:nvPr/>
        </p:nvSpPr>
        <p:spPr>
          <a:xfrm>
            <a:off x="731520" y="1051560"/>
            <a:ext cx="7680960" cy="685800"/>
          </a:xfrm>
          <a:prstGeom prst="rect">
            <a:avLst/>
          </a:prstGeom>
          <a:noFill/>
          <a:ln/>
        </p:spPr>
        <p:txBody>
          <a:bodyPr wrap="square" lIns="0" tIns="0" rIns="0" bIns="0" rtlCol="0" anchor="ctr"/>
          <a:lstStyle/>
          <a:p>
            <a:pPr>
              <a:lnSpc>
                <a:spcPct val="135000"/>
              </a:lnSpc>
            </a:pPr>
            <a:r>
              <a:rPr lang="pt-PT" sz="1200" noProof="0" dirty="0">
                <a:solidFill>
                  <a:srgbClr val="3B4252"/>
                </a:solidFill>
                <a:latin typeface="Calibri" pitchFamily="34" charset="0"/>
                <a:ea typeface="Calibri" pitchFamily="34" charset="-122"/>
                <a:cs typeface="Calibri" pitchFamily="34" charset="-120"/>
              </a:rPr>
              <a:t>Para compreender verdadeiramente a experiência do utilizador, é necessário recorrer a mais do que um tipo de métrica. Uma análise de 66 estudos revelou que a maioria utiliza questionários não padronizados e deixa de fora aspetos como um impacto da UX a longo prazo. Logo a combinação de diferentes métodos permite eliminar estas “falhas”.</a:t>
            </a:r>
            <a:endParaRPr lang="pt-PT" sz="1200" noProof="0" dirty="0"/>
          </a:p>
        </p:txBody>
      </p:sp>
      <p:grpSp>
        <p:nvGrpSpPr>
          <p:cNvPr id="17" name="Group 16">
            <a:extLst>
              <a:ext uri="{FF2B5EF4-FFF2-40B4-BE49-F238E27FC236}">
                <a16:creationId xmlns:a16="http://schemas.microsoft.com/office/drawing/2014/main" id="{E944E15B-14AC-1C9F-26F2-6F55FD9F51DB}"/>
              </a:ext>
            </a:extLst>
          </p:cNvPr>
          <p:cNvGrpSpPr/>
          <p:nvPr/>
        </p:nvGrpSpPr>
        <p:grpSpPr>
          <a:xfrm>
            <a:off x="481486" y="1965960"/>
            <a:ext cx="8229600" cy="2560320"/>
            <a:chOff x="731520" y="1965960"/>
            <a:chExt cx="8229600" cy="2560320"/>
          </a:xfrm>
        </p:grpSpPr>
        <p:sp>
          <p:nvSpPr>
            <p:cNvPr id="4" name="Shape 2"/>
            <p:cNvSpPr/>
            <p:nvPr/>
          </p:nvSpPr>
          <p:spPr>
            <a:xfrm>
              <a:off x="731520" y="1965960"/>
              <a:ext cx="2560320" cy="256032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5" name="Shape 3"/>
            <p:cNvSpPr/>
            <p:nvPr/>
          </p:nvSpPr>
          <p:spPr>
            <a:xfrm>
              <a:off x="731520" y="1965960"/>
              <a:ext cx="2560320" cy="411480"/>
            </a:xfrm>
            <a:prstGeom prst="rect">
              <a:avLst/>
            </a:prstGeom>
            <a:solidFill>
              <a:srgbClr val="4B62A0"/>
            </a:solidFill>
            <a:ln/>
          </p:spPr>
          <p:txBody>
            <a:bodyPr/>
            <a:lstStyle/>
            <a:p>
              <a:endParaRPr lang="pt-PT" noProof="0" dirty="0"/>
            </a:p>
          </p:txBody>
        </p:sp>
        <p:sp>
          <p:nvSpPr>
            <p:cNvPr id="6" name="Text 4"/>
            <p:cNvSpPr/>
            <p:nvPr/>
          </p:nvSpPr>
          <p:spPr>
            <a:xfrm>
              <a:off x="731520" y="1965960"/>
              <a:ext cx="2560320" cy="411480"/>
            </a:xfrm>
            <a:prstGeom prst="rect">
              <a:avLst/>
            </a:prstGeom>
            <a:noFill/>
            <a:ln/>
          </p:spPr>
          <p:txBody>
            <a:bodyPr wrap="square" lIns="0" tIns="0" rIns="0" bIns="0" rtlCol="0" anchor="ctr"/>
            <a:lstStyle/>
            <a:p>
              <a:pPr marL="0" indent="0" algn="ctr">
                <a:buNone/>
              </a:pPr>
              <a:r>
                <a:rPr lang="pt-PT" sz="1300" b="1" noProof="0" dirty="0">
                  <a:solidFill>
                    <a:srgbClr val="FFFFFF"/>
                  </a:solidFill>
                  <a:latin typeface="Georgia" pitchFamily="34" charset="0"/>
                  <a:ea typeface="Georgia" pitchFamily="34" charset="-122"/>
                  <a:cs typeface="Georgia" pitchFamily="34" charset="-120"/>
                </a:rPr>
                <a:t>Quantitativo</a:t>
              </a:r>
              <a:endParaRPr lang="pt-PT" sz="1300" noProof="0" dirty="0"/>
            </a:p>
          </p:txBody>
        </p:sp>
        <p:sp>
          <p:nvSpPr>
            <p:cNvPr id="7" name="Text 5"/>
            <p:cNvSpPr/>
            <p:nvPr/>
          </p:nvSpPr>
          <p:spPr>
            <a:xfrm>
              <a:off x="960120" y="2514600"/>
              <a:ext cx="2103120" cy="1645920"/>
            </a:xfrm>
            <a:prstGeom prst="rect">
              <a:avLst/>
            </a:prstGeom>
            <a:noFill/>
            <a:ln/>
          </p:spPr>
          <p:txBody>
            <a:bodyPr wrap="square" lIns="0" tIns="0" rIns="0" bIns="0" rtlCol="0" anchor="ctr"/>
            <a:lstStyle/>
            <a:p>
              <a:pPr marL="342900" indent="-342900">
                <a:spcAft>
                  <a:spcPts val="500"/>
                </a:spcAft>
                <a:buSzPct val="100000"/>
                <a:buChar char="•"/>
              </a:pPr>
              <a:r>
                <a:rPr lang="pt-PT" sz="1050" noProof="0" dirty="0">
                  <a:solidFill>
                    <a:srgbClr val="3B4252"/>
                  </a:solidFill>
                  <a:latin typeface="Calibri" pitchFamily="34" charset="0"/>
                  <a:ea typeface="Calibri" pitchFamily="34" charset="-122"/>
                  <a:cs typeface="Calibri" pitchFamily="34" charset="-120"/>
                </a:rPr>
                <a:t>SUS, CSUQ, UEQ, NPS</a:t>
              </a:r>
              <a:endParaRPr lang="pt-PT" sz="1050" noProof="0" dirty="0"/>
            </a:p>
            <a:p>
              <a:pPr marL="342900" indent="-342900">
                <a:spcAft>
                  <a:spcPts val="500"/>
                </a:spcAft>
                <a:buSzPct val="100000"/>
                <a:buChar char="•"/>
              </a:pPr>
              <a:r>
                <a:rPr lang="pt-PT" sz="1050" noProof="0" dirty="0">
                  <a:solidFill>
                    <a:srgbClr val="3B4252"/>
                  </a:solidFill>
                  <a:latin typeface="Calibri" pitchFamily="34" charset="0"/>
                  <a:ea typeface="Calibri" pitchFamily="34" charset="-122"/>
                  <a:cs typeface="Calibri" pitchFamily="34" charset="-120"/>
                </a:rPr>
                <a:t>Taxa de sucesso / erro</a:t>
              </a:r>
              <a:endParaRPr lang="pt-PT" sz="1050" noProof="0" dirty="0"/>
            </a:p>
            <a:p>
              <a:pPr marL="342900" indent="-342900">
                <a:spcAft>
                  <a:spcPts val="500"/>
                </a:spcAft>
                <a:buSzPct val="100000"/>
                <a:buChar char="•"/>
              </a:pPr>
              <a:r>
                <a:rPr lang="pt-PT" sz="1050" noProof="0" dirty="0">
                  <a:solidFill>
                    <a:srgbClr val="3B4252"/>
                  </a:solidFill>
                  <a:latin typeface="Calibri" pitchFamily="34" charset="0"/>
                  <a:ea typeface="Calibri" pitchFamily="34" charset="-122"/>
                  <a:cs typeface="Calibri" pitchFamily="34" charset="-120"/>
                </a:rPr>
                <a:t>Tempo em tarefa</a:t>
              </a:r>
              <a:endParaRPr lang="pt-PT" sz="1050" noProof="0" dirty="0"/>
            </a:p>
            <a:p>
              <a:pPr marL="342900" indent="-342900">
                <a:spcAft>
                  <a:spcPts val="500"/>
                </a:spcAft>
                <a:buSzPct val="100000"/>
                <a:buChar char="•"/>
              </a:pPr>
              <a:r>
                <a:rPr lang="pt-PT" sz="1050" noProof="0" dirty="0">
                  <a:solidFill>
                    <a:srgbClr val="3B4252"/>
                  </a:solidFill>
                  <a:latin typeface="Calibri" pitchFamily="34" charset="0"/>
                  <a:ea typeface="Calibri" pitchFamily="34" charset="-122"/>
                  <a:cs typeface="Calibri" pitchFamily="34" charset="-120"/>
                </a:rPr>
                <a:t>Analíticas e gravações</a:t>
              </a:r>
              <a:endParaRPr lang="pt-PT" sz="1050" noProof="0" dirty="0"/>
            </a:p>
          </p:txBody>
        </p:sp>
        <p:sp>
          <p:nvSpPr>
            <p:cNvPr id="8" name="Shape 6"/>
            <p:cNvSpPr/>
            <p:nvPr/>
          </p:nvSpPr>
          <p:spPr>
            <a:xfrm>
              <a:off x="3566160" y="1965960"/>
              <a:ext cx="2560320" cy="256032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9" name="Shape 7"/>
            <p:cNvSpPr/>
            <p:nvPr/>
          </p:nvSpPr>
          <p:spPr>
            <a:xfrm>
              <a:off x="3566160" y="1965960"/>
              <a:ext cx="2560320" cy="411480"/>
            </a:xfrm>
            <a:prstGeom prst="rect">
              <a:avLst/>
            </a:prstGeom>
            <a:solidFill>
              <a:srgbClr val="5B8C7B"/>
            </a:solidFill>
            <a:ln/>
          </p:spPr>
          <p:txBody>
            <a:bodyPr/>
            <a:lstStyle/>
            <a:p>
              <a:endParaRPr lang="pt-PT" noProof="0" dirty="0"/>
            </a:p>
          </p:txBody>
        </p:sp>
        <p:sp>
          <p:nvSpPr>
            <p:cNvPr id="10" name="Text 8"/>
            <p:cNvSpPr/>
            <p:nvPr/>
          </p:nvSpPr>
          <p:spPr>
            <a:xfrm>
              <a:off x="3566160" y="1965960"/>
              <a:ext cx="2560320" cy="411480"/>
            </a:xfrm>
            <a:prstGeom prst="rect">
              <a:avLst/>
            </a:prstGeom>
            <a:noFill/>
            <a:ln/>
          </p:spPr>
          <p:txBody>
            <a:bodyPr wrap="square" lIns="0" tIns="0" rIns="0" bIns="0" rtlCol="0" anchor="ctr"/>
            <a:lstStyle/>
            <a:p>
              <a:pPr marL="0" indent="0" algn="ctr">
                <a:buNone/>
              </a:pPr>
              <a:r>
                <a:rPr lang="pt-PT" sz="1300" b="1" noProof="0" dirty="0">
                  <a:solidFill>
                    <a:srgbClr val="FFFFFF"/>
                  </a:solidFill>
                  <a:latin typeface="Georgia" pitchFamily="34" charset="0"/>
                  <a:ea typeface="Georgia" pitchFamily="34" charset="-122"/>
                  <a:cs typeface="Georgia" pitchFamily="34" charset="-120"/>
                </a:rPr>
                <a:t>Qualitativo</a:t>
              </a:r>
              <a:endParaRPr lang="pt-PT" sz="1300" noProof="0" dirty="0"/>
            </a:p>
          </p:txBody>
        </p:sp>
        <p:sp>
          <p:nvSpPr>
            <p:cNvPr id="11" name="Text 9"/>
            <p:cNvSpPr/>
            <p:nvPr/>
          </p:nvSpPr>
          <p:spPr>
            <a:xfrm>
              <a:off x="3794760" y="2514600"/>
              <a:ext cx="2103120" cy="1645920"/>
            </a:xfrm>
            <a:prstGeom prst="rect">
              <a:avLst/>
            </a:prstGeom>
            <a:noFill/>
            <a:ln/>
          </p:spPr>
          <p:txBody>
            <a:bodyPr wrap="square" lIns="0" tIns="0" rIns="0" bIns="0" rtlCol="0" anchor="ctr"/>
            <a:lstStyle/>
            <a:p>
              <a:pPr marL="342900" indent="-342900">
                <a:spcAft>
                  <a:spcPts val="500"/>
                </a:spcAft>
                <a:buSzPct val="100000"/>
                <a:buChar char="•"/>
              </a:pPr>
              <a:r>
                <a:rPr lang="pt-PT" sz="1050" noProof="0" dirty="0" err="1">
                  <a:solidFill>
                    <a:srgbClr val="3B4252"/>
                  </a:solidFill>
                  <a:latin typeface="Calibri" pitchFamily="34" charset="0"/>
                  <a:ea typeface="Calibri" pitchFamily="34" charset="-122"/>
                  <a:cs typeface="Calibri" pitchFamily="34" charset="-120"/>
                </a:rPr>
                <a:t>Think-Aloud</a:t>
              </a:r>
              <a:r>
                <a:rPr lang="pt-PT" sz="1050" noProof="0" dirty="0">
                  <a:solidFill>
                    <a:srgbClr val="3B4252"/>
                  </a:solidFill>
                  <a:latin typeface="Calibri" pitchFamily="34" charset="0"/>
                  <a:ea typeface="Calibri" pitchFamily="34" charset="-122"/>
                  <a:cs typeface="Calibri" pitchFamily="34" charset="-120"/>
                </a:rPr>
                <a:t> </a:t>
              </a:r>
              <a:r>
                <a:rPr lang="pt-PT" sz="1050" noProof="0" dirty="0" err="1">
                  <a:solidFill>
                    <a:srgbClr val="3B4252"/>
                  </a:solidFill>
                  <a:latin typeface="Calibri" pitchFamily="34" charset="0"/>
                  <a:ea typeface="Calibri" pitchFamily="34" charset="-122"/>
                  <a:cs typeface="Calibri" pitchFamily="34" charset="-120"/>
                </a:rPr>
                <a:t>Protocol</a:t>
              </a:r>
              <a:endParaRPr lang="pt-PT" sz="1050" noProof="0" dirty="0"/>
            </a:p>
            <a:p>
              <a:pPr marL="342900" indent="-342900">
                <a:spcAft>
                  <a:spcPts val="500"/>
                </a:spcAft>
                <a:buSzPct val="100000"/>
                <a:buChar char="•"/>
              </a:pPr>
              <a:r>
                <a:rPr lang="pt-PT" sz="1050" noProof="0" dirty="0">
                  <a:solidFill>
                    <a:srgbClr val="3B4252"/>
                  </a:solidFill>
                  <a:latin typeface="Calibri" pitchFamily="34" charset="0"/>
                  <a:ea typeface="Calibri" pitchFamily="34" charset="-122"/>
                  <a:cs typeface="Calibri" pitchFamily="34" charset="-120"/>
                </a:rPr>
                <a:t>Entrevistas e observação</a:t>
              </a:r>
              <a:endParaRPr lang="pt-PT" sz="1050" noProof="0" dirty="0"/>
            </a:p>
            <a:p>
              <a:pPr marL="342900" indent="-342900">
                <a:spcAft>
                  <a:spcPts val="500"/>
                </a:spcAft>
                <a:buSzPct val="100000"/>
                <a:buChar char="•"/>
              </a:pPr>
              <a:r>
                <a:rPr lang="pt-PT" sz="1050" noProof="0" dirty="0">
                  <a:solidFill>
                    <a:srgbClr val="3B4252"/>
                  </a:solidFill>
                  <a:latin typeface="Calibri" pitchFamily="34" charset="0"/>
                  <a:ea typeface="Calibri" pitchFamily="34" charset="-122"/>
                  <a:cs typeface="Calibri" pitchFamily="34" charset="-120"/>
                </a:rPr>
                <a:t>Análise de tarefas</a:t>
              </a:r>
              <a:endParaRPr lang="pt-PT" sz="1050" noProof="0" dirty="0"/>
            </a:p>
            <a:p>
              <a:pPr marL="342900" indent="-342900">
                <a:spcAft>
                  <a:spcPts val="500"/>
                </a:spcAft>
                <a:buSzPct val="100000"/>
                <a:buChar char="•"/>
              </a:pPr>
              <a:r>
                <a:rPr lang="pt-PT" sz="1050" noProof="0" dirty="0">
                  <a:solidFill>
                    <a:srgbClr val="3B4252"/>
                  </a:solidFill>
                  <a:latin typeface="Calibri" pitchFamily="34" charset="0"/>
                  <a:ea typeface="Calibri" pitchFamily="34" charset="-122"/>
                  <a:cs typeface="Calibri" pitchFamily="34" charset="-120"/>
                </a:rPr>
                <a:t>Diários de utilização</a:t>
              </a:r>
              <a:endParaRPr lang="pt-PT" sz="1050" noProof="0" dirty="0"/>
            </a:p>
          </p:txBody>
        </p:sp>
        <p:sp>
          <p:nvSpPr>
            <p:cNvPr id="12" name="Shape 10"/>
            <p:cNvSpPr/>
            <p:nvPr/>
          </p:nvSpPr>
          <p:spPr>
            <a:xfrm>
              <a:off x="6400800" y="1965960"/>
              <a:ext cx="2560320" cy="256032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pt-PT" noProof="0" dirty="0"/>
            </a:p>
          </p:txBody>
        </p:sp>
        <p:sp>
          <p:nvSpPr>
            <p:cNvPr id="13" name="Shape 11"/>
            <p:cNvSpPr/>
            <p:nvPr/>
          </p:nvSpPr>
          <p:spPr>
            <a:xfrm>
              <a:off x="6400800" y="1965960"/>
              <a:ext cx="2560320" cy="411480"/>
            </a:xfrm>
            <a:prstGeom prst="rect">
              <a:avLst/>
            </a:prstGeom>
            <a:solidFill>
              <a:srgbClr val="B8863B"/>
            </a:solidFill>
            <a:ln/>
          </p:spPr>
          <p:txBody>
            <a:bodyPr/>
            <a:lstStyle/>
            <a:p>
              <a:endParaRPr lang="pt-PT" noProof="0" dirty="0"/>
            </a:p>
          </p:txBody>
        </p:sp>
        <p:sp>
          <p:nvSpPr>
            <p:cNvPr id="14" name="Text 12"/>
            <p:cNvSpPr/>
            <p:nvPr/>
          </p:nvSpPr>
          <p:spPr>
            <a:xfrm>
              <a:off x="6400800" y="1965960"/>
              <a:ext cx="2560320" cy="411480"/>
            </a:xfrm>
            <a:prstGeom prst="rect">
              <a:avLst/>
            </a:prstGeom>
            <a:noFill/>
            <a:ln/>
          </p:spPr>
          <p:txBody>
            <a:bodyPr wrap="square" lIns="0" tIns="0" rIns="0" bIns="0" rtlCol="0" anchor="ctr"/>
            <a:lstStyle/>
            <a:p>
              <a:pPr marL="0" indent="0" algn="ctr">
                <a:buNone/>
              </a:pPr>
              <a:r>
                <a:rPr lang="pt-PT" sz="1300" b="1" noProof="0" dirty="0">
                  <a:solidFill>
                    <a:srgbClr val="FFFFFF"/>
                  </a:solidFill>
                  <a:latin typeface="Georgia" pitchFamily="34" charset="0"/>
                  <a:ea typeface="Georgia" pitchFamily="34" charset="-122"/>
                  <a:cs typeface="Georgia" pitchFamily="34" charset="-120"/>
                </a:rPr>
                <a:t>Comportamental</a:t>
              </a:r>
              <a:endParaRPr lang="pt-PT" sz="1300" noProof="0" dirty="0"/>
            </a:p>
          </p:txBody>
        </p:sp>
        <p:sp>
          <p:nvSpPr>
            <p:cNvPr id="15" name="Text 13"/>
            <p:cNvSpPr/>
            <p:nvPr/>
          </p:nvSpPr>
          <p:spPr>
            <a:xfrm>
              <a:off x="6629400" y="2514600"/>
              <a:ext cx="2103120" cy="1645920"/>
            </a:xfrm>
            <a:prstGeom prst="rect">
              <a:avLst/>
            </a:prstGeom>
            <a:noFill/>
            <a:ln/>
          </p:spPr>
          <p:txBody>
            <a:bodyPr wrap="square" lIns="0" tIns="0" rIns="0" bIns="0" rtlCol="0" anchor="ctr"/>
            <a:lstStyle/>
            <a:p>
              <a:pPr marL="342900" indent="-342900">
                <a:spcAft>
                  <a:spcPts val="500"/>
                </a:spcAft>
                <a:buSzPct val="100000"/>
                <a:buChar char="•"/>
              </a:pPr>
              <a:r>
                <a:rPr lang="pt-PT" sz="1050" noProof="0" dirty="0" err="1">
                  <a:solidFill>
                    <a:srgbClr val="3B4252"/>
                  </a:solidFill>
                  <a:latin typeface="Calibri" pitchFamily="34" charset="0"/>
                  <a:ea typeface="Calibri" pitchFamily="34" charset="-122"/>
                  <a:cs typeface="Calibri" pitchFamily="34" charset="-120"/>
                </a:rPr>
                <a:t>Heatmaps</a:t>
              </a:r>
              <a:r>
                <a:rPr lang="pt-PT" sz="1050" noProof="0" dirty="0">
                  <a:solidFill>
                    <a:srgbClr val="3B4252"/>
                  </a:solidFill>
                  <a:latin typeface="Calibri" pitchFamily="34" charset="0"/>
                  <a:ea typeface="Calibri" pitchFamily="34" charset="-122"/>
                  <a:cs typeface="Calibri" pitchFamily="34" charset="-120"/>
                </a:rPr>
                <a:t> e </a:t>
              </a:r>
              <a:r>
                <a:rPr lang="pt-PT" sz="1050" noProof="0" dirty="0" err="1">
                  <a:solidFill>
                    <a:srgbClr val="3B4252"/>
                  </a:solidFill>
                  <a:latin typeface="Calibri" pitchFamily="34" charset="0"/>
                  <a:ea typeface="Calibri" pitchFamily="34" charset="-122"/>
                  <a:cs typeface="Calibri" pitchFamily="34" charset="-120"/>
                </a:rPr>
                <a:t>click</a:t>
              </a:r>
              <a:r>
                <a:rPr lang="pt-PT" sz="1050" noProof="0" dirty="0">
                  <a:solidFill>
                    <a:srgbClr val="3B4252"/>
                  </a:solidFill>
                  <a:latin typeface="Calibri" pitchFamily="34" charset="0"/>
                  <a:ea typeface="Calibri" pitchFamily="34" charset="-122"/>
                  <a:cs typeface="Calibri" pitchFamily="34" charset="-120"/>
                </a:rPr>
                <a:t> </a:t>
              </a:r>
              <a:r>
                <a:rPr lang="pt-PT" sz="1050" noProof="0" dirty="0" err="1">
                  <a:solidFill>
                    <a:srgbClr val="3B4252"/>
                  </a:solidFill>
                  <a:latin typeface="Calibri" pitchFamily="34" charset="0"/>
                  <a:ea typeface="Calibri" pitchFamily="34" charset="-122"/>
                  <a:cs typeface="Calibri" pitchFamily="34" charset="-120"/>
                </a:rPr>
                <a:t>maps</a:t>
              </a:r>
              <a:endParaRPr lang="pt-PT" sz="1050" noProof="0" dirty="0"/>
            </a:p>
            <a:p>
              <a:pPr marL="342900" indent="-342900">
                <a:spcAft>
                  <a:spcPts val="500"/>
                </a:spcAft>
                <a:buSzPct val="100000"/>
                <a:buChar char="•"/>
              </a:pPr>
              <a:r>
                <a:rPr lang="pt-PT" sz="1050" noProof="0" dirty="0" err="1">
                  <a:solidFill>
                    <a:srgbClr val="3B4252"/>
                  </a:solidFill>
                  <a:latin typeface="Calibri" pitchFamily="34" charset="0"/>
                  <a:ea typeface="Calibri" pitchFamily="34" charset="-122"/>
                  <a:cs typeface="Calibri" pitchFamily="34" charset="-120"/>
                </a:rPr>
                <a:t>Eye</a:t>
              </a:r>
              <a:r>
                <a:rPr lang="pt-PT" sz="1050" noProof="0" dirty="0">
                  <a:solidFill>
                    <a:srgbClr val="3B4252"/>
                  </a:solidFill>
                  <a:latin typeface="Calibri" pitchFamily="34" charset="0"/>
                  <a:ea typeface="Calibri" pitchFamily="34" charset="-122"/>
                  <a:cs typeface="Calibri" pitchFamily="34" charset="-120"/>
                </a:rPr>
                <a:t> </a:t>
              </a:r>
              <a:r>
                <a:rPr lang="pt-PT" sz="1050" noProof="0" dirty="0" err="1">
                  <a:solidFill>
                    <a:srgbClr val="3B4252"/>
                  </a:solidFill>
                  <a:latin typeface="Calibri" pitchFamily="34" charset="0"/>
                  <a:ea typeface="Calibri" pitchFamily="34" charset="-122"/>
                  <a:cs typeface="Calibri" pitchFamily="34" charset="-120"/>
                </a:rPr>
                <a:t>Tracking</a:t>
              </a:r>
              <a:endParaRPr lang="pt-PT" sz="1050" noProof="0" dirty="0"/>
            </a:p>
            <a:p>
              <a:pPr marL="342900" indent="-342900">
                <a:spcAft>
                  <a:spcPts val="500"/>
                </a:spcAft>
                <a:buSzPct val="100000"/>
                <a:buChar char="•"/>
              </a:pPr>
              <a:r>
                <a:rPr lang="pt-PT" sz="1050" noProof="0" dirty="0">
                  <a:solidFill>
                    <a:srgbClr val="3B4252"/>
                  </a:solidFill>
                  <a:latin typeface="Calibri" pitchFamily="34" charset="0"/>
                  <a:ea typeface="Calibri" pitchFamily="34" charset="-122"/>
                  <a:cs typeface="Calibri" pitchFamily="34" charset="-120"/>
                </a:rPr>
                <a:t>Testes A/B</a:t>
              </a:r>
              <a:endParaRPr lang="pt-PT" sz="1050" noProof="0" dirty="0"/>
            </a:p>
            <a:p>
              <a:pPr marL="342900" indent="-342900">
                <a:spcAft>
                  <a:spcPts val="500"/>
                </a:spcAft>
                <a:buSzPct val="100000"/>
                <a:buChar char="•"/>
              </a:pPr>
              <a:r>
                <a:rPr lang="pt-PT" sz="1050" noProof="0" dirty="0">
                  <a:solidFill>
                    <a:srgbClr val="3B4252"/>
                  </a:solidFill>
                  <a:latin typeface="Calibri" pitchFamily="34" charset="0"/>
                  <a:ea typeface="Calibri" pitchFamily="34" charset="-122"/>
                  <a:cs typeface="Calibri" pitchFamily="34" charset="-120"/>
                </a:rPr>
                <a:t>Gravação de sessões</a:t>
              </a:r>
              <a:endParaRPr lang="pt-PT" sz="1050" noProof="0" dirty="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335"/>
        </a:solidFill>
        <a:effectLst/>
      </p:bgPr>
    </p:bg>
    <p:spTree>
      <p:nvGrpSpPr>
        <p:cNvPr id="1" name=""/>
        <p:cNvGrpSpPr/>
        <p:nvPr/>
      </p:nvGrpSpPr>
      <p:grpSpPr>
        <a:xfrm>
          <a:off x="0" y="0"/>
          <a:ext cx="0" cy="0"/>
          <a:chOff x="0" y="0"/>
          <a:chExt cx="0" cy="0"/>
        </a:xfrm>
      </p:grpSpPr>
      <p:sp>
        <p:nvSpPr>
          <p:cNvPr id="2" name="Shape 0"/>
          <p:cNvSpPr/>
          <p:nvPr/>
        </p:nvSpPr>
        <p:spPr>
          <a:xfrm>
            <a:off x="6858000" y="-1371600"/>
            <a:ext cx="4572000" cy="4572000"/>
          </a:xfrm>
          <a:prstGeom prst="ellipse">
            <a:avLst/>
          </a:prstGeom>
          <a:solidFill>
            <a:srgbClr val="2D3A5C">
              <a:alpha val="70000"/>
            </a:srgbClr>
          </a:solidFill>
          <a:ln/>
        </p:spPr>
        <p:txBody>
          <a:bodyPr/>
          <a:lstStyle/>
          <a:p>
            <a:endParaRPr lang="pt-PT" noProof="0" dirty="0"/>
          </a:p>
        </p:txBody>
      </p:sp>
      <p:sp>
        <p:nvSpPr>
          <p:cNvPr id="3" name="Text 1"/>
          <p:cNvSpPr/>
          <p:nvPr/>
        </p:nvSpPr>
        <p:spPr>
          <a:xfrm>
            <a:off x="731520" y="365760"/>
            <a:ext cx="7315200" cy="731520"/>
          </a:xfrm>
          <a:prstGeom prst="rect">
            <a:avLst/>
          </a:prstGeom>
          <a:noFill/>
          <a:ln/>
        </p:spPr>
        <p:txBody>
          <a:bodyPr wrap="square" lIns="0" tIns="0" rIns="0" bIns="0" rtlCol="0" anchor="ctr"/>
          <a:lstStyle/>
          <a:p>
            <a:pPr marL="0" indent="0">
              <a:buNone/>
            </a:pPr>
            <a:r>
              <a:rPr lang="pt-PT" sz="3800" b="1" noProof="0" dirty="0">
                <a:solidFill>
                  <a:srgbClr val="FFFFFF"/>
                </a:solidFill>
                <a:latin typeface="Georgia" pitchFamily="34" charset="0"/>
                <a:ea typeface="Georgia" pitchFamily="34" charset="-122"/>
                <a:cs typeface="Georgia" pitchFamily="34" charset="-120"/>
              </a:rPr>
              <a:t>Conclusões</a:t>
            </a:r>
            <a:endParaRPr lang="pt-PT" sz="3800" noProof="0" dirty="0"/>
          </a:p>
        </p:txBody>
      </p:sp>
      <p:sp>
        <p:nvSpPr>
          <p:cNvPr id="5" name="Text 3"/>
          <p:cNvSpPr/>
          <p:nvPr/>
        </p:nvSpPr>
        <p:spPr>
          <a:xfrm>
            <a:off x="1143000" y="1608773"/>
            <a:ext cx="7315200" cy="640080"/>
          </a:xfrm>
          <a:prstGeom prst="rect">
            <a:avLst/>
          </a:prstGeom>
          <a:noFill/>
          <a:ln/>
        </p:spPr>
        <p:txBody>
          <a:bodyPr wrap="square" lIns="0" tIns="0" rIns="0" bIns="0" rtlCol="0" anchor="ctr"/>
          <a:lstStyle/>
          <a:p>
            <a:pPr>
              <a:lnSpc>
                <a:spcPct val="140000"/>
              </a:lnSpc>
            </a:pPr>
            <a:r>
              <a:rPr lang="pt-PT" sz="1400" noProof="0" dirty="0">
                <a:solidFill>
                  <a:srgbClr val="C0C8D8"/>
                </a:solidFill>
                <a:latin typeface="Calibri" pitchFamily="34" charset="0"/>
                <a:ea typeface="Calibri" pitchFamily="34" charset="-122"/>
                <a:cs typeface="Calibri" pitchFamily="34" charset="-120"/>
              </a:rPr>
              <a:t>Neste trabalho podemos concluir que este métodos como o SUS, o UEQ ou o </a:t>
            </a:r>
            <a:r>
              <a:rPr lang="pt-PT" sz="1400" noProof="0" dirty="0" err="1">
                <a:solidFill>
                  <a:srgbClr val="C0C8D8"/>
                </a:solidFill>
                <a:latin typeface="Calibri" pitchFamily="34" charset="0"/>
                <a:ea typeface="Calibri" pitchFamily="34" charset="-122"/>
                <a:cs typeface="Calibri" pitchFamily="34" charset="-120"/>
              </a:rPr>
              <a:t>AttrakDiff</a:t>
            </a:r>
            <a:r>
              <a:rPr lang="pt-PT" sz="1400" noProof="0" dirty="0">
                <a:solidFill>
                  <a:srgbClr val="C0C8D8"/>
                </a:solidFill>
                <a:latin typeface="Calibri" pitchFamily="34" charset="0"/>
                <a:ea typeface="Calibri" pitchFamily="34" charset="-122"/>
                <a:cs typeface="Calibri" pitchFamily="34" charset="-120"/>
              </a:rPr>
              <a:t> permitem medir tanto a usabilidade funcional como os aspetos experienciais de um produto, com base nos critérios já definidos pela norma internacional ISO 9241-11</a:t>
            </a:r>
            <a:endParaRPr lang="pt-PT" sz="1400" noProof="0" dirty="0"/>
          </a:p>
        </p:txBody>
      </p:sp>
      <p:grpSp>
        <p:nvGrpSpPr>
          <p:cNvPr id="8" name="Group 7">
            <a:extLst>
              <a:ext uri="{FF2B5EF4-FFF2-40B4-BE49-F238E27FC236}">
                <a16:creationId xmlns:a16="http://schemas.microsoft.com/office/drawing/2014/main" id="{E2B1169F-A495-8CED-DB85-CF4F83EE2130}"/>
              </a:ext>
            </a:extLst>
          </p:cNvPr>
          <p:cNvGrpSpPr/>
          <p:nvPr/>
        </p:nvGrpSpPr>
        <p:grpSpPr>
          <a:xfrm>
            <a:off x="731520" y="1871667"/>
            <a:ext cx="201168" cy="1508477"/>
            <a:chOff x="731520" y="1771654"/>
            <a:chExt cx="201168" cy="1508477"/>
          </a:xfrm>
        </p:grpSpPr>
        <p:sp>
          <p:nvSpPr>
            <p:cNvPr id="4" name="Shape 2"/>
            <p:cNvSpPr/>
            <p:nvPr/>
          </p:nvSpPr>
          <p:spPr>
            <a:xfrm>
              <a:off x="731520" y="1771654"/>
              <a:ext cx="201168" cy="201168"/>
            </a:xfrm>
            <a:prstGeom prst="ellipse">
              <a:avLst/>
            </a:prstGeom>
            <a:solidFill>
              <a:srgbClr val="4B62A0"/>
            </a:solidFill>
            <a:ln/>
          </p:spPr>
          <p:txBody>
            <a:bodyPr/>
            <a:lstStyle/>
            <a:p>
              <a:endParaRPr lang="pt-PT" noProof="0" dirty="0"/>
            </a:p>
          </p:txBody>
        </p:sp>
        <p:sp>
          <p:nvSpPr>
            <p:cNvPr id="6" name="Shape 4"/>
            <p:cNvSpPr/>
            <p:nvPr/>
          </p:nvSpPr>
          <p:spPr>
            <a:xfrm>
              <a:off x="731520" y="3078963"/>
              <a:ext cx="201168" cy="201168"/>
            </a:xfrm>
            <a:prstGeom prst="ellipse">
              <a:avLst/>
            </a:prstGeom>
            <a:solidFill>
              <a:srgbClr val="4B62A0"/>
            </a:solidFill>
            <a:ln/>
          </p:spPr>
          <p:txBody>
            <a:bodyPr/>
            <a:lstStyle/>
            <a:p>
              <a:endParaRPr lang="pt-PT" noProof="0" dirty="0"/>
            </a:p>
          </p:txBody>
        </p:sp>
      </p:grpSp>
      <p:sp>
        <p:nvSpPr>
          <p:cNvPr id="7" name="Text 5"/>
          <p:cNvSpPr/>
          <p:nvPr/>
        </p:nvSpPr>
        <p:spPr>
          <a:xfrm>
            <a:off x="1143000" y="2944656"/>
            <a:ext cx="7315200" cy="640080"/>
          </a:xfrm>
          <a:prstGeom prst="rect">
            <a:avLst/>
          </a:prstGeom>
          <a:noFill/>
          <a:ln/>
        </p:spPr>
        <p:txBody>
          <a:bodyPr wrap="square" lIns="0" tIns="0" rIns="0" bIns="0" rtlCol="0" anchor="ctr"/>
          <a:lstStyle/>
          <a:p>
            <a:pPr>
              <a:lnSpc>
                <a:spcPct val="140000"/>
              </a:lnSpc>
            </a:pPr>
            <a:r>
              <a:rPr lang="pt-PT" sz="1400" noProof="0" dirty="0">
                <a:solidFill>
                  <a:srgbClr val="C0C8D8"/>
                </a:solidFill>
                <a:latin typeface="Calibri" pitchFamily="34" charset="0"/>
                <a:ea typeface="Calibri" pitchFamily="34" charset="-122"/>
                <a:cs typeface="Calibri" pitchFamily="34" charset="-120"/>
              </a:rPr>
              <a:t>No entanto, claramente tornou-se evidente que nenhuns destes métodos isoladamente é suficiente. A combinação de questionários, métricas de desempenho e análises comportamentais é o caminho mais fiável para avaliar de forma completa a experiência do utilizador perante um produto.</a:t>
            </a:r>
            <a:endParaRPr lang="pt-PT" sz="1400" noProof="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335"/>
        </a:solidFill>
        <a:effectLst/>
      </p:bgPr>
    </p:bg>
    <p:spTree>
      <p:nvGrpSpPr>
        <p:cNvPr id="1" name=""/>
        <p:cNvGrpSpPr/>
        <p:nvPr/>
      </p:nvGrpSpPr>
      <p:grpSpPr>
        <a:xfrm>
          <a:off x="0" y="0"/>
          <a:ext cx="0" cy="0"/>
          <a:chOff x="0" y="0"/>
          <a:chExt cx="0" cy="0"/>
        </a:xfrm>
      </p:grpSpPr>
      <p:sp>
        <p:nvSpPr>
          <p:cNvPr id="2" name="Shape 0"/>
          <p:cNvSpPr/>
          <p:nvPr/>
        </p:nvSpPr>
        <p:spPr>
          <a:xfrm>
            <a:off x="-1828800" y="2743200"/>
            <a:ext cx="4572000" cy="4572000"/>
          </a:xfrm>
          <a:prstGeom prst="ellipse">
            <a:avLst/>
          </a:prstGeom>
          <a:solidFill>
            <a:srgbClr val="2D3A5C">
              <a:alpha val="70000"/>
            </a:srgbClr>
          </a:solidFill>
          <a:ln/>
        </p:spPr>
        <p:txBody>
          <a:bodyPr/>
          <a:lstStyle/>
          <a:p>
            <a:endParaRPr lang="pt-PT" noProof="0" dirty="0"/>
          </a:p>
        </p:txBody>
      </p:sp>
      <p:sp>
        <p:nvSpPr>
          <p:cNvPr id="3" name="Text 1"/>
          <p:cNvSpPr/>
          <p:nvPr/>
        </p:nvSpPr>
        <p:spPr>
          <a:xfrm>
            <a:off x="731520" y="274320"/>
            <a:ext cx="3004661" cy="685800"/>
          </a:xfrm>
          <a:prstGeom prst="rect">
            <a:avLst/>
          </a:prstGeom>
          <a:noFill/>
          <a:ln/>
        </p:spPr>
        <p:txBody>
          <a:bodyPr wrap="square" lIns="0" tIns="0" rIns="0" bIns="0" rtlCol="0" anchor="ctr"/>
          <a:lstStyle/>
          <a:p>
            <a:pPr marL="0" indent="0">
              <a:buNone/>
            </a:pPr>
            <a:r>
              <a:rPr lang="pt-PT" sz="3800" b="1" noProof="0" dirty="0">
                <a:solidFill>
                  <a:srgbClr val="FFFFFF"/>
                </a:solidFill>
                <a:latin typeface="Georgia" pitchFamily="34" charset="0"/>
                <a:ea typeface="Georgia" pitchFamily="34" charset="-122"/>
                <a:cs typeface="Georgia" pitchFamily="34" charset="-120"/>
              </a:rPr>
              <a:t>Referências</a:t>
            </a:r>
            <a:endParaRPr lang="pt-PT" sz="3800" noProof="0" dirty="0"/>
          </a:p>
        </p:txBody>
      </p:sp>
      <p:sp>
        <p:nvSpPr>
          <p:cNvPr id="4" name="Text 2"/>
          <p:cNvSpPr/>
          <p:nvPr/>
        </p:nvSpPr>
        <p:spPr>
          <a:xfrm>
            <a:off x="731519" y="1051560"/>
            <a:ext cx="8166153" cy="3840480"/>
          </a:xfrm>
          <a:prstGeom prst="rect">
            <a:avLst/>
          </a:prstGeom>
          <a:noFill/>
          <a:ln/>
        </p:spPr>
        <p:txBody>
          <a:bodyPr wrap="square" lIns="0" tIns="0" rIns="0" bIns="0" rtlCol="0" anchor="t"/>
          <a:lstStyle/>
          <a:p>
            <a:pPr marL="0" indent="0" algn="just">
              <a:spcAft>
                <a:spcPts val="300"/>
              </a:spcAft>
              <a:buNone/>
            </a:pPr>
            <a:r>
              <a:rPr lang="pt-PT" sz="1050" noProof="0" dirty="0">
                <a:solidFill>
                  <a:srgbClr val="9BA3B5"/>
                </a:solidFill>
                <a:latin typeface="Calibri" pitchFamily="34" charset="0"/>
                <a:ea typeface="Calibri" pitchFamily="34" charset="-122"/>
                <a:cs typeface="Calibri" pitchFamily="34" charset="-120"/>
              </a:rPr>
              <a:t>[</a:t>
            </a:r>
            <a:r>
              <a:rPr lang="pt-PT" sz="1060" noProof="0" dirty="0">
                <a:solidFill>
                  <a:srgbClr val="9BA3B5"/>
                </a:solidFill>
                <a:latin typeface="Calibri" pitchFamily="34" charset="0"/>
                <a:ea typeface="Calibri" pitchFamily="34" charset="-122"/>
                <a:cs typeface="Calibri" pitchFamily="34" charset="-120"/>
              </a:rPr>
              <a:t>1]  </a:t>
            </a:r>
            <a:r>
              <a:rPr lang="pt-PT" sz="1060" noProof="0" dirty="0" err="1">
                <a:solidFill>
                  <a:srgbClr val="9BA3B5"/>
                </a:solidFill>
                <a:latin typeface="Calibri" pitchFamily="34" charset="0"/>
                <a:ea typeface="Calibri" pitchFamily="34" charset="-122"/>
                <a:cs typeface="Calibri" pitchFamily="34" charset="-120"/>
              </a:rPr>
              <a:t>Bangor</a:t>
            </a:r>
            <a:r>
              <a:rPr lang="pt-PT" sz="1060" noProof="0" dirty="0">
                <a:solidFill>
                  <a:srgbClr val="9BA3B5"/>
                </a:solidFill>
                <a:latin typeface="Calibri" pitchFamily="34" charset="0"/>
                <a:ea typeface="Calibri" pitchFamily="34" charset="-122"/>
                <a:cs typeface="Calibri" pitchFamily="34" charset="-120"/>
              </a:rPr>
              <a:t>, A., </a:t>
            </a:r>
            <a:r>
              <a:rPr lang="pt-PT" sz="1060" noProof="0" dirty="0" err="1">
                <a:solidFill>
                  <a:srgbClr val="9BA3B5"/>
                </a:solidFill>
                <a:latin typeface="Calibri" pitchFamily="34" charset="0"/>
                <a:ea typeface="Calibri" pitchFamily="34" charset="-122"/>
                <a:cs typeface="Calibri" pitchFamily="34" charset="-120"/>
              </a:rPr>
              <a:t>Kortum</a:t>
            </a:r>
            <a:r>
              <a:rPr lang="pt-PT" sz="1060" noProof="0" dirty="0">
                <a:solidFill>
                  <a:srgbClr val="9BA3B5"/>
                </a:solidFill>
                <a:latin typeface="Calibri" pitchFamily="34" charset="0"/>
                <a:ea typeface="Calibri" pitchFamily="34" charset="-122"/>
                <a:cs typeface="Calibri" pitchFamily="34" charset="-120"/>
              </a:rPr>
              <a:t>, P. T., &amp; Miller, J. T. (2008). </a:t>
            </a:r>
            <a:r>
              <a:rPr lang="pt-PT" sz="1060" noProof="0" dirty="0" err="1">
                <a:solidFill>
                  <a:srgbClr val="9BA3B5"/>
                </a:solidFill>
                <a:latin typeface="Calibri" pitchFamily="34" charset="0"/>
                <a:ea typeface="Calibri" pitchFamily="34" charset="-122"/>
                <a:cs typeface="Calibri" pitchFamily="34" charset="-120"/>
              </a:rPr>
              <a:t>An</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empirical</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evaluation</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of</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the</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System</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Usability</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Scale</a:t>
            </a:r>
            <a:r>
              <a:rPr lang="pt-PT" sz="1060" noProof="0" dirty="0">
                <a:solidFill>
                  <a:srgbClr val="9BA3B5"/>
                </a:solidFill>
                <a:latin typeface="Calibri" pitchFamily="34" charset="0"/>
                <a:ea typeface="Calibri" pitchFamily="34" charset="-122"/>
                <a:cs typeface="Calibri" pitchFamily="34" charset="-120"/>
              </a:rPr>
              <a:t>. IJHCI, 24(6), 574–594. https://doi.org/10.1080/10447310802205776</a:t>
            </a:r>
            <a:endParaRPr lang="pt-PT" sz="1060" noProof="0" dirty="0"/>
          </a:p>
          <a:p>
            <a:pPr marL="0" indent="0" algn="just">
              <a:spcAft>
                <a:spcPts val="300"/>
              </a:spcAft>
              <a:buNone/>
            </a:pPr>
            <a:r>
              <a:rPr lang="pt-PT" sz="1060" noProof="0" dirty="0">
                <a:solidFill>
                  <a:srgbClr val="9BA3B5"/>
                </a:solidFill>
                <a:latin typeface="Calibri" pitchFamily="34" charset="0"/>
                <a:ea typeface="Calibri" pitchFamily="34" charset="-122"/>
                <a:cs typeface="Calibri" pitchFamily="34" charset="-120"/>
              </a:rPr>
              <a:t>[2]  Lewis, J. R. (2018). </a:t>
            </a:r>
            <a:r>
              <a:rPr lang="pt-PT" sz="1060" noProof="0" dirty="0" err="1">
                <a:solidFill>
                  <a:srgbClr val="9BA3B5"/>
                </a:solidFill>
                <a:latin typeface="Calibri" pitchFamily="34" charset="0"/>
                <a:ea typeface="Calibri" pitchFamily="34" charset="-122"/>
                <a:cs typeface="Calibri" pitchFamily="34" charset="-120"/>
              </a:rPr>
              <a:t>The</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System</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Usability</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Scale</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Past</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present</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and</a:t>
            </a:r>
            <a:r>
              <a:rPr lang="pt-PT" sz="1060" noProof="0" dirty="0">
                <a:solidFill>
                  <a:srgbClr val="9BA3B5"/>
                </a:solidFill>
                <a:latin typeface="Calibri" pitchFamily="34" charset="0"/>
                <a:ea typeface="Calibri" pitchFamily="34" charset="-122"/>
                <a:cs typeface="Calibri" pitchFamily="34" charset="-120"/>
              </a:rPr>
              <a:t> future. IJHCI, 34(7), 577–590. https://doi.org/10.1080/10447318.2018.1455307</a:t>
            </a:r>
            <a:endParaRPr lang="pt-PT" sz="1060" noProof="0" dirty="0"/>
          </a:p>
          <a:p>
            <a:pPr marL="0" indent="0" algn="just">
              <a:spcAft>
                <a:spcPts val="300"/>
              </a:spcAft>
              <a:buNone/>
            </a:pPr>
            <a:r>
              <a:rPr lang="pt-PT" sz="1060" noProof="0" dirty="0">
                <a:solidFill>
                  <a:srgbClr val="9BA3B5"/>
                </a:solidFill>
                <a:latin typeface="Calibri" pitchFamily="34" charset="0"/>
                <a:ea typeface="Calibri" pitchFamily="34" charset="-122"/>
                <a:cs typeface="Calibri" pitchFamily="34" charset="-120"/>
              </a:rPr>
              <a:t>[3]  Lewis, J. R. (1995). IBM </a:t>
            </a:r>
            <a:r>
              <a:rPr lang="pt-PT" sz="1060" noProof="0" dirty="0" err="1">
                <a:solidFill>
                  <a:srgbClr val="9BA3B5"/>
                </a:solidFill>
                <a:latin typeface="Calibri" pitchFamily="34" charset="0"/>
                <a:ea typeface="Calibri" pitchFamily="34" charset="-122"/>
                <a:cs typeface="Calibri" pitchFamily="34" charset="-120"/>
              </a:rPr>
              <a:t>computer</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usability</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satisfaction</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questionnaires</a:t>
            </a:r>
            <a:r>
              <a:rPr lang="pt-PT" sz="1060" noProof="0" dirty="0">
                <a:solidFill>
                  <a:srgbClr val="9BA3B5"/>
                </a:solidFill>
                <a:latin typeface="Calibri" pitchFamily="34" charset="0"/>
                <a:ea typeface="Calibri" pitchFamily="34" charset="-122"/>
                <a:cs typeface="Calibri" pitchFamily="34" charset="-120"/>
              </a:rPr>
              <a:t>. IJHCI, 7(1), 57–78. https://doi.org/10.1080/10447319509526110</a:t>
            </a:r>
            <a:endParaRPr lang="pt-PT" sz="1060" noProof="0" dirty="0"/>
          </a:p>
          <a:p>
            <a:pPr marL="0" indent="0" algn="just">
              <a:spcAft>
                <a:spcPts val="300"/>
              </a:spcAft>
              <a:buNone/>
            </a:pPr>
            <a:r>
              <a:rPr lang="pt-PT" sz="1060" noProof="0" dirty="0">
                <a:solidFill>
                  <a:srgbClr val="9BA3B5"/>
                </a:solidFill>
                <a:latin typeface="Calibri" pitchFamily="34" charset="0"/>
                <a:ea typeface="Calibri" pitchFamily="34" charset="-122"/>
                <a:cs typeface="Calibri" pitchFamily="34" charset="-120"/>
              </a:rPr>
              <a:t>[4]  </a:t>
            </a:r>
            <a:r>
              <a:rPr lang="pt-PT" sz="1060" noProof="0" dirty="0" err="1">
                <a:solidFill>
                  <a:srgbClr val="9BA3B5"/>
                </a:solidFill>
                <a:latin typeface="Calibri" pitchFamily="34" charset="0"/>
                <a:ea typeface="Calibri" pitchFamily="34" charset="-122"/>
                <a:cs typeface="Calibri" pitchFamily="34" charset="-120"/>
              </a:rPr>
              <a:t>Laugwitz</a:t>
            </a:r>
            <a:r>
              <a:rPr lang="pt-PT" sz="1060" noProof="0" dirty="0">
                <a:solidFill>
                  <a:srgbClr val="9BA3B5"/>
                </a:solidFill>
                <a:latin typeface="Calibri" pitchFamily="34" charset="0"/>
                <a:ea typeface="Calibri" pitchFamily="34" charset="-122"/>
                <a:cs typeface="Calibri" pitchFamily="34" charset="-120"/>
              </a:rPr>
              <a:t>, B., </a:t>
            </a:r>
            <a:r>
              <a:rPr lang="pt-PT" sz="1060" noProof="0" dirty="0" err="1">
                <a:solidFill>
                  <a:srgbClr val="9BA3B5"/>
                </a:solidFill>
                <a:latin typeface="Calibri" pitchFamily="34" charset="0"/>
                <a:ea typeface="Calibri" pitchFamily="34" charset="-122"/>
                <a:cs typeface="Calibri" pitchFamily="34" charset="-120"/>
              </a:rPr>
              <a:t>Held</a:t>
            </a:r>
            <a:r>
              <a:rPr lang="pt-PT" sz="1060" noProof="0" dirty="0">
                <a:solidFill>
                  <a:srgbClr val="9BA3B5"/>
                </a:solidFill>
                <a:latin typeface="Calibri" pitchFamily="34" charset="0"/>
                <a:ea typeface="Calibri" pitchFamily="34" charset="-122"/>
                <a:cs typeface="Calibri" pitchFamily="34" charset="-120"/>
              </a:rPr>
              <a:t>, T., &amp; </a:t>
            </a:r>
            <a:r>
              <a:rPr lang="pt-PT" sz="1060" noProof="0" dirty="0" err="1">
                <a:solidFill>
                  <a:srgbClr val="9BA3B5"/>
                </a:solidFill>
                <a:latin typeface="Calibri" pitchFamily="34" charset="0"/>
                <a:ea typeface="Calibri" pitchFamily="34" charset="-122"/>
                <a:cs typeface="Calibri" pitchFamily="34" charset="-120"/>
              </a:rPr>
              <a:t>Schrepp</a:t>
            </a:r>
            <a:r>
              <a:rPr lang="pt-PT" sz="1060" noProof="0" dirty="0">
                <a:solidFill>
                  <a:srgbClr val="9BA3B5"/>
                </a:solidFill>
                <a:latin typeface="Calibri" pitchFamily="34" charset="0"/>
                <a:ea typeface="Calibri" pitchFamily="34" charset="-122"/>
                <a:cs typeface="Calibri" pitchFamily="34" charset="-120"/>
              </a:rPr>
              <a:t>, M. (2008). </a:t>
            </a:r>
            <a:r>
              <a:rPr lang="pt-PT" sz="1060" noProof="0" dirty="0" err="1">
                <a:solidFill>
                  <a:srgbClr val="9BA3B5"/>
                </a:solidFill>
                <a:latin typeface="Calibri" pitchFamily="34" charset="0"/>
                <a:ea typeface="Calibri" pitchFamily="34" charset="-122"/>
                <a:cs typeface="Calibri" pitchFamily="34" charset="-120"/>
              </a:rPr>
              <a:t>Construction</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and</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evaluation</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of</a:t>
            </a:r>
            <a:r>
              <a:rPr lang="pt-PT" sz="1060" noProof="0" dirty="0">
                <a:solidFill>
                  <a:srgbClr val="9BA3B5"/>
                </a:solidFill>
                <a:latin typeface="Calibri" pitchFamily="34" charset="0"/>
                <a:ea typeface="Calibri" pitchFamily="34" charset="-122"/>
                <a:cs typeface="Calibri" pitchFamily="34" charset="-120"/>
              </a:rPr>
              <a:t> a UEQ. Em LNCS 5298 (pp. 63–76). https://doi.org/10.1007/978-3-540-89350-9_6</a:t>
            </a:r>
            <a:endParaRPr lang="pt-PT" sz="1060" noProof="0" dirty="0"/>
          </a:p>
          <a:p>
            <a:pPr marL="0" indent="0" algn="just">
              <a:spcAft>
                <a:spcPts val="300"/>
              </a:spcAft>
              <a:buNone/>
            </a:pPr>
            <a:r>
              <a:rPr lang="pt-PT" sz="1060" noProof="0" dirty="0">
                <a:solidFill>
                  <a:srgbClr val="9BA3B5"/>
                </a:solidFill>
                <a:latin typeface="Calibri" pitchFamily="34" charset="0"/>
                <a:ea typeface="Calibri" pitchFamily="34" charset="-122"/>
                <a:cs typeface="Calibri" pitchFamily="34" charset="-120"/>
              </a:rPr>
              <a:t>[5]  </a:t>
            </a:r>
            <a:r>
              <a:rPr lang="pt-PT" sz="1060" noProof="0" dirty="0" err="1">
                <a:solidFill>
                  <a:srgbClr val="9BA3B5"/>
                </a:solidFill>
                <a:latin typeface="Calibri" pitchFamily="34" charset="0"/>
                <a:ea typeface="Calibri" pitchFamily="34" charset="-122"/>
                <a:cs typeface="Calibri" pitchFamily="34" charset="-120"/>
              </a:rPr>
              <a:t>Hassenzahl</a:t>
            </a:r>
            <a:r>
              <a:rPr lang="pt-PT" sz="1060" noProof="0" dirty="0">
                <a:solidFill>
                  <a:srgbClr val="9BA3B5"/>
                </a:solidFill>
                <a:latin typeface="Calibri" pitchFamily="34" charset="0"/>
                <a:ea typeface="Calibri" pitchFamily="34" charset="-122"/>
                <a:cs typeface="Calibri" pitchFamily="34" charset="-120"/>
              </a:rPr>
              <a:t>, M., &amp; </a:t>
            </a:r>
            <a:r>
              <a:rPr lang="pt-PT" sz="1060" noProof="0" dirty="0" err="1">
                <a:solidFill>
                  <a:srgbClr val="9BA3B5"/>
                </a:solidFill>
                <a:latin typeface="Calibri" pitchFamily="34" charset="0"/>
                <a:ea typeface="Calibri" pitchFamily="34" charset="-122"/>
                <a:cs typeface="Calibri" pitchFamily="34" charset="-120"/>
              </a:rPr>
              <a:t>Tractinsky</a:t>
            </a:r>
            <a:r>
              <a:rPr lang="pt-PT" sz="1060" noProof="0" dirty="0">
                <a:solidFill>
                  <a:srgbClr val="9BA3B5"/>
                </a:solidFill>
                <a:latin typeface="Calibri" pitchFamily="34" charset="0"/>
                <a:ea typeface="Calibri" pitchFamily="34" charset="-122"/>
                <a:cs typeface="Calibri" pitchFamily="34" charset="-120"/>
              </a:rPr>
              <a:t>, N. (2006). </a:t>
            </a:r>
            <a:r>
              <a:rPr lang="pt-PT" sz="1060" noProof="0" dirty="0" err="1">
                <a:solidFill>
                  <a:srgbClr val="9BA3B5"/>
                </a:solidFill>
                <a:latin typeface="Calibri" pitchFamily="34" charset="0"/>
                <a:ea typeface="Calibri" pitchFamily="34" charset="-122"/>
                <a:cs typeface="Calibri" pitchFamily="34" charset="-120"/>
              </a:rPr>
              <a:t>User</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experience</a:t>
            </a:r>
            <a:r>
              <a:rPr lang="pt-PT" sz="1060" noProof="0" dirty="0">
                <a:solidFill>
                  <a:srgbClr val="9BA3B5"/>
                </a:solidFill>
                <a:latin typeface="Calibri" pitchFamily="34" charset="0"/>
                <a:ea typeface="Calibri" pitchFamily="34" charset="-122"/>
                <a:cs typeface="Calibri" pitchFamily="34" charset="-120"/>
              </a:rPr>
              <a:t> — A research agenda. B&amp;IT, 25(2), 91–97. https://doi.org/10.1080/01449290500330331</a:t>
            </a:r>
            <a:endParaRPr lang="pt-PT" sz="1060" noProof="0" dirty="0"/>
          </a:p>
          <a:p>
            <a:pPr marL="0" indent="0" algn="just">
              <a:spcAft>
                <a:spcPts val="300"/>
              </a:spcAft>
              <a:buNone/>
            </a:pPr>
            <a:r>
              <a:rPr lang="pt-PT" sz="1060" noProof="0" dirty="0">
                <a:solidFill>
                  <a:srgbClr val="9BA3B5"/>
                </a:solidFill>
                <a:latin typeface="Calibri" pitchFamily="34" charset="0"/>
                <a:ea typeface="Calibri" pitchFamily="34" charset="-122"/>
                <a:cs typeface="Calibri" pitchFamily="34" charset="-120"/>
              </a:rPr>
              <a:t>[6]  </a:t>
            </a:r>
            <a:r>
              <a:rPr lang="pt-PT" sz="1060" noProof="0" dirty="0" err="1">
                <a:solidFill>
                  <a:srgbClr val="9BA3B5"/>
                </a:solidFill>
                <a:latin typeface="Calibri" pitchFamily="34" charset="0"/>
                <a:ea typeface="Calibri" pitchFamily="34" charset="-122"/>
                <a:cs typeface="Calibri" pitchFamily="34" charset="-120"/>
              </a:rPr>
              <a:t>Hassenzahl</a:t>
            </a:r>
            <a:r>
              <a:rPr lang="pt-PT" sz="1060" noProof="0" dirty="0">
                <a:solidFill>
                  <a:srgbClr val="9BA3B5"/>
                </a:solidFill>
                <a:latin typeface="Calibri" pitchFamily="34" charset="0"/>
                <a:ea typeface="Calibri" pitchFamily="34" charset="-122"/>
                <a:cs typeface="Calibri" pitchFamily="34" charset="-120"/>
              </a:rPr>
              <a:t>, M., </a:t>
            </a:r>
            <a:r>
              <a:rPr lang="pt-PT" sz="1060" noProof="0" dirty="0" err="1">
                <a:solidFill>
                  <a:srgbClr val="9BA3B5"/>
                </a:solidFill>
                <a:latin typeface="Calibri" pitchFamily="34" charset="0"/>
                <a:ea typeface="Calibri" pitchFamily="34" charset="-122"/>
                <a:cs typeface="Calibri" pitchFamily="34" charset="-120"/>
              </a:rPr>
              <a:t>Burmester</a:t>
            </a:r>
            <a:r>
              <a:rPr lang="pt-PT" sz="1060" noProof="0" dirty="0">
                <a:solidFill>
                  <a:srgbClr val="9BA3B5"/>
                </a:solidFill>
                <a:latin typeface="Calibri" pitchFamily="34" charset="0"/>
                <a:ea typeface="Calibri" pitchFamily="34" charset="-122"/>
                <a:cs typeface="Calibri" pitchFamily="34" charset="-120"/>
              </a:rPr>
              <a:t>, M., &amp; Koller, F. (2003). </a:t>
            </a:r>
            <a:r>
              <a:rPr lang="pt-PT" sz="1060" noProof="0" dirty="0" err="1">
                <a:solidFill>
                  <a:srgbClr val="9BA3B5"/>
                </a:solidFill>
                <a:latin typeface="Calibri" pitchFamily="34" charset="0"/>
                <a:ea typeface="Calibri" pitchFamily="34" charset="-122"/>
                <a:cs typeface="Calibri" pitchFamily="34" charset="-120"/>
              </a:rPr>
              <a:t>AttrakDiff</a:t>
            </a:r>
            <a:r>
              <a:rPr lang="pt-PT" sz="1060" noProof="0" dirty="0">
                <a:solidFill>
                  <a:srgbClr val="9BA3B5"/>
                </a:solidFill>
                <a:latin typeface="Calibri" pitchFamily="34" charset="0"/>
                <a:ea typeface="Calibri" pitchFamily="34" charset="-122"/>
                <a:cs typeface="Calibri" pitchFamily="34" charset="-120"/>
              </a:rPr>
              <a:t>. Em </a:t>
            </a:r>
            <a:r>
              <a:rPr lang="pt-PT" sz="1060" noProof="0" dirty="0" err="1">
                <a:solidFill>
                  <a:srgbClr val="9BA3B5"/>
                </a:solidFill>
                <a:latin typeface="Calibri" pitchFamily="34" charset="0"/>
                <a:ea typeface="Calibri" pitchFamily="34" charset="-122"/>
                <a:cs typeface="Calibri" pitchFamily="34" charset="-120"/>
              </a:rPr>
              <a:t>Mensch</a:t>
            </a:r>
            <a:r>
              <a:rPr lang="pt-PT" sz="1060" noProof="0" dirty="0">
                <a:solidFill>
                  <a:srgbClr val="9BA3B5"/>
                </a:solidFill>
                <a:latin typeface="Calibri" pitchFamily="34" charset="0"/>
                <a:ea typeface="Calibri" pitchFamily="34" charset="-122"/>
                <a:cs typeface="Calibri" pitchFamily="34" charset="-120"/>
              </a:rPr>
              <a:t> &amp; </a:t>
            </a:r>
            <a:r>
              <a:rPr lang="pt-PT" sz="1060" noProof="0" dirty="0" err="1">
                <a:solidFill>
                  <a:srgbClr val="9BA3B5"/>
                </a:solidFill>
                <a:latin typeface="Calibri" pitchFamily="34" charset="0"/>
                <a:ea typeface="Calibri" pitchFamily="34" charset="-122"/>
                <a:cs typeface="Calibri" pitchFamily="34" charset="-120"/>
              </a:rPr>
              <a:t>Computer</a:t>
            </a:r>
            <a:r>
              <a:rPr lang="pt-PT" sz="1060" noProof="0" dirty="0">
                <a:solidFill>
                  <a:srgbClr val="9BA3B5"/>
                </a:solidFill>
                <a:latin typeface="Calibri" pitchFamily="34" charset="0"/>
                <a:ea typeface="Calibri" pitchFamily="34" charset="-122"/>
                <a:cs typeface="Calibri" pitchFamily="34" charset="-120"/>
              </a:rPr>
              <a:t> 2003 (pp. 187–196). https://doi.org/10.1007/978-3-322-80058-9_19</a:t>
            </a:r>
            <a:endParaRPr lang="pt-PT" sz="1060" noProof="0" dirty="0"/>
          </a:p>
          <a:p>
            <a:pPr marL="0" indent="0" algn="just">
              <a:spcAft>
                <a:spcPts val="300"/>
              </a:spcAft>
              <a:buNone/>
            </a:pPr>
            <a:r>
              <a:rPr lang="pt-PT" sz="1060" noProof="0" dirty="0">
                <a:solidFill>
                  <a:srgbClr val="9BA3B5"/>
                </a:solidFill>
                <a:latin typeface="Calibri" pitchFamily="34" charset="0"/>
                <a:ea typeface="Calibri" pitchFamily="34" charset="-122"/>
                <a:cs typeface="Calibri" pitchFamily="34" charset="-120"/>
              </a:rPr>
              <a:t>[7]  </a:t>
            </a:r>
            <a:r>
              <a:rPr lang="pt-PT" sz="1060" noProof="0" dirty="0" err="1">
                <a:solidFill>
                  <a:srgbClr val="9BA3B5"/>
                </a:solidFill>
                <a:latin typeface="Calibri" pitchFamily="34" charset="0"/>
                <a:ea typeface="Calibri" pitchFamily="34" charset="-122"/>
                <a:cs typeface="Calibri" pitchFamily="34" charset="-120"/>
              </a:rPr>
              <a:t>Rozanski</a:t>
            </a:r>
            <a:r>
              <a:rPr lang="pt-PT" sz="1060" noProof="0" dirty="0">
                <a:solidFill>
                  <a:srgbClr val="9BA3B5"/>
                </a:solidFill>
                <a:latin typeface="Calibri" pitchFamily="34" charset="0"/>
                <a:ea typeface="Calibri" pitchFamily="34" charset="-122"/>
                <a:cs typeface="Calibri" pitchFamily="34" charset="-120"/>
              </a:rPr>
              <a:t>, E. P. </a:t>
            </a:r>
            <a:r>
              <a:rPr lang="pt-PT" sz="1060" noProof="0" dirty="0" err="1">
                <a:solidFill>
                  <a:srgbClr val="9BA3B5"/>
                </a:solidFill>
                <a:latin typeface="Calibri" pitchFamily="34" charset="0"/>
                <a:ea typeface="Calibri" pitchFamily="34" charset="-122"/>
                <a:cs typeface="Calibri" pitchFamily="34" charset="-120"/>
              </a:rPr>
              <a:t>et</a:t>
            </a:r>
            <a:r>
              <a:rPr lang="pt-PT" sz="1060" noProof="0" dirty="0">
                <a:solidFill>
                  <a:srgbClr val="9BA3B5"/>
                </a:solidFill>
                <a:latin typeface="Calibri" pitchFamily="34" charset="0"/>
                <a:ea typeface="Calibri" pitchFamily="34" charset="-122"/>
                <a:cs typeface="Calibri" pitchFamily="34" charset="-120"/>
              </a:rPr>
              <a:t> al. (2005). </a:t>
            </a:r>
            <a:r>
              <a:rPr lang="pt-PT" sz="1060" noProof="0" dirty="0" err="1">
                <a:solidFill>
                  <a:srgbClr val="9BA3B5"/>
                </a:solidFill>
                <a:latin typeface="Calibri" pitchFamily="34" charset="0"/>
                <a:ea typeface="Calibri" pitchFamily="34" charset="-122"/>
                <a:cs typeface="Calibri" pitchFamily="34" charset="-120"/>
              </a:rPr>
              <a:t>Simplified</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eye</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tracking</a:t>
            </a:r>
            <a:r>
              <a:rPr lang="pt-PT" sz="1060" noProof="0" dirty="0">
                <a:solidFill>
                  <a:srgbClr val="9BA3B5"/>
                </a:solidFill>
                <a:latin typeface="Calibri" pitchFamily="34" charset="0"/>
                <a:ea typeface="Calibri" pitchFamily="34" charset="-122"/>
                <a:cs typeface="Calibri" pitchFamily="34" charset="-120"/>
              </a:rPr>
              <a:t> in </a:t>
            </a:r>
            <a:r>
              <a:rPr lang="pt-PT" sz="1060" noProof="0" dirty="0" err="1">
                <a:solidFill>
                  <a:srgbClr val="9BA3B5"/>
                </a:solidFill>
                <a:latin typeface="Calibri" pitchFamily="34" charset="0"/>
                <a:ea typeface="Calibri" pitchFamily="34" charset="-122"/>
                <a:cs typeface="Calibri" pitchFamily="34" charset="-120"/>
              </a:rPr>
              <a:t>usability</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testing</a:t>
            </a:r>
            <a:r>
              <a:rPr lang="pt-PT" sz="1060" noProof="0" dirty="0">
                <a:solidFill>
                  <a:srgbClr val="9BA3B5"/>
                </a:solidFill>
                <a:latin typeface="Calibri" pitchFamily="34" charset="0"/>
                <a:ea typeface="Calibri" pitchFamily="34" charset="-122"/>
                <a:cs typeface="Calibri" pitchFamily="34" charset="-120"/>
              </a:rPr>
              <a:t>. HFES </a:t>
            </a:r>
            <a:r>
              <a:rPr lang="pt-PT" sz="1060" noProof="0" dirty="0" err="1">
                <a:solidFill>
                  <a:srgbClr val="9BA3B5"/>
                </a:solidFill>
                <a:latin typeface="Calibri" pitchFamily="34" charset="0"/>
                <a:ea typeface="Calibri" pitchFamily="34" charset="-122"/>
                <a:cs typeface="Calibri" pitchFamily="34" charset="-120"/>
              </a:rPr>
              <a:t>Annual</a:t>
            </a:r>
            <a:r>
              <a:rPr lang="pt-PT" sz="1060" noProof="0" dirty="0">
                <a:solidFill>
                  <a:srgbClr val="9BA3B5"/>
                </a:solidFill>
                <a:latin typeface="Calibri" pitchFamily="34" charset="0"/>
                <a:ea typeface="Calibri" pitchFamily="34" charset="-122"/>
                <a:cs typeface="Calibri" pitchFamily="34" charset="-120"/>
              </a:rPr>
              <a:t> Meeting, 49(24), 2143–2147. https://doi.org/10.1177/154193120504902405</a:t>
            </a:r>
            <a:endParaRPr lang="pt-PT" sz="1060" noProof="0" dirty="0"/>
          </a:p>
          <a:p>
            <a:pPr marL="0" indent="0" algn="just">
              <a:spcAft>
                <a:spcPts val="300"/>
              </a:spcAft>
              <a:buNone/>
            </a:pPr>
            <a:r>
              <a:rPr lang="pt-PT" sz="1060" noProof="0" dirty="0">
                <a:solidFill>
                  <a:srgbClr val="9BA3B5"/>
                </a:solidFill>
                <a:latin typeface="Calibri" pitchFamily="34" charset="0"/>
                <a:ea typeface="Calibri" pitchFamily="34" charset="-122"/>
                <a:cs typeface="Calibri" pitchFamily="34" charset="-120"/>
              </a:rPr>
              <a:t>[8]  </a:t>
            </a:r>
            <a:r>
              <a:rPr lang="pt-PT" sz="1060" noProof="0" dirty="0" err="1">
                <a:solidFill>
                  <a:srgbClr val="9BA3B5"/>
                </a:solidFill>
                <a:latin typeface="Calibri" pitchFamily="34" charset="0"/>
                <a:ea typeface="Calibri" pitchFamily="34" charset="-122"/>
                <a:cs typeface="Calibri" pitchFamily="34" charset="-120"/>
              </a:rPr>
              <a:t>Hornbæk</a:t>
            </a:r>
            <a:r>
              <a:rPr lang="pt-PT" sz="1060" noProof="0" dirty="0">
                <a:solidFill>
                  <a:srgbClr val="9BA3B5"/>
                </a:solidFill>
                <a:latin typeface="Calibri" pitchFamily="34" charset="0"/>
                <a:ea typeface="Calibri" pitchFamily="34" charset="-122"/>
                <a:cs typeface="Calibri" pitchFamily="34" charset="-120"/>
              </a:rPr>
              <a:t>, K., &amp; </a:t>
            </a:r>
            <a:r>
              <a:rPr lang="pt-PT" sz="1060" noProof="0" dirty="0" err="1">
                <a:solidFill>
                  <a:srgbClr val="9BA3B5"/>
                </a:solidFill>
                <a:latin typeface="Calibri" pitchFamily="34" charset="0"/>
                <a:ea typeface="Calibri" pitchFamily="34" charset="-122"/>
                <a:cs typeface="Calibri" pitchFamily="34" charset="-120"/>
              </a:rPr>
              <a:t>Law</a:t>
            </a:r>
            <a:r>
              <a:rPr lang="pt-PT" sz="1060" noProof="0" dirty="0">
                <a:solidFill>
                  <a:srgbClr val="9BA3B5"/>
                </a:solidFill>
                <a:latin typeface="Calibri" pitchFamily="34" charset="0"/>
                <a:ea typeface="Calibri" pitchFamily="34" charset="-122"/>
                <a:cs typeface="Calibri" pitchFamily="34" charset="-120"/>
              </a:rPr>
              <a:t>, E. L.-C. (2007). Meta-</a:t>
            </a:r>
            <a:r>
              <a:rPr lang="pt-PT" sz="1060" noProof="0" dirty="0" err="1">
                <a:solidFill>
                  <a:srgbClr val="9BA3B5"/>
                </a:solidFill>
                <a:latin typeface="Calibri" pitchFamily="34" charset="0"/>
                <a:ea typeface="Calibri" pitchFamily="34" charset="-122"/>
                <a:cs typeface="Calibri" pitchFamily="34" charset="-120"/>
              </a:rPr>
              <a:t>analysis</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of</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correlations</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among</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usability</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measures</a:t>
            </a:r>
            <a:r>
              <a:rPr lang="pt-PT" sz="1060" noProof="0" dirty="0">
                <a:solidFill>
                  <a:srgbClr val="9BA3B5"/>
                </a:solidFill>
                <a:latin typeface="Calibri" pitchFamily="34" charset="0"/>
                <a:ea typeface="Calibri" pitchFamily="34" charset="-122"/>
                <a:cs typeface="Calibri" pitchFamily="34" charset="-120"/>
              </a:rPr>
              <a:t>. Em Proc. CHI '07 (pp. 617–626). https://doi.org/10.1145/1240624.1240722</a:t>
            </a:r>
            <a:endParaRPr lang="pt-PT" sz="1060" noProof="0" dirty="0"/>
          </a:p>
          <a:p>
            <a:pPr marL="0" indent="0" algn="just">
              <a:spcAft>
                <a:spcPts val="300"/>
              </a:spcAft>
              <a:buNone/>
            </a:pPr>
            <a:r>
              <a:rPr lang="pt-PT" sz="1060" noProof="0" dirty="0">
                <a:solidFill>
                  <a:srgbClr val="9BA3B5"/>
                </a:solidFill>
                <a:latin typeface="Calibri" pitchFamily="34" charset="0"/>
                <a:ea typeface="Calibri" pitchFamily="34" charset="-122"/>
                <a:cs typeface="Calibri" pitchFamily="34" charset="-120"/>
              </a:rPr>
              <a:t>[9]  </a:t>
            </a:r>
            <a:r>
              <a:rPr lang="pt-PT" sz="1060" noProof="0" dirty="0" err="1">
                <a:solidFill>
                  <a:srgbClr val="9BA3B5"/>
                </a:solidFill>
                <a:latin typeface="Calibri" pitchFamily="34" charset="0"/>
                <a:ea typeface="Calibri" pitchFamily="34" charset="-122"/>
                <a:cs typeface="Calibri" pitchFamily="34" charset="-120"/>
              </a:rPr>
              <a:t>Kohavi</a:t>
            </a:r>
            <a:r>
              <a:rPr lang="pt-PT" sz="1060" noProof="0" dirty="0">
                <a:solidFill>
                  <a:srgbClr val="9BA3B5"/>
                </a:solidFill>
                <a:latin typeface="Calibri" pitchFamily="34" charset="0"/>
                <a:ea typeface="Calibri" pitchFamily="34" charset="-122"/>
                <a:cs typeface="Calibri" pitchFamily="34" charset="-120"/>
              </a:rPr>
              <a:t>, R. </a:t>
            </a:r>
            <a:r>
              <a:rPr lang="pt-PT" sz="1060" noProof="0" dirty="0" err="1">
                <a:solidFill>
                  <a:srgbClr val="9BA3B5"/>
                </a:solidFill>
                <a:latin typeface="Calibri" pitchFamily="34" charset="0"/>
                <a:ea typeface="Calibri" pitchFamily="34" charset="-122"/>
                <a:cs typeface="Calibri" pitchFamily="34" charset="-120"/>
              </a:rPr>
              <a:t>et</a:t>
            </a:r>
            <a:r>
              <a:rPr lang="pt-PT" sz="1060" noProof="0" dirty="0">
                <a:solidFill>
                  <a:srgbClr val="9BA3B5"/>
                </a:solidFill>
                <a:latin typeface="Calibri" pitchFamily="34" charset="0"/>
                <a:ea typeface="Calibri" pitchFamily="34" charset="-122"/>
                <a:cs typeface="Calibri" pitchFamily="34" charset="-120"/>
              </a:rPr>
              <a:t> al. (2009). </a:t>
            </a:r>
            <a:r>
              <a:rPr lang="pt-PT" sz="1060" noProof="0" dirty="0" err="1">
                <a:solidFill>
                  <a:srgbClr val="9BA3B5"/>
                </a:solidFill>
                <a:latin typeface="Calibri" pitchFamily="34" charset="0"/>
                <a:ea typeface="Calibri" pitchFamily="34" charset="-122"/>
                <a:cs typeface="Calibri" pitchFamily="34" charset="-120"/>
              </a:rPr>
              <a:t>Controlled</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experiments</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on</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the</a:t>
            </a:r>
            <a:r>
              <a:rPr lang="pt-PT" sz="1060" noProof="0" dirty="0">
                <a:solidFill>
                  <a:srgbClr val="9BA3B5"/>
                </a:solidFill>
                <a:latin typeface="Calibri" pitchFamily="34" charset="0"/>
                <a:ea typeface="Calibri" pitchFamily="34" charset="-122"/>
                <a:cs typeface="Calibri" pitchFamily="34" charset="-120"/>
              </a:rPr>
              <a:t> web. DMKD, 18(1), 140–181. https://doi.org/10.1007/s10618-008-0114-1</a:t>
            </a:r>
            <a:endParaRPr lang="pt-PT" sz="1060" noProof="0" dirty="0"/>
          </a:p>
          <a:p>
            <a:pPr marL="0" indent="0" algn="just">
              <a:spcAft>
                <a:spcPts val="300"/>
              </a:spcAft>
              <a:buNone/>
            </a:pPr>
            <a:r>
              <a:rPr lang="pt-PT" sz="1060" noProof="0" dirty="0">
                <a:solidFill>
                  <a:srgbClr val="9BA3B5"/>
                </a:solidFill>
                <a:latin typeface="Calibri" pitchFamily="34" charset="0"/>
                <a:ea typeface="Calibri" pitchFamily="34" charset="-122"/>
                <a:cs typeface="Calibri" pitchFamily="34" charset="-120"/>
              </a:rPr>
              <a:t>[10] Nielsen, J. (1994). </a:t>
            </a:r>
            <a:r>
              <a:rPr lang="pt-PT" sz="1060" noProof="0" dirty="0" err="1">
                <a:solidFill>
                  <a:srgbClr val="9BA3B5"/>
                </a:solidFill>
                <a:latin typeface="Calibri" pitchFamily="34" charset="0"/>
                <a:ea typeface="Calibri" pitchFamily="34" charset="-122"/>
                <a:cs typeface="Calibri" pitchFamily="34" charset="-120"/>
              </a:rPr>
              <a:t>Enhancing</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the</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explanatory</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power</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of</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usability</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heuristics</a:t>
            </a:r>
            <a:r>
              <a:rPr lang="pt-PT" sz="1060" noProof="0" dirty="0">
                <a:solidFill>
                  <a:srgbClr val="9BA3B5"/>
                </a:solidFill>
                <a:latin typeface="Calibri" pitchFamily="34" charset="0"/>
                <a:ea typeface="Calibri" pitchFamily="34" charset="-122"/>
                <a:cs typeface="Calibri" pitchFamily="34" charset="-120"/>
              </a:rPr>
              <a:t>. Em Proc. CHI '94 (pp. 152–158). https://doi.org/10.1145/191666.191729</a:t>
            </a:r>
            <a:endParaRPr lang="pt-PT" sz="1060" noProof="0" dirty="0"/>
          </a:p>
          <a:p>
            <a:pPr marL="0" indent="0" algn="just">
              <a:spcAft>
                <a:spcPts val="300"/>
              </a:spcAft>
              <a:buNone/>
            </a:pPr>
            <a:r>
              <a:rPr lang="pt-PT" sz="1060" noProof="0" dirty="0">
                <a:solidFill>
                  <a:srgbClr val="9BA3B5"/>
                </a:solidFill>
                <a:latin typeface="Calibri" pitchFamily="34" charset="0"/>
                <a:ea typeface="Calibri" pitchFamily="34" charset="-122"/>
                <a:cs typeface="Calibri" pitchFamily="34" charset="-120"/>
              </a:rPr>
              <a:t>[11] Chin, J. P., Diehl, V. A., &amp; Norman, K. L. (1988). QUIS. Em Proc. CHI '88 (pp. 213–218). https://doi.org/10.1145/57167.57203</a:t>
            </a:r>
            <a:endParaRPr lang="pt-PT" sz="1060" noProof="0" dirty="0"/>
          </a:p>
          <a:p>
            <a:pPr marL="0" indent="0" algn="just">
              <a:spcAft>
                <a:spcPts val="300"/>
              </a:spcAft>
              <a:buNone/>
            </a:pPr>
            <a:r>
              <a:rPr lang="pt-PT" sz="1060" noProof="0" dirty="0">
                <a:solidFill>
                  <a:srgbClr val="9BA3B5"/>
                </a:solidFill>
                <a:latin typeface="Calibri" pitchFamily="34" charset="0"/>
                <a:ea typeface="Calibri" pitchFamily="34" charset="-122"/>
                <a:cs typeface="Calibri" pitchFamily="34" charset="-120"/>
              </a:rPr>
              <a:t>[12] ISO. (2018). </a:t>
            </a:r>
            <a:r>
              <a:rPr lang="pt-PT" sz="1060" noProof="0" dirty="0" err="1">
                <a:solidFill>
                  <a:srgbClr val="9BA3B5"/>
                </a:solidFill>
                <a:latin typeface="Calibri" pitchFamily="34" charset="0"/>
                <a:ea typeface="Calibri" pitchFamily="34" charset="-122"/>
                <a:cs typeface="Calibri" pitchFamily="34" charset="-120"/>
              </a:rPr>
              <a:t>Ergonomics</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of</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human-system</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interaction</a:t>
            </a:r>
            <a:r>
              <a:rPr lang="pt-PT" sz="1060" noProof="0" dirty="0">
                <a:solidFill>
                  <a:srgbClr val="9BA3B5"/>
                </a:solidFill>
                <a:latin typeface="Calibri" pitchFamily="34" charset="0"/>
                <a:ea typeface="Calibri" pitchFamily="34" charset="-122"/>
                <a:cs typeface="Calibri" pitchFamily="34" charset="-120"/>
              </a:rPr>
              <a:t> — </a:t>
            </a:r>
            <a:r>
              <a:rPr lang="pt-PT" sz="1060" noProof="0" dirty="0" err="1">
                <a:solidFill>
                  <a:srgbClr val="9BA3B5"/>
                </a:solidFill>
                <a:latin typeface="Calibri" pitchFamily="34" charset="0"/>
                <a:ea typeface="Calibri" pitchFamily="34" charset="-122"/>
                <a:cs typeface="Calibri" pitchFamily="34" charset="-120"/>
              </a:rPr>
              <a:t>Part</a:t>
            </a:r>
            <a:r>
              <a:rPr lang="pt-PT" sz="1060" noProof="0" dirty="0">
                <a:solidFill>
                  <a:srgbClr val="9BA3B5"/>
                </a:solidFill>
                <a:latin typeface="Calibri" pitchFamily="34" charset="0"/>
                <a:ea typeface="Calibri" pitchFamily="34" charset="-122"/>
                <a:cs typeface="Calibri" pitchFamily="34" charset="-120"/>
              </a:rPr>
              <a:t> 11 (ISO 9241-11:2018). https://www.iso.org/standard/63500.html</a:t>
            </a:r>
            <a:endParaRPr lang="pt-PT" sz="1060" noProof="0" dirty="0"/>
          </a:p>
          <a:p>
            <a:pPr marL="0" indent="0" algn="just">
              <a:spcAft>
                <a:spcPts val="300"/>
              </a:spcAft>
              <a:buNone/>
            </a:pPr>
            <a:r>
              <a:rPr lang="pt-PT" sz="1060" noProof="0" dirty="0">
                <a:solidFill>
                  <a:srgbClr val="9BA3B5"/>
                </a:solidFill>
                <a:latin typeface="Calibri" pitchFamily="34" charset="0"/>
                <a:ea typeface="Calibri" pitchFamily="34" charset="-122"/>
                <a:cs typeface="Calibri" pitchFamily="34" charset="-120"/>
              </a:rPr>
              <a:t>[13] Bargas-Avila, J. A., &amp; </a:t>
            </a:r>
            <a:r>
              <a:rPr lang="pt-PT" sz="1060" noProof="0" dirty="0" err="1">
                <a:solidFill>
                  <a:srgbClr val="9BA3B5"/>
                </a:solidFill>
                <a:latin typeface="Calibri" pitchFamily="34" charset="0"/>
                <a:ea typeface="Calibri" pitchFamily="34" charset="-122"/>
                <a:cs typeface="Calibri" pitchFamily="34" charset="-120"/>
              </a:rPr>
              <a:t>Hornbæk</a:t>
            </a:r>
            <a:r>
              <a:rPr lang="pt-PT" sz="1060" noProof="0" dirty="0">
                <a:solidFill>
                  <a:srgbClr val="9BA3B5"/>
                </a:solidFill>
                <a:latin typeface="Calibri" pitchFamily="34" charset="0"/>
                <a:ea typeface="Calibri" pitchFamily="34" charset="-122"/>
                <a:cs typeface="Calibri" pitchFamily="34" charset="-120"/>
              </a:rPr>
              <a:t>, K. (2011). </a:t>
            </a:r>
            <a:r>
              <a:rPr lang="pt-PT" sz="1060" noProof="0" dirty="0" err="1">
                <a:solidFill>
                  <a:srgbClr val="9BA3B5"/>
                </a:solidFill>
                <a:latin typeface="Calibri" pitchFamily="34" charset="0"/>
                <a:ea typeface="Calibri" pitchFamily="34" charset="-122"/>
                <a:cs typeface="Calibri" pitchFamily="34" charset="-120"/>
              </a:rPr>
              <a:t>Old</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wine</a:t>
            </a:r>
            <a:r>
              <a:rPr lang="pt-PT" sz="1060" noProof="0" dirty="0">
                <a:solidFill>
                  <a:srgbClr val="9BA3B5"/>
                </a:solidFill>
                <a:latin typeface="Calibri" pitchFamily="34" charset="0"/>
                <a:ea typeface="Calibri" pitchFamily="34" charset="-122"/>
                <a:cs typeface="Calibri" pitchFamily="34" charset="-120"/>
              </a:rPr>
              <a:t> in </a:t>
            </a:r>
            <a:r>
              <a:rPr lang="pt-PT" sz="1060" noProof="0" dirty="0" err="1">
                <a:solidFill>
                  <a:srgbClr val="9BA3B5"/>
                </a:solidFill>
                <a:latin typeface="Calibri" pitchFamily="34" charset="0"/>
                <a:ea typeface="Calibri" pitchFamily="34" charset="-122"/>
                <a:cs typeface="Calibri" pitchFamily="34" charset="-120"/>
              </a:rPr>
              <a:t>new</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bottles</a:t>
            </a:r>
            <a:r>
              <a:rPr lang="pt-PT" sz="1060" noProof="0" dirty="0">
                <a:solidFill>
                  <a:srgbClr val="9BA3B5"/>
                </a:solidFill>
                <a:latin typeface="Calibri" pitchFamily="34" charset="0"/>
                <a:ea typeface="Calibri" pitchFamily="34" charset="-122"/>
                <a:cs typeface="Calibri" pitchFamily="34" charset="-120"/>
              </a:rPr>
              <a:t> </a:t>
            </a:r>
            <a:r>
              <a:rPr lang="pt-PT" sz="1060" noProof="0" dirty="0" err="1">
                <a:solidFill>
                  <a:srgbClr val="9BA3B5"/>
                </a:solidFill>
                <a:latin typeface="Calibri" pitchFamily="34" charset="0"/>
                <a:ea typeface="Calibri" pitchFamily="34" charset="-122"/>
                <a:cs typeface="Calibri" pitchFamily="34" charset="-120"/>
              </a:rPr>
              <a:t>or</a:t>
            </a:r>
            <a:r>
              <a:rPr lang="pt-PT" sz="1060" noProof="0" dirty="0">
                <a:solidFill>
                  <a:srgbClr val="9BA3B5"/>
                </a:solidFill>
                <a:latin typeface="Calibri" pitchFamily="34" charset="0"/>
                <a:ea typeface="Calibri" pitchFamily="34" charset="-122"/>
                <a:cs typeface="Calibri" pitchFamily="34" charset="-120"/>
              </a:rPr>
              <a:t> novel </a:t>
            </a:r>
            <a:r>
              <a:rPr lang="pt-PT" sz="1060" noProof="0" dirty="0" err="1">
                <a:solidFill>
                  <a:srgbClr val="9BA3B5"/>
                </a:solidFill>
                <a:latin typeface="Calibri" pitchFamily="34" charset="0"/>
                <a:ea typeface="Calibri" pitchFamily="34" charset="-122"/>
                <a:cs typeface="Calibri" pitchFamily="34" charset="-120"/>
              </a:rPr>
              <a:t>challenges</a:t>
            </a:r>
            <a:r>
              <a:rPr lang="pt-PT" sz="1060" noProof="0" dirty="0">
                <a:solidFill>
                  <a:srgbClr val="9BA3B5"/>
                </a:solidFill>
                <a:latin typeface="Calibri" pitchFamily="34" charset="0"/>
                <a:ea typeface="Calibri" pitchFamily="34" charset="-122"/>
                <a:cs typeface="Calibri" pitchFamily="34" charset="-120"/>
              </a:rPr>
              <a:t>? Em Proc. CHI '11 (pp. 2689–2698). https://doi.org/10.1145/1978942.1979336</a:t>
            </a:r>
            <a:endParaRPr lang="pt-PT" sz="1060" noProof="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E2335"/>
        </a:solidFill>
        <a:effectLst/>
      </p:bgPr>
    </p:bg>
    <p:spTree>
      <p:nvGrpSpPr>
        <p:cNvPr id="1" name="">
          <a:extLst>
            <a:ext uri="{FF2B5EF4-FFF2-40B4-BE49-F238E27FC236}">
              <a16:creationId xmlns:a16="http://schemas.microsoft.com/office/drawing/2014/main" id="{A326E8BA-6888-28C5-63D9-F73E50505F1D}"/>
            </a:ext>
          </a:extLst>
        </p:cNvPr>
        <p:cNvGrpSpPr/>
        <p:nvPr/>
      </p:nvGrpSpPr>
      <p:grpSpPr>
        <a:xfrm>
          <a:off x="0" y="0"/>
          <a:ext cx="0" cy="0"/>
          <a:chOff x="0" y="0"/>
          <a:chExt cx="0" cy="0"/>
        </a:xfrm>
      </p:grpSpPr>
      <p:sp>
        <p:nvSpPr>
          <p:cNvPr id="5" name="Shape 0">
            <a:extLst>
              <a:ext uri="{FF2B5EF4-FFF2-40B4-BE49-F238E27FC236}">
                <a16:creationId xmlns:a16="http://schemas.microsoft.com/office/drawing/2014/main" id="{D4ECE2F6-6BF5-DC0A-E43D-107804843EA9}"/>
              </a:ext>
            </a:extLst>
          </p:cNvPr>
          <p:cNvSpPr/>
          <p:nvPr/>
        </p:nvSpPr>
        <p:spPr>
          <a:xfrm>
            <a:off x="6858000" y="-1371600"/>
            <a:ext cx="4572000" cy="4572000"/>
          </a:xfrm>
          <a:prstGeom prst="ellipse">
            <a:avLst/>
          </a:prstGeom>
          <a:solidFill>
            <a:srgbClr val="2D3A5C">
              <a:alpha val="70000"/>
            </a:srgbClr>
          </a:solidFill>
          <a:ln/>
        </p:spPr>
      </p:sp>
      <p:sp>
        <p:nvSpPr>
          <p:cNvPr id="6" name="Shape 1">
            <a:extLst>
              <a:ext uri="{FF2B5EF4-FFF2-40B4-BE49-F238E27FC236}">
                <a16:creationId xmlns:a16="http://schemas.microsoft.com/office/drawing/2014/main" id="{429BAB53-77B1-24A3-B2D6-9015DA1369FD}"/>
              </a:ext>
            </a:extLst>
          </p:cNvPr>
          <p:cNvSpPr/>
          <p:nvPr/>
        </p:nvSpPr>
        <p:spPr>
          <a:xfrm>
            <a:off x="7772400" y="-274320"/>
            <a:ext cx="3200400" cy="3200400"/>
          </a:xfrm>
          <a:prstGeom prst="ellipse">
            <a:avLst/>
          </a:prstGeom>
          <a:solidFill>
            <a:srgbClr val="4B62A0">
              <a:alpha val="50000"/>
            </a:srgbClr>
          </a:solidFill>
          <a:ln/>
        </p:spPr>
      </p:sp>
      <p:sp>
        <p:nvSpPr>
          <p:cNvPr id="7" name="Text 2">
            <a:extLst>
              <a:ext uri="{FF2B5EF4-FFF2-40B4-BE49-F238E27FC236}">
                <a16:creationId xmlns:a16="http://schemas.microsoft.com/office/drawing/2014/main" id="{12D7FDAE-DF47-E6B9-C51E-CFA7940D5548}"/>
              </a:ext>
            </a:extLst>
          </p:cNvPr>
          <p:cNvSpPr/>
          <p:nvPr/>
        </p:nvSpPr>
        <p:spPr>
          <a:xfrm>
            <a:off x="2743184" y="1400064"/>
            <a:ext cx="3457575" cy="1371600"/>
          </a:xfrm>
          <a:prstGeom prst="rect">
            <a:avLst/>
          </a:prstGeom>
          <a:noFill/>
          <a:ln/>
        </p:spPr>
        <p:txBody>
          <a:bodyPr wrap="square" lIns="0" tIns="0" rIns="0" bIns="0" rtlCol="0" anchor="ctr"/>
          <a:lstStyle/>
          <a:p>
            <a:pPr marL="0" indent="0" algn="ctr">
              <a:buNone/>
            </a:pPr>
            <a:r>
              <a:rPr lang="en-US" sz="5200" b="1" dirty="0">
                <a:solidFill>
                  <a:srgbClr val="FFFFFF"/>
                </a:solidFill>
                <a:latin typeface="Georgia" pitchFamily="34" charset="0"/>
                <a:ea typeface="Georgia" pitchFamily="34" charset="-122"/>
                <a:cs typeface="Georgia" pitchFamily="34" charset="-120"/>
              </a:rPr>
              <a:t>Obrigado!</a:t>
            </a:r>
            <a:endParaRPr lang="en-US" sz="5200" dirty="0"/>
          </a:p>
        </p:txBody>
      </p:sp>
      <p:sp>
        <p:nvSpPr>
          <p:cNvPr id="8" name="Shape 3">
            <a:extLst>
              <a:ext uri="{FF2B5EF4-FFF2-40B4-BE49-F238E27FC236}">
                <a16:creationId xmlns:a16="http://schemas.microsoft.com/office/drawing/2014/main" id="{83143F65-5452-129E-0BB8-8BD4BC9C2C38}"/>
              </a:ext>
            </a:extLst>
          </p:cNvPr>
          <p:cNvSpPr/>
          <p:nvPr/>
        </p:nvSpPr>
        <p:spPr>
          <a:xfrm>
            <a:off x="3221831" y="2845497"/>
            <a:ext cx="2493169" cy="45719"/>
          </a:xfrm>
          <a:prstGeom prst="rect">
            <a:avLst/>
          </a:prstGeom>
          <a:solidFill>
            <a:srgbClr val="6B82C0"/>
          </a:solidFill>
          <a:ln/>
        </p:spPr>
      </p:sp>
    </p:spTree>
    <p:extLst>
      <p:ext uri="{BB962C8B-B14F-4D97-AF65-F5344CB8AC3E}">
        <p14:creationId xmlns:p14="http://schemas.microsoft.com/office/powerpoint/2010/main" val="16458637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1931</Words>
  <Application>Microsoft Office PowerPoint</Application>
  <PresentationFormat>On-screen Show (16:9)</PresentationFormat>
  <Paragraphs>226</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2026-05-15T15:02:19Z</dcterms:created>
  <dcterms:modified xsi:type="dcterms:W3CDTF">2026-05-21T09:29:45Z</dcterms:modified>
</cp:coreProperties>
</file>